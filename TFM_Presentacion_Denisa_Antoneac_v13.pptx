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89" r:id="rId22"/>
    <p:sldId id="274" r:id="rId3"/>
    <p:sldId id="275" r:id="rId4"/>
    <p:sldId id="276" r:id="rId5"/>
    <p:sldId id="277" r:id="rId6"/>
    <p:sldId id="278" r:id="rId7"/>
    <p:sldId id="279" r:id="rId8"/>
    <p:sldId id="280" r:id="rId9"/>
    <p:sldId id="281" r:id="rId10"/>
    <p:sldId id="290" r:id="rId23"/>
    <p:sldId id="291" r:id="rId24"/>
    <p:sldId id="282" r:id="rId11"/>
    <p:sldId id="283" r:id="rId12"/>
    <p:sldId id="284" r:id="rId13"/>
    <p:sldId id="285" r:id="rId14"/>
    <p:sldId id="286" r:id="rId15"/>
    <p:sldId id="287" r:id="rId16"/>
    <p:sldId id="288" r:id="rId1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EBF8"/>
    <a:srgbClr val="9079C8"/>
    <a:srgbClr val="81C193"/>
    <a:srgbClr val="C7E3CF"/>
    <a:srgbClr val="A0D0AE"/>
    <a:srgbClr val="E4EFF4"/>
    <a:srgbClr val="CADFE8"/>
    <a:srgbClr val="BCD7E2"/>
    <a:srgbClr val="B6D4E0"/>
    <a:srgbClr val="D8EC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0" d="100"/>
          <a:sy n="70" d="100"/>
        </p:scale>
        <p:origin x="1138" y="2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2.xml"/><Relationship Id="rId23" Type="http://schemas.openxmlformats.org/officeDocument/2006/relationships/slide" Target="slides/slide11.xml"/><Relationship Id="rId24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3D5FDF-A3D5-5F34-253B-734012A667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EA55F8A-3D4B-80E0-7718-4ECFCDE0B7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18C577A-864F-AC43-BDD1-52AFEBC62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64DC1B6-95CC-60D3-A142-4FDBFAF1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8F50E08-3C46-1724-5F22-C3DE7B0BF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431405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B8D51F-8745-5989-BADE-3E4FBB306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344A640-DD3D-090A-2EB0-364CB4014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BA0E76-586F-8FB7-C9AA-F989F2B11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0D0ACF6-C4CC-6460-3D90-8233E5061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4B038B6-5708-C572-A5A9-B6AC1A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422852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4982ED-4B4C-A476-B91E-C82581E9B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DBA329D-A43B-AD8A-36C2-BD7684D304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1E59425-A3C8-7BCC-D501-2AD50DB36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565390F-1438-8197-775E-76AB58D7C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FCA2E1-5004-5636-21D7-79ED35C4C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85937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DD77A1-36B7-A121-D13A-E627111DE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16B2431-6B63-2BE0-9B63-C26356992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3D68665-D3F7-9AF2-8095-12F99EAC1E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CCA533C-0511-2B14-8547-FAA9DBCEC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0C1B29-F60A-C2BE-7B4F-A9A6FC3AD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27D3B77-1CA6-2A64-6E96-1E2BD9A0F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49408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B5E797-7FA1-BDC0-AE68-8BFFF4E14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7B5079D-4E3A-2A62-A403-619D1122F5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8FF5908-0730-5A83-32BE-A014DAE82D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716D5A5-A890-7712-F985-52338E5163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6373603-84EE-A022-ABBD-71827EEDCC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487520F-33C1-D95B-F6D4-016E83CF5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6294278-2708-A57A-ADCF-C56F2F07E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71B8572-FAC5-ED55-FA47-0192185CF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866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531848-2829-9F9C-4676-B91EF2B69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07F3EA-F2EB-5A72-DC49-BBA9CA94B3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85C662C-B7D1-1154-D4DD-03F9B7308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6AA1152-E2A2-D0A1-8D77-10D881607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55801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F496F8E-B21D-6734-BC2B-2BD6A1EFF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340D74F-1B16-887D-AC8A-B5B0222CE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D62B128-6B4E-0175-7E28-F5AB437E3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5947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554523-99D4-E3A9-DB10-029E7722F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431BB3B-5EA6-32F5-ACF5-9A96456471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608B475-D975-07CD-A756-AF03957E50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A315CBD-ECB6-7D1C-6C0F-88C58504E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BAC05C1-E72E-E384-7404-9D1F6207C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A553829-3C0B-DBBC-FB00-636758EE3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3949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D00C01-A378-5453-6040-5C13741E9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BCF92E1-5FCE-E1BE-D1E3-EA229B9767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6F23B9A-EA5D-96D2-9A26-FE2A3A2BE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AF945A4-DBC0-ACB4-0D5E-BE52EDA31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6B0453F-A267-8E74-5F68-47A626BF1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C35F6AC-C32E-1B10-F0BD-A2996788A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29667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9769E0-FCBE-DC4B-92C3-6E950D6BD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F36BAC5-50BC-75DA-311C-EB1C3364C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3EDF2E8-79CB-4C9D-D79F-86112591E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5B2389E-1137-DD3F-3610-AC819FBA8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0B71AB-3E09-67F9-1E91-22F7A53A9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869154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83CB471-ABEE-6608-7FCE-AD9286ED23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B1ADE6B-D5E8-033F-1B04-1836749A55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E578A2-BA9E-01DE-0EA2-AB99A17FA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3EE6C3A-825A-7E10-6C40-2554902C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F803E2-6D62-1B8D-44C8-ADC477F63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029204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93C3D77-555A-403D-A2D8-308E85228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2029EA2-CF81-A317-245B-51281819C9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4CB46B-B5AF-0FB0-F172-F5DB1D238B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F4DA2A7-6390-3AC1-D929-A2EBD06D5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523703-E6CA-FBAF-9956-C073E18AEA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25733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41248" y="10515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 spc="160">
                <a:solidFill>
                  <a:srgbClr val="9C99A6"/>
                </a:solidFill>
                <a:latin typeface="Segoe UI Semibold"/>
              </a:rPr>
              <a:t>UNIVERSIDAD AUTÓNOMA DE MADRID   ·   FACULTAD DE PSICOLOGÍA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4040" y="1699260"/>
            <a:ext cx="7680960" cy="2011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4300" b="0" dirty="0" err="1">
                <a:solidFill>
                  <a:srgbClr val="2E2A3A"/>
                </a:solidFill>
                <a:latin typeface="Georgia"/>
              </a:rPr>
              <a:t>Cómo</a:t>
            </a:r>
            <a:r>
              <a:rPr sz="4300" b="0" dirty="0">
                <a:solidFill>
                  <a:srgbClr val="2E2A3A"/>
                </a:solidFill>
                <a:latin typeface="Georgia"/>
              </a:rPr>
              <a:t> </a:t>
            </a:r>
            <a:r>
              <a:rPr sz="4300" b="0" dirty="0" err="1">
                <a:solidFill>
                  <a:srgbClr val="2E2A3A"/>
                </a:solidFill>
                <a:latin typeface="Georgia"/>
              </a:rPr>
              <a:t>afectan</a:t>
            </a:r>
            <a:r>
              <a:rPr sz="4300" b="0" dirty="0">
                <a:solidFill>
                  <a:srgbClr val="2E2A3A"/>
                </a:solidFill>
                <a:latin typeface="Georgia"/>
              </a:rPr>
              <a:t> la </a:t>
            </a:r>
            <a:r>
              <a:rPr sz="4300" b="0" dirty="0" err="1">
                <a:solidFill>
                  <a:srgbClr val="2E2A3A"/>
                </a:solidFill>
                <a:latin typeface="Georgia"/>
              </a:rPr>
              <a:t>autoestima</a:t>
            </a:r>
            <a:r>
              <a:rPr sz="4300" b="0" dirty="0">
                <a:solidFill>
                  <a:srgbClr val="2E2A3A"/>
                </a:solidFill>
                <a:latin typeface="Georgia"/>
              </a:rPr>
              <a:t> </a:t>
            </a:r>
            <a:r>
              <a:rPr lang="es-ES" sz="4300" b="0" dirty="0">
                <a:solidFill>
                  <a:srgbClr val="2E2A3A"/>
                </a:solidFill>
                <a:latin typeface="Georgia"/>
              </a:rPr>
              <a:t>     </a:t>
            </a:r>
            <a:r>
              <a:rPr lang="es-ES" sz="4300" dirty="0">
                <a:solidFill>
                  <a:srgbClr val="2E2A3A"/>
                </a:solidFill>
                <a:latin typeface="Georgia"/>
              </a:rPr>
              <a:t>y </a:t>
            </a:r>
            <a:r>
              <a:rPr sz="4300" b="0" dirty="0" err="1">
                <a:solidFill>
                  <a:srgbClr val="2E2A3A"/>
                </a:solidFill>
                <a:latin typeface="Georgia"/>
              </a:rPr>
              <a:t>el</a:t>
            </a:r>
            <a:r>
              <a:rPr sz="4300" b="0" dirty="0">
                <a:solidFill>
                  <a:srgbClr val="2E2A3A"/>
                </a:solidFill>
                <a:latin typeface="Georgia"/>
              </a:rPr>
              <a:t> </a:t>
            </a:r>
            <a:r>
              <a:rPr sz="4300" b="0" dirty="0" err="1">
                <a:solidFill>
                  <a:srgbClr val="2E2A3A"/>
                </a:solidFill>
                <a:latin typeface="Georgia"/>
              </a:rPr>
              <a:t>autoconcepto</a:t>
            </a:r>
            <a:r>
              <a:rPr sz="4300" b="0" dirty="0">
                <a:solidFill>
                  <a:srgbClr val="2E2A3A"/>
                </a:solidFill>
                <a:latin typeface="Georgia"/>
              </a:rPr>
              <a:t> al </a:t>
            </a:r>
            <a:r>
              <a:rPr sz="4300" b="0" dirty="0" err="1">
                <a:solidFill>
                  <a:srgbClr val="2E2A3A"/>
                </a:solidFill>
                <a:latin typeface="Georgia"/>
              </a:rPr>
              <a:t>bienestar</a:t>
            </a:r>
            <a:endParaRPr sz="4300" b="0" dirty="0">
              <a:solidFill>
                <a:srgbClr val="2E2A3A"/>
              </a:solidFill>
              <a:latin typeface="Georg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65200" y="3382518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2400" b="0" dirty="0">
                <a:solidFill>
                  <a:srgbClr val="4C4954"/>
                </a:solidFill>
                <a:latin typeface="Segoe UI"/>
              </a:rPr>
              <a:t>Una </a:t>
            </a:r>
            <a:r>
              <a:rPr sz="2400" b="0" dirty="0" err="1">
                <a:solidFill>
                  <a:srgbClr val="4C4954"/>
                </a:solidFill>
                <a:latin typeface="Segoe UI"/>
              </a:rPr>
              <a:t>revisión</a:t>
            </a:r>
            <a:r>
              <a:rPr sz="240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2400" b="0" dirty="0" err="1">
                <a:solidFill>
                  <a:srgbClr val="4C4954"/>
                </a:solidFill>
                <a:latin typeface="Segoe UI"/>
              </a:rPr>
              <a:t>paraguas</a:t>
            </a:r>
            <a:r>
              <a:rPr sz="2400" b="0" dirty="0">
                <a:solidFill>
                  <a:srgbClr val="4C4954"/>
                </a:solidFill>
                <a:latin typeface="Segoe UI"/>
              </a:rPr>
              <a:t> de meta-</a:t>
            </a:r>
            <a:r>
              <a:rPr sz="2400" b="0" dirty="0" err="1">
                <a:solidFill>
                  <a:srgbClr val="4C4954"/>
                </a:solidFill>
                <a:latin typeface="Segoe UI"/>
              </a:rPr>
              <a:t>análisis</a:t>
            </a:r>
            <a:r>
              <a:rPr sz="240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2400" b="0" dirty="0" err="1">
                <a:solidFill>
                  <a:srgbClr val="4C4954"/>
                </a:solidFill>
                <a:latin typeface="Segoe UI"/>
              </a:rPr>
              <a:t>en</a:t>
            </a:r>
            <a:r>
              <a:rPr sz="240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lang="es-ES" sz="2400" b="0" dirty="0">
                <a:solidFill>
                  <a:srgbClr val="4C4954"/>
                </a:solidFill>
                <a:latin typeface="Segoe UI"/>
              </a:rPr>
              <a:t>    </a:t>
            </a:r>
            <a:r>
              <a:rPr sz="2400" b="0" dirty="0" err="1">
                <a:solidFill>
                  <a:srgbClr val="4C4954"/>
                </a:solidFill>
                <a:latin typeface="Segoe UI"/>
              </a:rPr>
              <a:t>psicología</a:t>
            </a:r>
            <a:r>
              <a:rPr sz="240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2400" b="0" dirty="0" err="1">
                <a:solidFill>
                  <a:srgbClr val="4C4954"/>
                </a:solidFill>
                <a:latin typeface="Segoe UI"/>
              </a:rPr>
              <a:t>clínica</a:t>
            </a:r>
            <a:r>
              <a:rPr sz="2400" b="0" dirty="0">
                <a:solidFill>
                  <a:srgbClr val="4C4954"/>
                </a:solidFill>
                <a:latin typeface="Segoe UI"/>
              </a:rPr>
              <a:t> y de la </a:t>
            </a:r>
            <a:r>
              <a:rPr sz="2400" b="0" dirty="0" err="1">
                <a:solidFill>
                  <a:srgbClr val="4C4954"/>
                </a:solidFill>
                <a:latin typeface="Segoe UI"/>
              </a:rPr>
              <a:t>salud</a:t>
            </a:r>
            <a:r>
              <a:rPr sz="2400" b="0" dirty="0">
                <a:solidFill>
                  <a:srgbClr val="4C4954"/>
                </a:solidFill>
                <a:latin typeface="Segoe UI"/>
              </a:rPr>
              <a:t> (2016–2026)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4494276"/>
            <a:ext cx="1188720" cy="77724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2000" y="4759549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 spc="140" dirty="0">
                <a:solidFill>
                  <a:srgbClr val="9C99A6"/>
                </a:solidFill>
                <a:latin typeface="Segoe UI Semibold"/>
              </a:rPr>
              <a:t>AUTORA</a:t>
            </a:r>
            <a:endParaRPr sz="1200" b="1" spc="140" dirty="0">
              <a:solidFill>
                <a:srgbClr val="9C99A6"/>
              </a:solidFill>
              <a:latin typeface="Segoe UI Semibold"/>
            </a:endParaRPr>
          </a:p>
          <a:p>
            <a:pPr algn="l">
              <a:spcBef>
                <a:spcPts val="200"/>
              </a:spcBef>
            </a:pPr>
            <a:r>
              <a:rPr b="0" dirty="0">
                <a:solidFill>
                  <a:srgbClr val="2E2A3A"/>
                </a:solidFill>
                <a:latin typeface="Segoe UI"/>
              </a:rPr>
              <a:t>Denisa Antoneac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1200" y="4761527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 spc="140" dirty="0">
                <a:solidFill>
                  <a:srgbClr val="9C99A6"/>
                </a:solidFill>
                <a:latin typeface="Segoe UI Semibold"/>
              </a:rPr>
              <a:t>TUTORA ACADÉMICA</a:t>
            </a:r>
          </a:p>
          <a:p>
            <a:pPr algn="l">
              <a:spcBef>
                <a:spcPts val="200"/>
              </a:spcBef>
            </a:pPr>
            <a:r>
              <a:rPr b="0" dirty="0">
                <a:solidFill>
                  <a:srgbClr val="2E2A3A"/>
                </a:solidFill>
                <a:latin typeface="Segoe UI"/>
              </a:rPr>
              <a:t>Raquel Rodríguez Carvajal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" y="5461000"/>
            <a:ext cx="324612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07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dirty="0" err="1">
                <a:solidFill>
                  <a:srgbClr val="6E57B0"/>
                </a:solidFill>
                <a:latin typeface="Segoe UI Semibold"/>
              </a:rPr>
              <a:t>Revisión</a:t>
            </a:r>
            <a:r>
              <a:rPr sz="1400" b="1" dirty="0">
                <a:solidFill>
                  <a:srgbClr val="6E57B0"/>
                </a:solidFill>
                <a:latin typeface="Segoe UI Semibold"/>
              </a:rPr>
              <a:t> </a:t>
            </a:r>
            <a:r>
              <a:rPr sz="1400" b="1" dirty="0" err="1">
                <a:solidFill>
                  <a:srgbClr val="6E57B0"/>
                </a:solidFill>
                <a:latin typeface="Segoe UI Semibold"/>
              </a:rPr>
              <a:t>sistemática</a:t>
            </a:r>
            <a:r>
              <a:rPr sz="1400" b="1" dirty="0">
                <a:solidFill>
                  <a:srgbClr val="6E57B0"/>
                </a:solidFill>
                <a:latin typeface="Segoe UI Semibold"/>
              </a:rPr>
              <a:t> · Umbrella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9140" y="6198675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 dirty="0" err="1">
                <a:solidFill>
                  <a:srgbClr val="9C99A6"/>
                </a:solidFill>
                <a:latin typeface="Segoe UI"/>
              </a:rPr>
              <a:t>Máster</a:t>
            </a:r>
            <a:r>
              <a:rPr sz="1400" b="0" dirty="0">
                <a:solidFill>
                  <a:srgbClr val="9C99A6"/>
                </a:solidFill>
                <a:latin typeface="Segoe UI"/>
              </a:rPr>
              <a:t> Universitario </a:t>
            </a:r>
            <a:r>
              <a:rPr sz="1400" b="0" dirty="0" err="1">
                <a:solidFill>
                  <a:srgbClr val="9C99A6"/>
                </a:solidFill>
                <a:latin typeface="Segoe UI"/>
              </a:rPr>
              <a:t>en</a:t>
            </a:r>
            <a:r>
              <a:rPr sz="1400" b="0" dirty="0">
                <a:solidFill>
                  <a:srgbClr val="9C99A6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C99A6"/>
                </a:solidFill>
                <a:latin typeface="Segoe UI"/>
              </a:rPr>
              <a:t>Psicología</a:t>
            </a:r>
            <a:r>
              <a:rPr sz="1400" b="0" dirty="0">
                <a:solidFill>
                  <a:srgbClr val="9C99A6"/>
                </a:solidFill>
                <a:latin typeface="Segoe UI"/>
              </a:rPr>
              <a:t> General Sanitaria · </a:t>
            </a:r>
            <a:r>
              <a:rPr sz="1400" b="0" dirty="0" err="1">
                <a:solidFill>
                  <a:srgbClr val="9C99A6"/>
                </a:solidFill>
                <a:latin typeface="Segoe UI"/>
              </a:rPr>
              <a:t>Convocatoria</a:t>
            </a:r>
            <a:r>
              <a:rPr sz="1400" b="0" dirty="0">
                <a:solidFill>
                  <a:srgbClr val="9C99A6"/>
                </a:solidFill>
                <a:latin typeface="Segoe UI"/>
              </a:rPr>
              <a:t> de </a:t>
            </a:r>
            <a:r>
              <a:rPr sz="1400" b="0" dirty="0" err="1">
                <a:solidFill>
                  <a:srgbClr val="9C99A6"/>
                </a:solidFill>
                <a:latin typeface="Segoe UI"/>
              </a:rPr>
              <a:t>junio</a:t>
            </a:r>
            <a:r>
              <a:rPr sz="1400" b="0" dirty="0">
                <a:solidFill>
                  <a:srgbClr val="9C99A6"/>
                </a:solidFill>
                <a:latin typeface="Segoe UI"/>
              </a:rPr>
              <a:t> de 2026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51D57788-F4BD-73FB-9C96-D2A669879588}"/>
              </a:ext>
            </a:extLst>
          </p:cNvPr>
          <p:cNvSpPr/>
          <p:nvPr/>
        </p:nvSpPr>
        <p:spPr>
          <a:xfrm>
            <a:off x="8851265" y="2921000"/>
            <a:ext cx="3302000" cy="3302000"/>
          </a:xfrm>
          <a:prstGeom prst="ellipse">
            <a:avLst/>
          </a:prstGeom>
          <a:solidFill>
            <a:srgbClr val="B07EBD">
              <a:alpha val="18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EB831CC8-6A79-6883-B834-0ACB2D7A9156}"/>
              </a:ext>
            </a:extLst>
          </p:cNvPr>
          <p:cNvSpPr/>
          <p:nvPr/>
        </p:nvSpPr>
        <p:spPr>
          <a:xfrm>
            <a:off x="6903992" y="2804377"/>
            <a:ext cx="3347902" cy="3291623"/>
          </a:xfrm>
          <a:prstGeom prst="ellipse">
            <a:avLst/>
          </a:prstGeom>
          <a:solidFill>
            <a:srgbClr val="D17A98">
              <a:alpha val="15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08216AD5-0047-938A-A66C-CD7DDAEA5CEB}"/>
              </a:ext>
            </a:extLst>
          </p:cNvPr>
          <p:cNvSpPr/>
          <p:nvPr/>
        </p:nvSpPr>
        <p:spPr>
          <a:xfrm>
            <a:off x="7874000" y="762000"/>
            <a:ext cx="3810000" cy="3810000"/>
          </a:xfrm>
          <a:prstGeom prst="ellipse">
            <a:avLst/>
          </a:prstGeom>
          <a:solidFill>
            <a:srgbClr val="9F8FD0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6000" y="528066"/>
            <a:ext cx="374902" cy="176022"/>
          </a:xfrm>
          <a:prstGeom prst="roundRect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9079C8"/>
                </a:solidFill>
              </a:rPr>
              <a:t>ÍNDICE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>
                <a:solidFill>
                  <a:srgbClr val="2E2A3A"/>
                </a:solidFill>
              </a:rPr>
              <a:t>Estructura de la presentación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62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9808" y="166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Marco Teórico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9808" y="198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El self, autoestima, autoconcepto y bienestar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2330000"/>
            <a:ext cx="10725912" cy="8000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37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9808" y="241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Justificación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9808" y="273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Por qué este trabajo y qué añade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3080000"/>
            <a:ext cx="10725912" cy="8000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12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9808" y="316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Objetivos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99808" y="348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General y cuatro específicos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830000"/>
            <a:ext cx="10725912" cy="8000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87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99808" y="391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Método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9808" y="423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Diseño PECO, búsqueda y selección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4580000"/>
            <a:ext cx="10725912" cy="8000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62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99808" y="466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Resultados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9808" y="498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Corpus, calidad AMSTAR-2 y síntesis por bloques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5330000"/>
            <a:ext cx="10725912" cy="8000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37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99808" y="541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Discusión y Conclusiones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99808" y="573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Implicaciones clínicas, limitaciones y líneas futuras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C99A6"/>
                </a:solidFill>
              </a:rPr>
              <a:t>Autoestima, autoconcepto y bienestar   -   D. Antoneac</a:t>
            </a:r>
          </a:p>
        </p:txBody>
      </p:sp>
      <p:sp>
        <p:nvSpPr>
          <p:cNvPr id="30" name="Oval 29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C99A6"/>
                </a:solidFill>
              </a:rPr>
              <a:t>2</a:t>
            </a:r>
            <a:r>
              <a:rPr sz="1000" b="0">
                <a:solidFill>
                  <a:srgbClr val="9C99A6"/>
                </a:solidFill>
              </a:rPr>
              <a:t>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MARCO TEÓRICO · UN SIGLO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Un siglo de estudio del 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596000" y="3410712"/>
            <a:ext cx="9000000" cy="27432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400"/>
          </a:p>
        </p:txBody>
      </p:sp>
      <p:sp>
        <p:nvSpPr>
          <p:cNvPr id="23" name="Rounded Rectangle 22"/>
          <p:cNvSpPr/>
          <p:nvPr/>
        </p:nvSpPr>
        <p:spPr>
          <a:xfrm>
            <a:off x="896888" y="5212080"/>
            <a:ext cx="10725912" cy="777240"/>
          </a:xfrm>
          <a:prstGeom prst="roundRect">
            <a:avLst>
              <a:gd name="adj" fmla="val 8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400"/>
          </a:p>
        </p:txBody>
      </p:sp>
      <p:sp>
        <p:nvSpPr>
          <p:cNvPr id="24" name="Rectangle 23"/>
          <p:cNvSpPr/>
          <p:nvPr/>
        </p:nvSpPr>
        <p:spPr>
          <a:xfrm>
            <a:off x="749808" y="5212080"/>
            <a:ext cx="82296" cy="77724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42415" y="5330000"/>
            <a:ext cx="10177272" cy="5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>
                <a:solidFill>
                  <a:srgbClr val="2E2A3A"/>
                </a:solidFill>
              </a:rPr>
              <a:t>Falacias jingle / jangle</a:t>
            </a:r>
          </a:p>
          <a:p>
            <a:pPr algn="l"/>
            <a:r>
              <a:rPr sz="900" b="0">
                <a:solidFill>
                  <a:srgbClr val="4C4954"/>
                </a:solidFill>
              </a:rPr>
              <a:t>Jingle: mismo nombre, constructos distintos.  Jangle: mismo constructo, nombres distintos.  El instrumento elegido define qué constructo se mide realmente.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7" name="Oval 26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5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66000" y="2148840"/>
            <a:ext cx="166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9079C8"/>
                </a:solidFill>
              </a:rPr>
              <a:t>1890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6000" y="2670048"/>
            <a:ext cx="166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2E2A3A"/>
                </a:solidFill>
              </a:rPr>
              <a:t>William James</a:t>
            </a:r>
          </a:p>
        </p:txBody>
      </p:sp>
      <p:sp>
        <p:nvSpPr>
          <p:cNvPr id="31" name="Oval 30"/>
          <p:cNvSpPr/>
          <p:nvPr/>
        </p:nvSpPr>
        <p:spPr>
          <a:xfrm>
            <a:off x="14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000" y="3794760"/>
            <a:ext cx="1660000" cy="1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4C4954"/>
                </a:solidFill>
              </a:rPr>
              <a:t>El self como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sujeto (I) y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objeto (me).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6000" y="2148840"/>
            <a:ext cx="166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9079C8"/>
                </a:solidFill>
              </a:rPr>
              <a:t>1902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6000" y="2670048"/>
            <a:ext cx="166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2E2A3A"/>
                </a:solidFill>
              </a:rPr>
              <a:t>Cooley</a:t>
            </a:r>
          </a:p>
        </p:txBody>
      </p:sp>
      <p:sp>
        <p:nvSpPr>
          <p:cNvPr id="35" name="Oval 34"/>
          <p:cNvSpPr/>
          <p:nvPr/>
        </p:nvSpPr>
        <p:spPr>
          <a:xfrm>
            <a:off x="32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66000" y="3794760"/>
            <a:ext cx="1660000" cy="1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4C4954"/>
                </a:solidFill>
              </a:rPr>
              <a:t>El yo-espejo: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nos vemos como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nos ven los demás.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66000" y="2148840"/>
            <a:ext cx="166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9079C8"/>
                </a:solidFill>
              </a:rPr>
              <a:t>1934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6000" y="2670048"/>
            <a:ext cx="166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2E2A3A"/>
                </a:solidFill>
              </a:rPr>
              <a:t>G.H. Mead</a:t>
            </a:r>
          </a:p>
        </p:txBody>
      </p:sp>
      <p:sp>
        <p:nvSpPr>
          <p:cNvPr id="39" name="Oval 38"/>
          <p:cNvSpPr/>
          <p:nvPr/>
        </p:nvSpPr>
        <p:spPr>
          <a:xfrm>
            <a:off x="50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66000" y="3794760"/>
            <a:ext cx="1660000" cy="1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4C4954"/>
                </a:solidFill>
              </a:rPr>
              <a:t>El self emerge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en la interacción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social.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66000" y="2148840"/>
            <a:ext cx="166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9079C8"/>
                </a:solidFill>
              </a:rPr>
              <a:t>1965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66000" y="2670048"/>
            <a:ext cx="166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2E2A3A"/>
                </a:solidFill>
              </a:rPr>
              <a:t>Rosenberg</a:t>
            </a:r>
          </a:p>
        </p:txBody>
      </p:sp>
      <p:sp>
        <p:nvSpPr>
          <p:cNvPr id="43" name="Oval 42"/>
          <p:cNvSpPr/>
          <p:nvPr/>
        </p:nvSpPr>
        <p:spPr>
          <a:xfrm>
            <a:off x="68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66000" y="3794760"/>
            <a:ext cx="1660000" cy="1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4C4954"/>
                </a:solidFill>
              </a:rPr>
              <a:t>Escala RSES: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estándar de la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autoestima global.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66000" y="2148840"/>
            <a:ext cx="166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9079C8"/>
                </a:solidFill>
              </a:rPr>
              <a:t>1976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66000" y="2670048"/>
            <a:ext cx="166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2E2A3A"/>
                </a:solidFill>
              </a:rPr>
              <a:t>Shavelson</a:t>
            </a:r>
          </a:p>
        </p:txBody>
      </p:sp>
      <p:sp>
        <p:nvSpPr>
          <p:cNvPr id="47" name="Oval 46"/>
          <p:cNvSpPr/>
          <p:nvPr/>
        </p:nvSpPr>
        <p:spPr>
          <a:xfrm>
            <a:off x="86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66000" y="3794760"/>
            <a:ext cx="1660000" cy="1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4C4954"/>
                </a:solidFill>
              </a:rPr>
              <a:t>Autoconcepto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multidimensional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y jerárquico.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66000" y="2148840"/>
            <a:ext cx="166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9079C8"/>
                </a:solidFill>
              </a:rPr>
              <a:t>2003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66000" y="2670048"/>
            <a:ext cx="166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2E2A3A"/>
                </a:solidFill>
              </a:rPr>
              <a:t>Baumeister</a:t>
            </a:r>
          </a:p>
        </p:txBody>
      </p:sp>
      <p:sp>
        <p:nvSpPr>
          <p:cNvPr id="51" name="Oval 50"/>
          <p:cNvSpPr/>
          <p:nvPr/>
        </p:nvSpPr>
        <p:spPr>
          <a:xfrm>
            <a:off x="104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66000" y="3794760"/>
            <a:ext cx="1660000" cy="1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4C4954"/>
                </a:solidFill>
              </a:rPr>
              <a:t>Efectos causales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más modestos de lo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esperado: urge rigor.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MARCO TEÓRICO · QUÉ MEDIMOS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Qué medimos exactamente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24127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98448" y="2033275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 dirty="0" err="1">
                <a:solidFill>
                  <a:srgbClr val="2E2A3A"/>
                </a:solidFill>
                <a:latin typeface="Segoe UI Semibold"/>
              </a:rPr>
              <a:t>Autoestima</a:t>
            </a:r>
            <a:endParaRPr sz="1900"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7279" y="2633472"/>
            <a:ext cx="2871216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lang="es-ES" sz="1600" b="0" dirty="0">
                <a:solidFill>
                  <a:srgbClr val="4C4954"/>
                </a:solidFill>
                <a:latin typeface="Segoe UI"/>
              </a:rPr>
              <a:t>Evaluativa.</a:t>
            </a:r>
          </a:p>
          <a:p>
            <a:pPr algn="l">
              <a:lnSpc>
                <a:spcPct val="116000"/>
              </a:lnSpc>
            </a:pP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sz="1600" b="0" dirty="0" err="1">
                <a:solidFill>
                  <a:srgbClr val="4C4954"/>
                </a:solidFill>
                <a:latin typeface="Segoe UI"/>
              </a:rPr>
              <a:t>Juicio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global de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valía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personal</a:t>
            </a: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sz="160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Dimensión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afectiva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del self.</a:t>
            </a: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endParaRPr lang="es-ES" sz="160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lang="es-ES" sz="1600" b="0" dirty="0">
                <a:solidFill>
                  <a:srgbClr val="4C4954"/>
                </a:solidFill>
                <a:latin typeface="Segoe UI"/>
              </a:rPr>
              <a:t>¿Cuánto me valoro?</a:t>
            </a:r>
            <a:endParaRPr sz="1600" b="0" dirty="0">
              <a:solidFill>
                <a:srgbClr val="4C4954"/>
              </a:solidFill>
              <a:latin typeface="Segoe U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024127" y="5312664"/>
            <a:ext cx="2871216" cy="56692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Segoe UI Semibold"/>
              </a:rPr>
              <a:t>Rosenberg </a:t>
            </a:r>
            <a:r>
              <a:rPr sz="1600" b="1" dirty="0">
                <a:solidFill>
                  <a:srgbClr val="FFFFFF"/>
                </a:solidFill>
                <a:latin typeface="Segoe UI Semibold"/>
              </a:rPr>
              <a:t>Self-Esteem</a:t>
            </a:r>
            <a:r>
              <a:rPr sz="1400" b="1" dirty="0">
                <a:solidFill>
                  <a:srgbClr val="FFFFFF"/>
                </a:solidFill>
                <a:latin typeface="Segoe UI Semibold"/>
              </a:rPr>
              <a:t> Scale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1416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745736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47488" y="20595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 dirty="0" err="1">
                <a:solidFill>
                  <a:srgbClr val="2E2A3A"/>
                </a:solidFill>
                <a:latin typeface="Segoe UI Semibold"/>
              </a:rPr>
              <a:t>Autoconcepto</a:t>
            </a:r>
            <a:endParaRPr sz="1900"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818888" y="2494172"/>
            <a:ext cx="2871216" cy="25603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lang="es-ES" sz="1600" b="0" dirty="0">
                <a:solidFill>
                  <a:srgbClr val="4C4954"/>
                </a:solidFill>
                <a:latin typeface="Segoe UI"/>
              </a:rPr>
              <a:t>Descriptivo y multidimensional</a:t>
            </a:r>
          </a:p>
          <a:p>
            <a:pPr algn="l">
              <a:lnSpc>
                <a:spcPct val="116000"/>
              </a:lnSpc>
            </a:pP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sz="1600" b="0" dirty="0" err="1">
                <a:solidFill>
                  <a:srgbClr val="4C4954"/>
                </a:solidFill>
                <a:latin typeface="Segoe UI"/>
              </a:rPr>
              <a:t>Descripción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del self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por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dominios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: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académico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, social,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físico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, corporal.</a:t>
            </a: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endParaRPr lang="es-ES" sz="1600" dirty="0">
              <a:solidFill>
                <a:srgbClr val="4C4954"/>
              </a:solidFill>
              <a:latin typeface="Segoe UI"/>
            </a:endParaRPr>
          </a:p>
          <a:p>
            <a:pPr>
              <a:lnSpc>
                <a:spcPct val="116000"/>
              </a:lnSpc>
            </a:pPr>
            <a:r>
              <a:rPr lang="es-ES" sz="1600" dirty="0">
                <a:solidFill>
                  <a:srgbClr val="4C4954"/>
                </a:solidFill>
                <a:latin typeface="Segoe UI"/>
              </a:rPr>
              <a:t>¿Qué pienso de mí mismo?</a:t>
            </a:r>
            <a:endParaRPr sz="1600" b="0" dirty="0">
              <a:solidFill>
                <a:srgbClr val="4C4954"/>
              </a:solidFill>
              <a:latin typeface="Segoe U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818888" y="5312664"/>
            <a:ext cx="2871216" cy="56692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 Semibold"/>
              </a:rPr>
              <a:t>Self-Description Questionnaire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1600"/>
          </a:p>
        </p:txBody>
      </p:sp>
      <p:sp>
        <p:nvSpPr>
          <p:cNvPr id="17" name="Rectangle 16"/>
          <p:cNvSpPr/>
          <p:nvPr/>
        </p:nvSpPr>
        <p:spPr>
          <a:xfrm>
            <a:off x="8467344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77656" y="20528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 dirty="0">
                <a:solidFill>
                  <a:srgbClr val="2E2A3A"/>
                </a:solidFill>
                <a:latin typeface="Segoe UI Semibold"/>
              </a:rPr>
              <a:t>Bienestar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6" y="2416302"/>
            <a:ext cx="2871216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600" b="0" dirty="0" err="1">
                <a:solidFill>
                  <a:srgbClr val="4C4954"/>
                </a:solidFill>
                <a:latin typeface="Segoe UI"/>
              </a:rPr>
              <a:t>Hedónico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(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satisfacción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y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afecto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)</a:t>
            </a: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sz="1600" b="0" dirty="0">
                <a:solidFill>
                  <a:srgbClr val="4C4954"/>
                </a:solidFill>
                <a:latin typeface="Segoe UI"/>
              </a:rPr>
              <a:t> </a:t>
            </a: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lang="es-ES" sz="1600" dirty="0">
                <a:solidFill>
                  <a:srgbClr val="4C4954"/>
                </a:solidFill>
                <a:latin typeface="Segoe UI"/>
              </a:rPr>
              <a:t>E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udaimónico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(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funcionamiento</a:t>
            </a:r>
            <a:r>
              <a:rPr lang="es-ES" sz="160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óptimo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)</a:t>
            </a: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endParaRPr lang="es-ES" sz="160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lang="es-ES" sz="1600" b="0" dirty="0">
                <a:solidFill>
                  <a:srgbClr val="4C4954"/>
                </a:solidFill>
                <a:latin typeface="Segoe UI"/>
              </a:rPr>
              <a:t>Calidad de vida relacionada con la salud </a:t>
            </a:r>
          </a:p>
          <a:p>
            <a:pPr algn="l">
              <a:lnSpc>
                <a:spcPct val="116000"/>
              </a:lnSpc>
            </a:pPr>
            <a:endParaRPr lang="es-ES" sz="160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lang="es-ES" sz="1600" b="0" dirty="0">
                <a:solidFill>
                  <a:srgbClr val="4C4954"/>
                </a:solidFill>
                <a:latin typeface="Segoe UI"/>
              </a:rPr>
              <a:t>Salud mental general</a:t>
            </a:r>
            <a:endParaRPr sz="1600" b="0" dirty="0">
              <a:solidFill>
                <a:srgbClr val="4C4954"/>
              </a:solidFill>
              <a:latin typeface="Segoe U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467344" y="5312664"/>
            <a:ext cx="2871216" cy="56692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 Semibold"/>
              </a:rPr>
              <a:t>HRQoL  +  salud mental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2" name="Oval 21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6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/>
      <p:bldP spid="19" grpId="0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MARCO TEÓRICO · EL BIENESTAR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 dirty="0">
                <a:solidFill>
                  <a:srgbClr val="2E2A3A"/>
                </a:solidFill>
                <a:latin typeface="Segoe UI Semibold"/>
              </a:rPr>
              <a:t>El </a:t>
            </a:r>
            <a:r>
              <a:rPr sz="3000" b="0" dirty="0" err="1">
                <a:solidFill>
                  <a:srgbClr val="2E2A3A"/>
                </a:solidFill>
                <a:latin typeface="Segoe UI Semibold"/>
              </a:rPr>
              <a:t>bienestar</a:t>
            </a:r>
            <a:r>
              <a:rPr sz="3000" b="0" dirty="0">
                <a:solidFill>
                  <a:srgbClr val="2E2A3A"/>
                </a:solidFill>
                <a:latin typeface="Segoe UI Semibold"/>
              </a:rPr>
              <a:t> </a:t>
            </a:r>
            <a:r>
              <a:rPr sz="3000" b="0" dirty="0" err="1">
                <a:solidFill>
                  <a:srgbClr val="2E2A3A"/>
                </a:solidFill>
                <a:latin typeface="Segoe UI Semibold"/>
              </a:rPr>
              <a:t>tiene</a:t>
            </a:r>
            <a:r>
              <a:rPr sz="3000" b="0" dirty="0">
                <a:solidFill>
                  <a:srgbClr val="2E2A3A"/>
                </a:solidFill>
                <a:latin typeface="Segoe UI Semibold"/>
              </a:rPr>
              <a:t> cuatro </a:t>
            </a:r>
            <a:r>
              <a:rPr sz="3000" b="0" dirty="0" err="1">
                <a:solidFill>
                  <a:srgbClr val="2E2A3A"/>
                </a:solidFill>
                <a:latin typeface="Segoe UI Semibold"/>
              </a:rPr>
              <a:t>caras</a:t>
            </a:r>
            <a:endParaRPr sz="3000" b="0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5285232" cy="21031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42415" y="2093976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98448" y="2029967"/>
            <a:ext cx="44622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b="1" dirty="0">
                <a:solidFill>
                  <a:srgbClr val="2E2A3A"/>
                </a:solidFill>
                <a:latin typeface="Segoe UI Semibold"/>
              </a:rPr>
              <a:t>Bienestar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subjetivo</a:t>
            </a:r>
            <a:r>
              <a:rPr b="1" dirty="0">
                <a:solidFill>
                  <a:srgbClr val="2E2A3A"/>
                </a:solidFill>
                <a:latin typeface="Segoe UI Semibold"/>
              </a:rPr>
              <a:t> ·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hedónico</a:t>
            </a:r>
            <a:endParaRPr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42415" y="2560320"/>
            <a:ext cx="4700016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</a:pPr>
            <a:r>
              <a:rPr b="0" dirty="0" err="1">
                <a:latin typeface="Segoe UI"/>
              </a:rPr>
              <a:t>Satisfacción</a:t>
            </a:r>
            <a:r>
              <a:rPr b="0" dirty="0">
                <a:latin typeface="Segoe UI"/>
              </a:rPr>
              <a:t> con la </a:t>
            </a:r>
            <a:r>
              <a:rPr b="0" dirty="0" err="1">
                <a:latin typeface="Segoe UI"/>
              </a:rPr>
              <a:t>vida</a:t>
            </a:r>
            <a:r>
              <a:rPr b="0" dirty="0">
                <a:latin typeface="Segoe UI"/>
              </a:rPr>
              <a:t> + </a:t>
            </a:r>
            <a:r>
              <a:rPr b="0" dirty="0" err="1">
                <a:latin typeface="Segoe UI"/>
              </a:rPr>
              <a:t>afecto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positivo</a:t>
            </a:r>
            <a:r>
              <a:rPr b="0" dirty="0">
                <a:latin typeface="Segoe UI"/>
              </a:rPr>
              <a:t> − </a:t>
            </a:r>
            <a:r>
              <a:rPr b="0" dirty="0" err="1">
                <a:latin typeface="Segoe UI"/>
              </a:rPr>
              <a:t>afecto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negativo</a:t>
            </a:r>
            <a:r>
              <a:rPr b="0" dirty="0">
                <a:latin typeface="Segoe UI"/>
              </a:rPr>
              <a:t> (Diener).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1783080"/>
            <a:ext cx="5285232" cy="21031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629400" y="2093976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85432" y="2029967"/>
            <a:ext cx="44622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b="1" dirty="0">
                <a:solidFill>
                  <a:srgbClr val="2E2A3A"/>
                </a:solidFill>
                <a:latin typeface="Segoe UI Semibold"/>
              </a:rPr>
              <a:t>Bienestar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psicológico</a:t>
            </a:r>
            <a:r>
              <a:rPr b="1" dirty="0">
                <a:solidFill>
                  <a:srgbClr val="2E2A3A"/>
                </a:solidFill>
                <a:latin typeface="Segoe UI Semibold"/>
              </a:rPr>
              <a:t> ·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eudaimónico</a:t>
            </a:r>
            <a:endParaRPr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28529" y="2452769"/>
            <a:ext cx="4976078" cy="111339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14000"/>
              </a:lnSpc>
            </a:pPr>
            <a:r>
              <a:rPr b="0" dirty="0" err="1">
                <a:latin typeface="Segoe UI" panose="020B0502040204020203" pitchFamily="34" charset="0"/>
                <a:cs typeface="Segoe UI" panose="020B0502040204020203" pitchFamily="34" charset="0"/>
              </a:rPr>
              <a:t>Funcionamiento</a:t>
            </a:r>
            <a:r>
              <a:rPr b="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b="0" dirty="0" err="1">
                <a:latin typeface="Segoe UI" panose="020B0502040204020203" pitchFamily="34" charset="0"/>
                <a:cs typeface="Segoe UI" panose="020B0502040204020203" pitchFamily="34" charset="0"/>
              </a:rPr>
              <a:t>óptimo</a:t>
            </a:r>
            <a:r>
              <a:rPr b="0" dirty="0">
                <a:latin typeface="Segoe UI" panose="020B0502040204020203" pitchFamily="34" charset="0"/>
                <a:cs typeface="Segoe UI" panose="020B0502040204020203" pitchFamily="34" charset="0"/>
              </a:rPr>
              <a:t> de la persona </a:t>
            </a:r>
            <a:r>
              <a:rPr b="0" dirty="0" err="1">
                <a:latin typeface="Segoe UI" panose="020B0502040204020203" pitchFamily="34" charset="0"/>
                <a:cs typeface="Segoe UI" panose="020B0502040204020203" pitchFamily="34" charset="0"/>
              </a:rPr>
              <a:t>en</a:t>
            </a:r>
            <a:r>
              <a:rPr b="0" dirty="0">
                <a:latin typeface="Segoe UI" panose="020B0502040204020203" pitchFamily="34" charset="0"/>
                <a:cs typeface="Segoe UI" panose="020B0502040204020203" pitchFamily="34" charset="0"/>
              </a:rPr>
              <a:t> seis </a:t>
            </a:r>
            <a:r>
              <a:rPr b="0" dirty="0" err="1">
                <a:latin typeface="Segoe UI" panose="020B0502040204020203" pitchFamily="34" charset="0"/>
                <a:cs typeface="Segoe UI" panose="020B0502040204020203" pitchFamily="34" charset="0"/>
              </a:rPr>
              <a:t>dimensiones</a:t>
            </a:r>
            <a:r>
              <a:rPr b="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s-ES" b="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s-ES" dirty="0">
                <a:latin typeface="Segoe UI" panose="020B0502040204020203" pitchFamily="34" charset="0"/>
                <a:cs typeface="Segoe UI" panose="020B0502040204020203" pitchFamily="34" charset="0"/>
              </a:rPr>
              <a:t>autonomía, dominio del entorno, crecimiento personal, relaciones positivas, propósito en la vida y autoaceptación </a:t>
            </a:r>
            <a:r>
              <a:rPr b="0" dirty="0">
                <a:latin typeface="Segoe UI" panose="020B0502040204020203" pitchFamily="34" charset="0"/>
                <a:cs typeface="Segoe UI" panose="020B0502040204020203" pitchFamily="34" charset="0"/>
              </a:rPr>
              <a:t>(Ryff).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160520"/>
            <a:ext cx="5285232" cy="21031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42415" y="4471416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98448" y="4407408"/>
            <a:ext cx="44622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b="1" dirty="0">
                <a:solidFill>
                  <a:srgbClr val="2E2A3A"/>
                </a:solidFill>
                <a:latin typeface="Segoe UI Semibold"/>
              </a:rPr>
              <a:t>Calidad de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vida</a:t>
            </a:r>
            <a:r>
              <a:rPr b="1" dirty="0">
                <a:solidFill>
                  <a:srgbClr val="2E2A3A"/>
                </a:solidFill>
                <a:latin typeface="Segoe UI Semibold"/>
              </a:rPr>
              <a:t> y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salud</a:t>
            </a:r>
            <a:r>
              <a:rPr b="1" dirty="0">
                <a:solidFill>
                  <a:srgbClr val="2E2A3A"/>
                </a:solidFill>
                <a:latin typeface="Segoe UI Semibold"/>
              </a:rPr>
              <a:t> ·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HRQoL</a:t>
            </a:r>
            <a:endParaRPr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42415" y="4937759"/>
            <a:ext cx="4700016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14000"/>
              </a:lnSpc>
            </a:pPr>
            <a:r>
              <a:rPr b="0" dirty="0">
                <a:latin typeface="Segoe UI"/>
              </a:rPr>
              <a:t>Impacto de la </a:t>
            </a:r>
            <a:r>
              <a:rPr b="0" dirty="0" err="1">
                <a:latin typeface="Segoe UI"/>
              </a:rPr>
              <a:t>enfermedad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sobre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el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funcionamiento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físico</a:t>
            </a:r>
            <a:r>
              <a:rPr b="0" dirty="0">
                <a:latin typeface="Segoe UI"/>
              </a:rPr>
              <a:t>, mental y social (WHOQOL).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4160520"/>
            <a:ext cx="5285232" cy="21031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629400" y="4471416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85432" y="4407408"/>
            <a:ext cx="44622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b="1">
                <a:solidFill>
                  <a:srgbClr val="2E2A3A"/>
                </a:solidFill>
                <a:latin typeface="Segoe UI Semibold"/>
              </a:rPr>
              <a:t>Salud mental general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937759"/>
            <a:ext cx="4700016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</a:pPr>
            <a:r>
              <a:rPr lang="es-ES" dirty="0">
                <a:latin typeface="Segoe UI"/>
              </a:rPr>
              <a:t>Dos continuos independientes: ausencia de enfermedad ≠ salud mental. Flourishing (diagnóstico + alta salud mental) vs. languishing (sin recursos). Objetivo terapéutico: reducir síntomas Y construir autoconcepto.</a:t>
            </a:r>
            <a:r>
              <a:rPr b="0" dirty="0">
                <a:latin typeface="Segoe U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3" name="Oval 22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7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JUSTIFICACIÓN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Evidencia abundante… pero fragmentada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49808" y="1929384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7" y="1847088"/>
            <a:ext cx="480060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Es una de las literaturas </a:t>
            </a:r>
            <a:r>
              <a:rPr sz="1500" b="1">
                <a:solidFill>
                  <a:srgbClr val="2E2A3A"/>
                </a:solidFill>
                <a:latin typeface="Segoe UI Semibold"/>
              </a:rPr>
              <a:t>más voluminosas</a:t>
            </a:r>
            <a:r>
              <a:rPr sz="1500" b="0">
                <a:solidFill>
                  <a:srgbClr val="4C4954"/>
                </a:solidFill>
                <a:latin typeface="Segoe UI"/>
              </a:rPr>
              <a:t> de toda la psicología.</a:t>
            </a:r>
          </a:p>
        </p:txBody>
      </p:sp>
      <p:sp>
        <p:nvSpPr>
          <p:cNvPr id="8" name="Oval 7"/>
          <p:cNvSpPr/>
          <p:nvPr/>
        </p:nvSpPr>
        <p:spPr>
          <a:xfrm>
            <a:off x="749808" y="3255264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7" y="3172968"/>
            <a:ext cx="480060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La síntesis más próxima, </a:t>
            </a:r>
            <a:r>
              <a:rPr sz="1500" b="1">
                <a:solidFill>
                  <a:srgbClr val="2E2A3A"/>
                </a:solidFill>
                <a:latin typeface="Segoe UI Semibold"/>
              </a:rPr>
              <a:t>Zell &amp; Johansson (2025)</a:t>
            </a:r>
            <a:r>
              <a:rPr sz="1500" b="0">
                <a:solidFill>
                  <a:srgbClr val="4C4954"/>
                </a:solidFill>
                <a:latin typeface="Segoe UI"/>
              </a:rPr>
              <a:t>, agrega 40 meta-análisis: r = ,31 global (,42 salud mental; ,15 salud física)… pero en población general.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4581144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24127" y="4498848"/>
            <a:ext cx="480060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Cada meta-análisis aborda una porción del problema: </a:t>
            </a:r>
            <a:r>
              <a:rPr sz="1500" b="1">
                <a:solidFill>
                  <a:srgbClr val="2E2A3A"/>
                </a:solidFill>
                <a:latin typeface="Segoe UI Semibold"/>
              </a:rPr>
              <a:t>visión fragmentada</a:t>
            </a:r>
            <a:r>
              <a:rPr sz="1500" b="0">
                <a:solidFill>
                  <a:srgbClr val="4C4954"/>
                </a:solidFill>
                <a:latin typeface="Segoe UI"/>
              </a:rPr>
              <a:t> y difícil de transferir a la clínica.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83080"/>
            <a:ext cx="5303520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537960" y="2057400"/>
            <a:ext cx="4572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907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6E57B0"/>
                </a:solidFill>
                <a:latin typeface="Segoe UI Semibold"/>
              </a:rPr>
              <a:t>El hueco que cubre este TFM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788920"/>
            <a:ext cx="4480559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①  Restrinjo a </a:t>
            </a:r>
            <a:r>
              <a:rPr sz="1500" b="1">
                <a:solidFill>
                  <a:srgbClr val="2E2A3A"/>
                </a:solidFill>
                <a:latin typeface="Segoe UI Semibold"/>
              </a:rPr>
              <a:t>población clínica y de la salud</a:t>
            </a:r>
            <a:r>
              <a:rPr sz="1500" b="0">
                <a:solidFill>
                  <a:srgbClr val="4C4954"/>
                </a:solidFill>
                <a:latin typeface="Segoe UI"/>
              </a:rPr>
              <a:t> (≥ 75 %).</a:t>
            </a:r>
          </a:p>
          <a:p>
            <a:pPr algn="l">
              <a:lnSpc>
                <a:spcPct val="116000"/>
              </a:lnSpc>
              <a:spcBef>
                <a:spcPts val="1200"/>
              </a:spcBef>
            </a:pPr>
            <a:r>
              <a:rPr sz="1500" b="0">
                <a:solidFill>
                  <a:srgbClr val="4C4954"/>
                </a:solidFill>
                <a:latin typeface="Segoe UI"/>
              </a:rPr>
              <a:t>②  Integro </a:t>
            </a:r>
            <a:r>
              <a:rPr sz="1500" b="1">
                <a:solidFill>
                  <a:srgbClr val="2E2A3A"/>
                </a:solidFill>
                <a:latin typeface="Segoe UI Semibold"/>
              </a:rPr>
              <a:t>autoestima y autoconcepto</a:t>
            </a:r>
            <a:r>
              <a:rPr sz="1500" b="0">
                <a:solidFill>
                  <a:srgbClr val="4C4954"/>
                </a:solidFill>
                <a:latin typeface="Segoe UI"/>
              </a:rPr>
              <a:t> —incluida la imagen corporal— como dos caras del mismo objeto.</a:t>
            </a:r>
          </a:p>
          <a:p>
            <a:pPr algn="l">
              <a:lnSpc>
                <a:spcPct val="116000"/>
              </a:lnSpc>
              <a:spcBef>
                <a:spcPts val="1200"/>
              </a:spcBef>
            </a:pPr>
            <a:r>
              <a:rPr sz="1350" b="0">
                <a:solidFill>
                  <a:srgbClr val="9C99A6"/>
                </a:solidFill>
                <a:latin typeface="Segoe UI"/>
              </a:rPr>
              <a:t>Las intervenciones se diseñan sobre constructos específicos, no sobre un único agregado global.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16" name="Oval 15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8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Qué me propongo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691640"/>
            <a:ext cx="10725912" cy="1078992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49808" y="1691640"/>
            <a:ext cx="91440" cy="1078992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" y="1883664"/>
            <a:ext cx="99943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700" b="1">
                <a:solidFill>
                  <a:srgbClr val="2E2A3A"/>
                </a:solidFill>
                <a:latin typeface="Segoe UI Semibold"/>
              </a:rPr>
              <a:t>Objetivo general.  </a:t>
            </a:r>
            <a:r>
              <a:rPr sz="1700" b="0">
                <a:solidFill>
                  <a:srgbClr val="4C4954"/>
                </a:solidFill>
                <a:latin typeface="Segoe UI"/>
              </a:rPr>
              <a:t>Sintetizar, mediante una revisión paraguas (PRISMA 2020 y PRIOR), la evidencia meta-analítica sobre autoestima y/o autoconcepto y bienestar en psicología clínica y de la salud (2016–2026).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3227832"/>
            <a:ext cx="603504" cy="60350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3063240"/>
            <a:ext cx="4416552" cy="1417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>
                <a:solidFill>
                  <a:srgbClr val="4C4954"/>
                </a:solidFill>
                <a:latin typeface="Segoe UI"/>
              </a:rPr>
              <a:t>Identificar y describir los meta-análisis del periodo en poblaciones clínicas o de salud.</a:t>
            </a:r>
          </a:p>
        </p:txBody>
      </p:sp>
      <p:sp>
        <p:nvSpPr>
          <p:cNvPr id="11" name="Oval 10"/>
          <p:cNvSpPr/>
          <p:nvPr/>
        </p:nvSpPr>
        <p:spPr>
          <a:xfrm>
            <a:off x="6336792" y="3227832"/>
            <a:ext cx="603504" cy="60350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752" y="3063240"/>
            <a:ext cx="4416552" cy="1417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>
                <a:solidFill>
                  <a:srgbClr val="4C4954"/>
                </a:solidFill>
                <a:latin typeface="Segoe UI"/>
              </a:rPr>
              <a:t>Sintetizar los tamaños del efecto: consistencias y discrepancias por constructo, outcome y población.</a:t>
            </a:r>
          </a:p>
        </p:txBody>
      </p:sp>
      <p:sp>
        <p:nvSpPr>
          <p:cNvPr id="13" name="Oval 12"/>
          <p:cNvSpPr/>
          <p:nvPr/>
        </p:nvSpPr>
        <p:spPr>
          <a:xfrm>
            <a:off x="749808" y="4782312"/>
            <a:ext cx="603504" cy="60350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4617720"/>
            <a:ext cx="4416552" cy="1417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>
                <a:solidFill>
                  <a:srgbClr val="4C4954"/>
                </a:solidFill>
                <a:latin typeface="Segoe UI"/>
              </a:rPr>
              <a:t>Evaluar la calidad metodológica (AMSTAR-2) y el solapamiento entre revisiones (CCA).</a:t>
            </a:r>
          </a:p>
        </p:txBody>
      </p:sp>
      <p:sp>
        <p:nvSpPr>
          <p:cNvPr id="15" name="Oval 14"/>
          <p:cNvSpPr/>
          <p:nvPr/>
        </p:nvSpPr>
        <p:spPr>
          <a:xfrm>
            <a:off x="6336792" y="4782312"/>
            <a:ext cx="603504" cy="60350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9752" y="4617720"/>
            <a:ext cx="4416552" cy="1417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>
                <a:solidFill>
                  <a:srgbClr val="4C4954"/>
                </a:solidFill>
                <a:latin typeface="Segoe UI"/>
              </a:rPr>
              <a:t>Identificar lagunas en la evidencia y proponer líneas de investigación futura.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18" name="Oval 17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9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MÉTODO · DISEÑO Y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Una revisión de revisiones (PECO)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49808" y="2167127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7" y="2084831"/>
            <a:ext cx="4434840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700" b="1">
                <a:solidFill>
                  <a:srgbClr val="2E2A3A"/>
                </a:solidFill>
                <a:latin typeface="Segoe UI Semibold"/>
              </a:rPr>
              <a:t>Diseño:</a:t>
            </a:r>
            <a:r>
              <a:rPr sz="1700" b="0">
                <a:solidFill>
                  <a:srgbClr val="4C4954"/>
                </a:solidFill>
                <a:latin typeface="Segoe UI"/>
              </a:rPr>
              <a:t> umbrella review. La unidad de análisis es el meta-análisis, no el estudio primario.</a:t>
            </a:r>
          </a:p>
        </p:txBody>
      </p:sp>
      <p:sp>
        <p:nvSpPr>
          <p:cNvPr id="8" name="Oval 7"/>
          <p:cNvSpPr/>
          <p:nvPr/>
        </p:nvSpPr>
        <p:spPr>
          <a:xfrm>
            <a:off x="749808" y="3401568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7" y="3319272"/>
            <a:ext cx="4434840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700" b="1">
                <a:solidFill>
                  <a:srgbClr val="2E2A3A"/>
                </a:solidFill>
                <a:latin typeface="Segoe UI Semibold"/>
              </a:rPr>
              <a:t>Reporte:</a:t>
            </a:r>
            <a:r>
              <a:rPr sz="1700" b="0">
                <a:solidFill>
                  <a:srgbClr val="4C4954"/>
                </a:solidFill>
                <a:latin typeface="Segoe UI"/>
              </a:rPr>
              <a:t> PRISMA 2020 y PRIOR, guías específicas para revisiones de revisiones.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4636008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24127" y="4553712"/>
            <a:ext cx="4434840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700" b="1">
                <a:solidFill>
                  <a:srgbClr val="2E2A3A"/>
                </a:solidFill>
                <a:latin typeface="Segoe UI Semibold"/>
              </a:rPr>
              <a:t>Pregunta:</a:t>
            </a:r>
            <a:r>
              <a:rPr sz="1700" b="0">
                <a:solidFill>
                  <a:srgbClr val="4C4954"/>
                </a:solidFill>
                <a:latin typeface="Segoe UI"/>
              </a:rPr>
              <a:t> formulada en formato PECO  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80" y="1783080"/>
            <a:ext cx="5577840" cy="425196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63640" y="2148840"/>
            <a:ext cx="1645920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9079C8"/>
                </a:solidFill>
                <a:latin typeface="Segoe UI Semibold"/>
              </a:rPr>
              <a:t>P</a:t>
            </a:r>
          </a:p>
          <a:p>
            <a:pPr algn="l">
              <a:spcBef>
                <a:spcPts val="200"/>
              </a:spcBef>
            </a:pPr>
            <a:r>
              <a:rPr sz="1350" b="1">
                <a:solidFill>
                  <a:srgbClr val="9079C8"/>
                </a:solidFill>
                <a:latin typeface="Segoe UI Semibold"/>
              </a:rPr>
              <a:t>Población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148840"/>
            <a:ext cx="3291839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4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Contexto clínico o de salud: diagnóstico, enfermedad o riesgo. Umbral ≥ 75 %.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028950"/>
            <a:ext cx="1645920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9079C8"/>
                </a:solidFill>
                <a:latin typeface="Segoe UI Semibold"/>
              </a:rPr>
              <a:t>E</a:t>
            </a:r>
          </a:p>
          <a:p>
            <a:pPr algn="l">
              <a:spcBef>
                <a:spcPts val="200"/>
              </a:spcBef>
            </a:pPr>
            <a:r>
              <a:rPr sz="1350" b="1">
                <a:solidFill>
                  <a:srgbClr val="9079C8"/>
                </a:solidFill>
                <a:latin typeface="Segoe UI Semibold"/>
              </a:rPr>
              <a:t>Exposición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028950"/>
            <a:ext cx="3291839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4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Autoestima y/o autoconcepto, incluida la imagen corporal, con instrumentos validados.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909060"/>
            <a:ext cx="1645920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9079C8"/>
                </a:solidFill>
                <a:latin typeface="Segoe UI Semibold"/>
              </a:rPr>
              <a:t>C</a:t>
            </a:r>
          </a:p>
          <a:p>
            <a:pPr algn="l">
              <a:spcBef>
                <a:spcPts val="200"/>
              </a:spcBef>
            </a:pPr>
            <a:r>
              <a:rPr sz="1350" b="1">
                <a:solidFill>
                  <a:srgbClr val="9079C8"/>
                </a:solidFill>
                <a:latin typeface="Segoe UI Semibold"/>
              </a:rPr>
              <a:t>Comparador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909060"/>
            <a:ext cx="3291839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4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Flexible: implícito (correlacional) o grupo control (intervención).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789170"/>
            <a:ext cx="1645920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9079C8"/>
                </a:solidFill>
                <a:latin typeface="Segoe UI Semibold"/>
              </a:rPr>
              <a:t>O</a:t>
            </a:r>
          </a:p>
          <a:p>
            <a:pPr algn="l">
              <a:spcBef>
                <a:spcPts val="200"/>
              </a:spcBef>
            </a:pPr>
            <a:r>
              <a:rPr sz="1350" b="1">
                <a:solidFill>
                  <a:srgbClr val="9079C8"/>
                </a:solidFill>
                <a:latin typeface="Segoe UI Semibold"/>
              </a:rPr>
              <a:t>Outcome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789170"/>
            <a:ext cx="3291839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4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Bienestar subjetivo, psicológico, HRQoL o salud mental general.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2" name="Oval 21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10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MÉTODO · BÚSQUEDA Y SELECCIÓN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Dónde y cómo busqué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5212080" cy="420624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704" y="2148840"/>
            <a:ext cx="137160" cy="13716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98448" y="2075688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50" b="1">
                <a:solidFill>
                  <a:srgbClr val="2E2A3A"/>
                </a:solidFill>
                <a:latin typeface="Segoe UI Semibold"/>
              </a:rPr>
              <a:t/>
            </a:r>
            <a:r>
              <a:rPr sz="2400" b="1">
                <a:solidFill>
                  <a:srgbClr val="2E2A3A"/>
                </a:solidFill>
              </a:rPr>
              <a:t>4 bases primarias (n = 3.683)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624328"/>
            <a:ext cx="4590288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PubMed/MEDLINE · APA PsycInfo · Scopus · Web of Science.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0704" y="3538728"/>
            <a:ext cx="137160" cy="13716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98448" y="3465576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50" b="1">
                <a:solidFill>
                  <a:srgbClr val="2E2A3A"/>
                </a:solidFill>
                <a:latin typeface="Segoe UI Semibold"/>
              </a:rPr>
              <a:t/>
            </a:r>
            <a:r>
              <a:rPr sz="2400" b="1">
                <a:solidFill>
                  <a:srgbClr val="2E2A3A"/>
                </a:solidFill>
              </a:rPr>
              <a:t>5 fuentes de literatura gris (n = 825)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4014215"/>
            <a:ext cx="45902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PROSPERO · OSF · Google Scholar · TESEO · ProQuest Dissertations.</a:t>
            </a:r>
          </a:p>
          <a:p>
            <a:pPr algn="l">
              <a:spcBef>
                <a:spcPts val="500"/>
              </a:spcBef>
            </a:pPr>
            <a:r>
              <a:rPr sz="1350" b="0" i="1">
                <a:solidFill>
                  <a:srgbClr val="9C99A6"/>
                </a:solidFill>
                <a:latin typeface="Segoe UI"/>
              </a:rPr>
              <a:t>Reduce el sesgo de publicación.</a:t>
            </a:r>
          </a:p>
        </p:txBody>
      </p:sp>
      <p:sp>
        <p:nvSpPr>
          <p:cNvPr id="13" name="Oval 12"/>
          <p:cNvSpPr/>
          <p:nvPr/>
        </p:nvSpPr>
        <p:spPr>
          <a:xfrm>
            <a:off x="6172200" y="1984248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901952"/>
            <a:ext cx="50292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650" b="1">
                <a:solidFill>
                  <a:srgbClr val="2E2A3A"/>
                </a:solidFill>
                <a:latin typeface="Segoe UI Semibold"/>
              </a:rPr>
              <a:t>Estrategia:</a:t>
            </a:r>
            <a:r>
              <a:rPr sz="1650" b="0">
                <a:solidFill>
                  <a:srgbClr val="4C4954"/>
                </a:solidFill>
                <a:latin typeface="Segoe UI"/>
              </a:rPr>
              <a:t> 3 bloques unidos por AND (exposición × outcome × diseño) y vocabulario controlado (MeSH, APA Thesaurus).</a:t>
            </a:r>
          </a:p>
        </p:txBody>
      </p:sp>
      <p:sp>
        <p:nvSpPr>
          <p:cNvPr id="15" name="Oval 14"/>
          <p:cNvSpPr/>
          <p:nvPr/>
        </p:nvSpPr>
        <p:spPr>
          <a:xfrm>
            <a:off x="6172200" y="3401568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319272"/>
            <a:ext cx="50292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650" b="1">
                <a:solidFill>
                  <a:srgbClr val="2E2A3A"/>
                </a:solidFill>
                <a:latin typeface="Segoe UI Semibold"/>
              </a:rPr>
              <a:t>Gestión:</a:t>
            </a:r>
            <a:r>
              <a:rPr sz="1650" b="0">
                <a:solidFill>
                  <a:srgbClr val="4C4954"/>
                </a:solidFill>
                <a:latin typeface="Segoe UI"/>
              </a:rPr>
              <a:t> todos los registros en Rayyan, con motivo de exclusión documentado.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4658868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12992" y="4617720"/>
            <a:ext cx="50292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650" b="1" dirty="0" err="1">
                <a:solidFill>
                  <a:srgbClr val="2E2A3A"/>
                </a:solidFill>
                <a:latin typeface="Segoe UI Semibold"/>
              </a:rPr>
              <a:t>Transparencia</a:t>
            </a:r>
            <a:r>
              <a:rPr sz="1650" b="1" dirty="0">
                <a:solidFill>
                  <a:srgbClr val="2E2A3A"/>
                </a:solidFill>
                <a:latin typeface="Segoe UI Semibold"/>
              </a:rPr>
              <a:t>: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cribado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y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extracción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por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revisora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única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→ se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reconoce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como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limitación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principal.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0" name="Oval 19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11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RESULTADOS · EL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13 meta-análisis, mucha diversidad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3419856" cy="141732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2011680"/>
            <a:ext cx="341985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600" b="1">
                <a:solidFill>
                  <a:srgbClr val="9079C8"/>
                </a:solidFill>
                <a:latin typeface="Georgia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761488"/>
            <a:ext cx="341985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4C4954"/>
                </a:solidFill>
                <a:latin typeface="Segoe UI"/>
              </a:rPr>
              <a:t>meta-análisis incluidos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71416" y="1783080"/>
            <a:ext cx="3419856" cy="141732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71416" y="2011680"/>
            <a:ext cx="341985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600" b="1">
                <a:solidFill>
                  <a:srgbClr val="9079C8"/>
                </a:solidFill>
                <a:latin typeface="Georgia"/>
              </a:rPr>
              <a:t>~415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2761488"/>
            <a:ext cx="341985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4C4954"/>
                </a:solidFill>
                <a:latin typeface="Segoe UI"/>
              </a:rPr>
              <a:t>estudios primarios agregados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1783080"/>
            <a:ext cx="3419856" cy="141732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93024" y="2011680"/>
            <a:ext cx="341985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600" b="1">
                <a:solidFill>
                  <a:srgbClr val="9079C8"/>
                </a:solidFill>
                <a:latin typeface="Georgia"/>
              </a:rPr>
              <a:t>7 – 114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4" y="2761488"/>
            <a:ext cx="341985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4C4954"/>
                </a:solidFill>
                <a:latin typeface="Segoe UI"/>
              </a:rPr>
              <a:t>rango de k (mediana 19)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5204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1" spc="120">
                <a:solidFill>
                  <a:srgbClr val="9079C8"/>
                </a:solidFill>
                <a:latin typeface="Segoe UI Semibold"/>
              </a:rPr>
              <a:t>POBLACIONES CUBIERTAS  (2018–2026)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922776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Trastornos psiquiátricos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1880" y="3950208"/>
            <a:ext cx="3886200" cy="20116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07807" y="39227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Obesidad infantojuvenil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11880" y="4334256"/>
            <a:ext cx="2331720" cy="20116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53328" y="4306824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690872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Salud reproductiva / trans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11880" y="4718304"/>
            <a:ext cx="1554480" cy="20116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76088" y="469087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07492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Salud orofacial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11880" y="5102352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CBB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98848" y="50749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545896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Víctimas de violencia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1880" y="5486400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CBB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98848" y="545896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5843016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Baja autoestima clínica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11880" y="5870448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CBB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98848" y="584301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35" name="Oval 34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12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6000" y="528066"/>
            <a:ext cx="374902" cy="176022"/>
          </a:xfrm>
          <a:prstGeom prst="roundRect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9079C8"/>
                </a:solidFill>
              </a:rPr>
              <a:t>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>
                <a:solidFill>
                  <a:srgbClr val="2E2A3A"/>
                </a:solidFill>
              </a:rPr>
              <a:t>Flujograma PRISMA 2020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650000"/>
            <a:ext cx="5000000" cy="900000"/>
          </a:xfrm>
          <a:prstGeom prst="rect">
            <a:avLst/>
          </a:prstGeom>
          <a:solidFill>
            <a:srgbClr val="DFD8EC"/>
          </a:solidFill>
          <a:ln w="19050">
            <a:solidFill>
              <a:srgbClr val="2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000" y="1700000"/>
            <a:ext cx="490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2A3A"/>
                </a:solidFill>
              </a:rPr>
              <a:t>Identificación
Bases primarias (n = 3.683)
PubMed/MEDLINE (737) · APA PsycInfo (834)
Scopus (1.108) · Web of Science (1.004)
Literatura gris (n = 825)
Total (n = 4.508)</a:t>
            </a:r>
          </a:p>
        </p:txBody>
      </p:sp>
      <p:sp>
        <p:nvSpPr>
          <p:cNvPr id="8" name="Rectangle 7"/>
          <p:cNvSpPr/>
          <p:nvPr/>
        </p:nvSpPr>
        <p:spPr>
          <a:xfrm>
            <a:off x="6500000" y="1650000"/>
            <a:ext cx="5000000" cy="900000"/>
          </a:xfrm>
          <a:prstGeom prst="rect">
            <a:avLst/>
          </a:prstGeom>
          <a:solidFill>
            <a:srgbClr val="DFD8EC"/>
          </a:solidFill>
          <a:ln w="19050">
            <a:solidFill>
              <a:srgbClr val="2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0000" y="1700000"/>
            <a:ext cx="490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2A3A"/>
                </a:solidFill>
              </a:rPr>
              <a:t>Registros eliminados
before screening:
Duplicados (n = 2.312)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50000" y="2570000"/>
            <a:ext cx="100000" cy="150000"/>
          </a:xfrm>
          <a:prstGeom prst="rightArrow">
            <a:avLst/>
          </a:prstGeom>
          <a:solidFill>
            <a:srgbClr val="2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800000"/>
            <a:ext cx="5000000" cy="700000"/>
          </a:xfrm>
          <a:prstGeom prst="rect">
            <a:avLst/>
          </a:prstGeom>
          <a:solidFill>
            <a:srgbClr val="DFD8EC"/>
          </a:solidFill>
          <a:ln w="19050">
            <a:solidFill>
              <a:srgbClr val="2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000" y="2850000"/>
            <a:ext cx="49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2A3A"/>
                </a:solidFill>
              </a:rPr>
              <a:t>Cribado
Registros cribados
por título/resumen
(n = 2.196)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00000" y="2800000"/>
            <a:ext cx="5000000" cy="700000"/>
          </a:xfrm>
          <a:prstGeom prst="rect">
            <a:avLst/>
          </a:prstGeom>
          <a:solidFill>
            <a:srgbClr val="DFD8EC"/>
          </a:solidFill>
          <a:ln w="19050">
            <a:solidFill>
              <a:srgbClr val="2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0000" y="2850000"/>
            <a:ext cx="49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2A3A"/>
                </a:solidFill>
              </a:rPr>
              <a:t>Excluidos
(n = 2.122)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250000" y="3520000"/>
            <a:ext cx="100000" cy="150000"/>
          </a:xfrm>
          <a:prstGeom prst="rightArrow">
            <a:avLst/>
          </a:prstGeom>
          <a:solidFill>
            <a:srgbClr val="2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750000"/>
            <a:ext cx="5000000" cy="700000"/>
          </a:xfrm>
          <a:prstGeom prst="rect">
            <a:avLst/>
          </a:prstGeom>
          <a:solidFill>
            <a:srgbClr val="DFD8EC"/>
          </a:solidFill>
          <a:ln w="19050">
            <a:solidFill>
              <a:srgbClr val="2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000" y="3800000"/>
            <a:ext cx="49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2A3A"/>
                </a:solidFill>
              </a:rPr>
              <a:t>Lectua texto completo
Informes evaluados
(n = 74)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0000" y="3750000"/>
            <a:ext cx="5000000" cy="700000"/>
          </a:xfrm>
          <a:prstGeom prst="rect">
            <a:avLst/>
          </a:prstGeom>
          <a:solidFill>
            <a:srgbClr val="DFD8EC"/>
          </a:solidFill>
          <a:ln w="19050">
            <a:solidFill>
              <a:srgbClr val="2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0000" y="3800000"/>
            <a:ext cx="49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E2A3A"/>
                </a:solidFill>
              </a:rPr>
              <a:t>Excluidos (n = 61):
(a) Variable principal ≠ autoestima/autoconcepto (n = 40)
(b) No meta-análisis (n = 1)
(c) No artículo original (n = 1)
(d) Población clínica &lt; 75% (n = 19)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250000" y="4470000"/>
            <a:ext cx="100000" cy="150000"/>
          </a:xfrm>
          <a:prstGeom prst="rightArrow">
            <a:avLst/>
          </a:prstGeom>
          <a:solidFill>
            <a:srgbClr val="2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700000"/>
            <a:ext cx="5000000" cy="500000"/>
          </a:xfrm>
          <a:prstGeom prst="rect">
            <a:avLst/>
          </a:prstGeom>
          <a:solidFill>
            <a:srgbClr val="9079C8"/>
          </a:solidFill>
          <a:ln w="25400">
            <a:solidFill>
              <a:srgbClr val="2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000" y="4750000"/>
            <a:ext cx="4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Inclusión
Meta-análisis incluidos
(n = 13)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C99A6"/>
                </a:solidFill>
              </a:rPr>
              <a:t>Autoestima, autoconcepto y bienestar   -   D. Antoneac</a:t>
            </a:r>
          </a:p>
        </p:txBody>
      </p:sp>
      <p:sp>
        <p:nvSpPr>
          <p:cNvPr id="24" name="Oval 23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C99A6"/>
                </a:solidFill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RESULTADOS · CALIDAD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La calidad del corpus pide cautela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039112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E2A3A"/>
                </a:solidFill>
                <a:latin typeface="Segoe UI Semibold"/>
              </a:rPr>
              <a:t>Alta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2057400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75304" y="2039112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4C4954"/>
                </a:solidFill>
                <a:latin typeface="Segoe UI"/>
              </a:rPr>
              <a:t>1   8 %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697479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E2A3A"/>
                </a:solidFill>
                <a:latin typeface="Segoe UI Semibold"/>
              </a:rPr>
              <a:t>Moderada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8376" y="2697479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9C99A6"/>
                </a:solidFill>
                <a:latin typeface="Segoe UI"/>
              </a:rPr>
              <a:t>0   (ninguno)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355847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E2A3A"/>
                </a:solidFill>
                <a:latin typeface="Segoe UI Semibold"/>
              </a:rPr>
              <a:t>Baja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3374135"/>
            <a:ext cx="3401568" cy="27432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3" y="3355847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4C4954"/>
                </a:solidFill>
                <a:latin typeface="Segoe UI"/>
              </a:rPr>
              <a:t>6   46 %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014215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E2A3A"/>
                </a:solidFill>
                <a:latin typeface="Segoe UI Semibold"/>
              </a:rPr>
              <a:t>Críticamente baja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4032503"/>
            <a:ext cx="3401568" cy="274320"/>
          </a:xfrm>
          <a:prstGeom prst="roundRect">
            <a:avLst>
              <a:gd name="adj" fmla="val 50000"/>
            </a:avLst>
          </a:prstGeom>
          <a:solidFill>
            <a:srgbClr val="C98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9943" y="4014215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4C4954"/>
                </a:solidFill>
                <a:latin typeface="Segoe UI"/>
              </a:rPr>
              <a:t>6   46 %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49640" y="1874519"/>
            <a:ext cx="2926080" cy="3017520"/>
          </a:xfrm>
          <a:prstGeom prst="roundRect">
            <a:avLst>
              <a:gd name="adj" fmla="val 6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49640" y="2240280"/>
            <a:ext cx="292608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300" b="1">
                <a:solidFill>
                  <a:srgbClr val="FFFFFF"/>
                </a:solidFill>
                <a:latin typeface="Georgia"/>
              </a:rPr>
              <a:t>12 de 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310896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Segoe UI"/>
              </a:rPr>
              <a:t>con calidad Baja o Críticamente baja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3977639"/>
            <a:ext cx="2194560" cy="10972"/>
          </a:xfrm>
          <a:prstGeom prst="rect">
            <a:avLst/>
          </a:prstGeom>
          <a:solidFill>
            <a:srgbClr val="C9B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23960" y="41605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1">
                <a:solidFill>
                  <a:srgbClr val="EDE9F8"/>
                </a:solidFill>
                <a:latin typeface="Segoe UI Semibold"/>
              </a:rPr>
              <a:t>CCA = 1,4 %  ·  solapamiento leve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257800"/>
            <a:ext cx="7315200" cy="777240"/>
          </a:xfrm>
          <a:prstGeom prst="roundRect">
            <a:avLst>
              <a:gd name="adj" fmla="val 8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49808" y="5257800"/>
            <a:ext cx="82296" cy="77724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42415" y="5413248"/>
            <a:ext cx="68580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</a:pPr>
            <a:r>
              <a:rPr sz="1350" b="0">
                <a:solidFill>
                  <a:srgbClr val="4C4954"/>
                </a:solidFill>
                <a:latin typeface="Segoe UI"/>
              </a:rPr>
              <a:t>Las conclusiones requieren cautela: el patrón general se sostiene, pero las magnitudes pueden estar sobreestimadas.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6" name="Oval 25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13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RESULTADOS · SÍNTESIS POR BLOQUES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Cinco bloques temáticos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542032" y="1965960"/>
            <a:ext cx="1444752" cy="310896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Segoe UI Semibold"/>
              </a:rPr>
              <a:t>★ Hallazgo más robusto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84248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 spc="100">
                <a:solidFill>
                  <a:srgbClr val="9079C8"/>
                </a:solidFill>
                <a:latin typeface="Segoe UI Semibold"/>
              </a:rPr>
              <a:t>BLOQUE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90779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2E2A3A"/>
                </a:solidFill>
                <a:latin typeface="Segoe UI Semibold"/>
              </a:rPr>
              <a:t>Autoestima y salud mental clínica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62072"/>
            <a:ext cx="29077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C4954"/>
                </a:solidFill>
                <a:latin typeface="Segoe UI"/>
              </a:rPr>
              <a:t>Baja autoestima ↔ ideación y conducta suicida (Buecker, 2025). COMET y TCC-Fennell.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66159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9079C8"/>
                </a:solidFill>
                <a:latin typeface="Segoe UI Semibold"/>
              </a:rPr>
              <a:t>r −,26 a −,44 · k 114 · AMSTAR-2 Alta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178308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E4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27448" y="1984248"/>
            <a:ext cx="296265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 spc="100">
                <a:solidFill>
                  <a:srgbClr val="6E86A8"/>
                </a:solidFill>
                <a:latin typeface="Segoe UI Semibold"/>
              </a:rPr>
              <a:t>BLOQUE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2286000"/>
            <a:ext cx="290779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2E2A3A"/>
                </a:solidFill>
                <a:latin typeface="Segoe UI Semibold"/>
              </a:rPr>
              <a:t>Autoestima y salud somática / CdV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862072"/>
            <a:ext cx="29077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C4954"/>
                </a:solidFill>
                <a:latin typeface="Segoe UI"/>
              </a:rPr>
              <a:t>Intervención psicológica en SOP y tratamiento de la deformidad dentofacial.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3566159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6E86A8"/>
                </a:solidFill>
                <a:latin typeface="Segoe UI Semibold"/>
              </a:rPr>
              <a:t>Mejoras en imagen, depresión y CdV (certeza baja).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4" y="178308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F3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49056" y="1984248"/>
            <a:ext cx="296265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 spc="100">
                <a:solidFill>
                  <a:srgbClr val="B49A6A"/>
                </a:solidFill>
                <a:latin typeface="Segoe UI Semibold"/>
              </a:rPr>
              <a:t>BLOQUE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2286000"/>
            <a:ext cx="290779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2E2A3A"/>
                </a:solidFill>
                <a:latin typeface="Segoe UI Semibold"/>
              </a:rPr>
              <a:t>Obesidad pediátrica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9056" y="2862072"/>
            <a:ext cx="29077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C4954"/>
                </a:solidFill>
                <a:latin typeface="Segoe UI"/>
              </a:rPr>
              <a:t>La actividad física estructurada mejora a la vez autoestima, imagen corporal y ánimo.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9056" y="3566159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B49A6A"/>
                </a:solidFill>
                <a:latin typeface="Segoe UI Semibold"/>
              </a:rPr>
              <a:t>SMD ≈ 0,34 autoestima · 0,47 imagen.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416052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F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61688"/>
            <a:ext cx="296265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 spc="100">
                <a:solidFill>
                  <a:srgbClr val="C98998"/>
                </a:solidFill>
                <a:latin typeface="Segoe UI Semibold"/>
              </a:rPr>
              <a:t>BLOQUE 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663440"/>
            <a:ext cx="290779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2E2A3A"/>
                </a:solidFill>
                <a:latin typeface="Segoe UI Semibold"/>
              </a:rPr>
              <a:t>Imagen corporal en trastornos clínicos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239512"/>
            <a:ext cx="29077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C4954"/>
                </a:solidFill>
                <a:latin typeface="Segoe UI"/>
              </a:rPr>
              <a:t>Exposición corporal (TCA/TDC) y atención de afirmación de género (TGD).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599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C98998"/>
                </a:solidFill>
                <a:latin typeface="Segoe UI Semibold"/>
              </a:rPr>
              <a:t>g −,46 a −,99 en body dissatisfaction.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1416" y="416052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D8EC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27448" y="4361688"/>
            <a:ext cx="296265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 spc="100" dirty="0">
                <a:solidFill>
                  <a:srgbClr val="81C193"/>
                </a:solidFill>
                <a:latin typeface="Segoe UI Semibold"/>
              </a:rPr>
              <a:t>BLOQUE 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27448" y="4663440"/>
            <a:ext cx="290779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2E2A3A"/>
                </a:solidFill>
                <a:latin typeface="Segoe UI Semibold"/>
              </a:rPr>
              <a:t>Autoestima como mecanismo mediador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7448" y="5239512"/>
            <a:ext cx="29077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 dirty="0">
                <a:solidFill>
                  <a:srgbClr val="4C4954"/>
                </a:solidFill>
                <a:latin typeface="Segoe UI"/>
              </a:rPr>
              <a:t>MASEM (k=82): media la </a:t>
            </a:r>
            <a:r>
              <a:rPr sz="1150" b="0" dirty="0" err="1">
                <a:solidFill>
                  <a:srgbClr val="4C4954"/>
                </a:solidFill>
                <a:latin typeface="Segoe UI"/>
              </a:rPr>
              <a:t>relación</a:t>
            </a:r>
            <a:r>
              <a:rPr sz="11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4C4954"/>
                </a:solidFill>
                <a:latin typeface="Segoe UI"/>
              </a:rPr>
              <a:t>estigma</a:t>
            </a:r>
            <a:r>
              <a:rPr sz="11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4C4954"/>
                </a:solidFill>
                <a:latin typeface="Segoe UI"/>
              </a:rPr>
              <a:t>internalizado</a:t>
            </a:r>
            <a:r>
              <a:rPr sz="1150" b="0" dirty="0">
                <a:solidFill>
                  <a:srgbClr val="4C4954"/>
                </a:solidFill>
                <a:latin typeface="Segoe UI"/>
              </a:rPr>
              <a:t> → </a:t>
            </a:r>
            <a:r>
              <a:rPr sz="1150" b="0" dirty="0" err="1">
                <a:solidFill>
                  <a:srgbClr val="4C4954"/>
                </a:solidFill>
                <a:latin typeface="Segoe UI"/>
              </a:rPr>
              <a:t>calidad</a:t>
            </a:r>
            <a:r>
              <a:rPr sz="1150" b="0" dirty="0">
                <a:solidFill>
                  <a:srgbClr val="4C4954"/>
                </a:solidFill>
                <a:latin typeface="Segoe UI"/>
              </a:rPr>
              <a:t> de </a:t>
            </a:r>
            <a:r>
              <a:rPr sz="1150" b="0" dirty="0" err="1">
                <a:solidFill>
                  <a:srgbClr val="4C4954"/>
                </a:solidFill>
                <a:latin typeface="Segoe UI"/>
              </a:rPr>
              <a:t>vida</a:t>
            </a:r>
            <a:r>
              <a:rPr sz="1150" b="0" dirty="0">
                <a:solidFill>
                  <a:srgbClr val="4C4954"/>
                </a:solidFill>
                <a:latin typeface="Segoe UI"/>
              </a:rPr>
              <a:t>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8868" y="5943599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1" dirty="0" err="1">
                <a:solidFill>
                  <a:srgbClr val="81C193"/>
                </a:solidFill>
                <a:latin typeface="Segoe UI Semibold"/>
              </a:rPr>
              <a:t>Efecto</a:t>
            </a:r>
            <a:r>
              <a:rPr sz="1100" b="1" dirty="0">
                <a:solidFill>
                  <a:srgbClr val="81C193"/>
                </a:solidFill>
                <a:latin typeface="Segoe UI Semibold"/>
              </a:rPr>
              <a:t> </a:t>
            </a:r>
            <a:r>
              <a:rPr sz="1100" b="1" dirty="0" err="1">
                <a:solidFill>
                  <a:srgbClr val="81C193"/>
                </a:solidFill>
                <a:latin typeface="Segoe UI Semibold"/>
              </a:rPr>
              <a:t>indirecto</a:t>
            </a:r>
            <a:r>
              <a:rPr sz="1100" b="1" dirty="0">
                <a:solidFill>
                  <a:srgbClr val="81C193"/>
                </a:solidFill>
                <a:latin typeface="Segoe UI Semibold"/>
              </a:rPr>
              <a:t> β = −,189</a:t>
            </a:r>
            <a:r>
              <a:rPr lang="es-ES" sz="1100" b="1" dirty="0">
                <a:solidFill>
                  <a:srgbClr val="9079C8"/>
                </a:solidFill>
                <a:latin typeface="Segoe UI Semibold"/>
              </a:rPr>
              <a:t>.</a:t>
            </a:r>
            <a:endParaRPr sz="1100" b="1" dirty="0">
              <a:solidFill>
                <a:srgbClr val="9079C8"/>
              </a:solidFill>
              <a:latin typeface="Segoe UI Semibold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193024" y="416052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F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67344" y="4617720"/>
            <a:ext cx="2871216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E2A3A"/>
                </a:solidFill>
                <a:latin typeface="Segoe UI Semibold"/>
              </a:rPr>
              <a:t>Transversal: </a:t>
            </a:r>
            <a:r>
              <a:rPr sz="1300" b="0">
                <a:solidFill>
                  <a:srgbClr val="4C4954"/>
                </a:solidFill>
                <a:latin typeface="Segoe UI"/>
              </a:rPr>
              <a:t>la dirección de los efectos es consistente entre bloques pese a poblaciones y métricas distintas.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35" name="Oval 34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14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 dirty="0">
                <a:solidFill>
                  <a:srgbClr val="9079C8"/>
                </a:solidFill>
                <a:latin typeface="Segoe UI Semibold"/>
              </a:rPr>
              <a:t>DISCUSIÓN · MENSAJES CLAVE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 dirty="0" err="1">
                <a:solidFill>
                  <a:srgbClr val="2E2A3A"/>
                </a:solidFill>
                <a:latin typeface="Segoe UI Semibold"/>
              </a:rPr>
              <a:t>Conclusiones</a:t>
            </a:r>
            <a:endParaRPr sz="3000" b="0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5285232" cy="178308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4127" y="2093976"/>
            <a:ext cx="566928" cy="566928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 dirty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3936" y="2039112"/>
            <a:ext cx="3986784" cy="1325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 dirty="0">
                <a:solidFill>
                  <a:srgbClr val="4C4954"/>
                </a:solidFill>
                <a:latin typeface="Segoe UI"/>
              </a:rPr>
              <a:t>La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autoestima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predice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la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salud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mental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clínica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(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moderado-fuerte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), con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su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máximo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en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la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suicidalidad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6792" y="1783080"/>
            <a:ext cx="5285232" cy="178308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1112" y="2093976"/>
            <a:ext cx="566928" cy="566928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039112"/>
            <a:ext cx="3986784" cy="1325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>
                <a:solidFill>
                  <a:srgbClr val="4C4954"/>
                </a:solidFill>
                <a:latin typeface="Segoe UI"/>
              </a:rPr>
              <a:t>Las intervenciones sobre la autoestima funcionan (g 0,20–0,50) y arrastran mejoras en la depresión comórbida.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3840480"/>
            <a:ext cx="5285232" cy="178308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24127" y="4151376"/>
            <a:ext cx="566928" cy="566928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 dirty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3936" y="4096512"/>
            <a:ext cx="3986784" cy="1325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 dirty="0">
                <a:solidFill>
                  <a:srgbClr val="4C4954"/>
                </a:solidFill>
                <a:latin typeface="Segoe UI"/>
              </a:rPr>
              <a:t>Cuerpo, imagen y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autoestima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van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juntos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; la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obesidad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pediátrica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es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el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ejemplo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más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maduro.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36792" y="3840480"/>
            <a:ext cx="5285232" cy="178308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11112" y="4151376"/>
            <a:ext cx="566928" cy="566928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4096512"/>
            <a:ext cx="3986784" cy="1325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 dirty="0">
                <a:solidFill>
                  <a:srgbClr val="4C4954"/>
                </a:solidFill>
                <a:latin typeface="Segoe UI"/>
              </a:rPr>
              <a:t>La imagen corporal es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modificable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con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intervenciones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específicas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en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poblaciones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clínicas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806440"/>
            <a:ext cx="1042416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 i="1">
                <a:solidFill>
                  <a:srgbClr val="9C99A6"/>
                </a:solidFill>
                <a:latin typeface="Segoe UI"/>
              </a:rPr>
              <a:t>Coherente con Zell &amp; Johansson (2025) para salud mental (r ≈ ,42), pero con foco y matiz clínico.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15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  <p:sp>
        <p:nvSpPr>
          <p:cNvPr id="22" name="Rounded Rectangle 1">
            <a:extLst>
              <a:ext uri="{FF2B5EF4-FFF2-40B4-BE49-F238E27FC236}">
                <a16:creationId xmlns:a16="http://schemas.microsoft.com/office/drawing/2014/main" id="{3CD8A53B-BDA9-818A-45A5-E6950855AB3C}"/>
              </a:ext>
            </a:extLst>
          </p:cNvPr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Oval 34">
            <a:extLst>
              <a:ext uri="{FF2B5EF4-FFF2-40B4-BE49-F238E27FC236}">
                <a16:creationId xmlns:a16="http://schemas.microsoft.com/office/drawing/2014/main" id="{CFC21AAE-3A51-B48F-E51A-1FD98532C3B5}"/>
              </a:ext>
            </a:extLst>
          </p:cNvPr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 dirty="0">
                <a:solidFill>
                  <a:srgbClr val="9079C8"/>
                </a:solidFill>
                <a:latin typeface="Segoe UI Semibold"/>
              </a:rPr>
              <a:t>DISCUSIÓN · IMPLICACIONES CLÍNICAS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Tres implicaciones para la práctica clínica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7" y="2057400"/>
            <a:ext cx="287121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1">
                <a:solidFill>
                  <a:srgbClr val="9079C8"/>
                </a:solidFill>
                <a:latin typeface="Georgia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4127" y="2834639"/>
            <a:ext cx="137160" cy="13716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61872" y="2761488"/>
            <a:ext cx="268833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2E2A3A"/>
                </a:solidFill>
                <a:latin typeface="Segoe UI Semibold"/>
              </a:rPr>
              <a:t>Diana de intervención valiosa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474720"/>
            <a:ext cx="2871216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4C4954"/>
                </a:solidFill>
                <a:latin typeface="Segoe UI"/>
              </a:rPr>
              <a:t>La autoestima se modifica con psicoterapia (COMET, TCC de Fennell, protocolos para TCA), con beneficio modesto pero consistente.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1416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45736" y="2057400"/>
            <a:ext cx="287121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1">
                <a:solidFill>
                  <a:srgbClr val="9079C8"/>
                </a:solidFill>
                <a:latin typeface="Georgia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45736" y="2834639"/>
            <a:ext cx="137160" cy="13716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3480" y="2761488"/>
            <a:ext cx="268833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2E2A3A"/>
                </a:solidFill>
                <a:latin typeface="Segoe UI Semibold"/>
              </a:rPr>
              <a:t>Integrar cuerpo, imagen y autoestima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3474720"/>
            <a:ext cx="2871216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4C4954"/>
                </a:solidFill>
                <a:latin typeface="Segoe UI"/>
              </a:rPr>
              <a:t>En salud física y condiciones que afectan al cuerpo, imagen y autoestima son dianas, no solo desenlaces secundarios.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67344" y="2057400"/>
            <a:ext cx="287121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1">
                <a:solidFill>
                  <a:srgbClr val="9079C8"/>
                </a:solidFill>
                <a:latin typeface="Georgia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67344" y="2834639"/>
            <a:ext cx="137160" cy="13716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05088" y="2761488"/>
            <a:ext cx="268833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2E2A3A"/>
                </a:solidFill>
                <a:latin typeface="Segoe UI Semibold"/>
              </a:rPr>
              <a:t>Cribado en prevención del suicidio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7344" y="3474720"/>
            <a:ext cx="2871216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4C4954"/>
                </a:solidFill>
                <a:latin typeface="Segoe UI"/>
              </a:rPr>
              <a:t>Medir la autoestima (RSES) e intervenir sobre ella refuerza los programas de prevención en poblaciones de riesgo.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2" name="Oval 21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16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LIMITACIONES · Y LÍNEAS FUTURAS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Lo que hay que tener en cuenta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3419856" cy="420624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1024127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80160" y="2039112"/>
            <a:ext cx="264261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2E2A3A"/>
                </a:solidFill>
                <a:latin typeface="Segoe UI Semibold"/>
              </a:rPr>
              <a:t>De la evidencia</a:t>
            </a:r>
          </a:p>
        </p:txBody>
      </p:sp>
      <p:sp>
        <p:nvSpPr>
          <p:cNvPr id="9" name="Oval 8"/>
          <p:cNvSpPr/>
          <p:nvPr/>
        </p:nvSpPr>
        <p:spPr>
          <a:xfrm>
            <a:off x="1042415" y="276148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80160" y="267919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12 de 13 con AMSTAR-2 baja o crítica</a:t>
            </a:r>
          </a:p>
        </p:txBody>
      </p:sp>
      <p:sp>
        <p:nvSpPr>
          <p:cNvPr id="11" name="Oval 10"/>
          <p:cNvSpPr/>
          <p:nvPr/>
        </p:nvSpPr>
        <p:spPr>
          <a:xfrm>
            <a:off x="1042415" y="349300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0160" y="341071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Heterogeneidad de instrumentos y métricas</a:t>
            </a:r>
          </a:p>
        </p:txBody>
      </p:sp>
      <p:sp>
        <p:nvSpPr>
          <p:cNvPr id="13" name="Oval 12"/>
          <p:cNvSpPr/>
          <p:nvPr/>
        </p:nvSpPr>
        <p:spPr>
          <a:xfrm>
            <a:off x="1042415" y="422452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80160" y="414223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Cobertura desigual: a veces 1 revisión por bloque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71416" y="1783080"/>
            <a:ext cx="3419856" cy="420624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745736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1768" y="2039112"/>
            <a:ext cx="264261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2E2A3A"/>
                </a:solidFill>
                <a:latin typeface="Segoe UI Semibold"/>
              </a:rPr>
              <a:t>Del proceso</a:t>
            </a:r>
          </a:p>
        </p:txBody>
      </p:sp>
      <p:sp>
        <p:nvSpPr>
          <p:cNvPr id="18" name="Oval 17"/>
          <p:cNvSpPr/>
          <p:nvPr/>
        </p:nvSpPr>
        <p:spPr>
          <a:xfrm>
            <a:off x="4764024" y="276148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01768" y="267919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Revisora única en todo el proceso</a:t>
            </a:r>
          </a:p>
        </p:txBody>
      </p:sp>
      <p:sp>
        <p:nvSpPr>
          <p:cNvPr id="20" name="Oval 19"/>
          <p:cNvSpPr/>
          <p:nvPr/>
        </p:nvSpPr>
        <p:spPr>
          <a:xfrm>
            <a:off x="4764024" y="349300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01768" y="341071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Idiomas inglés / español</a:t>
            </a:r>
          </a:p>
        </p:txBody>
      </p:sp>
      <p:sp>
        <p:nvSpPr>
          <p:cNvPr id="22" name="Oval 21"/>
          <p:cNvSpPr/>
          <p:nvPr/>
        </p:nvSpPr>
        <p:spPr>
          <a:xfrm>
            <a:off x="4764024" y="422452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01768" y="414223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Ventana temporal 2016–2026</a:t>
            </a:r>
          </a:p>
        </p:txBody>
      </p:sp>
      <p:sp>
        <p:nvSpPr>
          <p:cNvPr id="24" name="Oval 23"/>
          <p:cNvSpPr/>
          <p:nvPr/>
        </p:nvSpPr>
        <p:spPr>
          <a:xfrm>
            <a:off x="4764024" y="495604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01768" y="487375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Sin gradación formal GRADE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3024" y="1783080"/>
            <a:ext cx="3419856" cy="420624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467344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723376" y="2039112"/>
            <a:ext cx="264261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2E2A3A"/>
                </a:solidFill>
                <a:latin typeface="Segoe UI Semibold"/>
              </a:rPr>
              <a:t>Líneas futuras</a:t>
            </a:r>
          </a:p>
        </p:txBody>
      </p:sp>
      <p:sp>
        <p:nvSpPr>
          <p:cNvPr id="29" name="Oval 28"/>
          <p:cNvSpPr/>
          <p:nvPr/>
        </p:nvSpPr>
        <p:spPr>
          <a:xfrm>
            <a:off x="8485632" y="276148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23376" y="267919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Meta-análisis prerregistrados y mejor reportados</a:t>
            </a:r>
          </a:p>
        </p:txBody>
      </p:sp>
      <p:sp>
        <p:nvSpPr>
          <p:cNvPr id="31" name="Oval 30"/>
          <p:cNvSpPr/>
          <p:nvPr/>
        </p:nvSpPr>
        <p:spPr>
          <a:xfrm>
            <a:off x="8485632" y="349300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23376" y="341071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Estudios longitudinales (causalidad)</a:t>
            </a:r>
          </a:p>
        </p:txBody>
      </p:sp>
      <p:sp>
        <p:nvSpPr>
          <p:cNvPr id="33" name="Oval 32"/>
          <p:cNvSpPr/>
          <p:nvPr/>
        </p:nvSpPr>
        <p:spPr>
          <a:xfrm>
            <a:off x="8485632" y="422452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723376" y="414223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Autoconcepto multidimensional</a:t>
            </a:r>
          </a:p>
        </p:txBody>
      </p:sp>
      <p:sp>
        <p:nvSpPr>
          <p:cNvPr id="35" name="Oval 34"/>
          <p:cNvSpPr/>
          <p:nvPr/>
        </p:nvSpPr>
        <p:spPr>
          <a:xfrm>
            <a:off x="8485632" y="495604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723376" y="487375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Personas mayores y contextos no occidentales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38" name="Oval 37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17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En una frase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1645920"/>
            <a:ext cx="1069848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E2A3A"/>
                </a:solidFill>
                <a:latin typeface="Segoe UI"/>
              </a:rPr>
              <a:t>Con la cautela que impone la calidad del corpus, la evidencia apoya que la </a:t>
            </a:r>
            <a:r>
              <a:rPr sz="2000" b="1">
                <a:solidFill>
                  <a:srgbClr val="6E57B0"/>
                </a:solidFill>
                <a:latin typeface="Segoe UI Semibold"/>
              </a:rPr>
              <a:t>autoestima y el autoconcepto no son desenlaces secundarios, sino objetivos de intervención valiosos</a:t>
            </a:r>
            <a:r>
              <a:rPr sz="2000" b="0">
                <a:solidFill>
                  <a:srgbClr val="2E2A3A"/>
                </a:solidFill>
                <a:latin typeface="Segoe UI"/>
              </a:rPr>
              <a:t> en psicología clínica y de la salud.</a:t>
            </a:r>
          </a:p>
        </p:txBody>
      </p:sp>
      <p:sp>
        <p:nvSpPr>
          <p:cNvPr id="7" name="Oval 6"/>
          <p:cNvSpPr/>
          <p:nvPr/>
        </p:nvSpPr>
        <p:spPr>
          <a:xfrm>
            <a:off x="768096" y="3849624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2415" y="3767328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Baja autoestima ↔ suicidalidad: el hallazgo más robusto.</a:t>
            </a:r>
          </a:p>
        </p:txBody>
      </p:sp>
      <p:sp>
        <p:nvSpPr>
          <p:cNvPr id="9" name="Oval 8"/>
          <p:cNvSpPr/>
          <p:nvPr/>
        </p:nvSpPr>
        <p:spPr>
          <a:xfrm>
            <a:off x="768096" y="4690872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2415" y="4608576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Las intervenciones sobre la autoestima son eficaces.</a:t>
            </a:r>
          </a:p>
        </p:txBody>
      </p:sp>
      <p:sp>
        <p:nvSpPr>
          <p:cNvPr id="11" name="Oval 10"/>
          <p:cNvSpPr/>
          <p:nvPr/>
        </p:nvSpPr>
        <p:spPr>
          <a:xfrm>
            <a:off x="768096" y="5532120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2415" y="5449824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La actividad física mejora autoestima e imagen en obesidad infantojuvenil.</a:t>
            </a:r>
          </a:p>
        </p:txBody>
      </p:sp>
      <p:sp>
        <p:nvSpPr>
          <p:cNvPr id="13" name="Oval 12"/>
          <p:cNvSpPr/>
          <p:nvPr/>
        </p:nvSpPr>
        <p:spPr>
          <a:xfrm>
            <a:off x="6355080" y="3849624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376732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La imagen corporal es modificable en poblaciones clínicas.</a:t>
            </a:r>
          </a:p>
        </p:txBody>
      </p:sp>
      <p:sp>
        <p:nvSpPr>
          <p:cNvPr id="15" name="Oval 14"/>
          <p:cNvSpPr/>
          <p:nvPr/>
        </p:nvSpPr>
        <p:spPr>
          <a:xfrm>
            <a:off x="6355080" y="4690872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4608576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La autoestima media la relación estigma → calidad de vida.</a:t>
            </a:r>
          </a:p>
        </p:txBody>
      </p:sp>
      <p:sp>
        <p:nvSpPr>
          <p:cNvPr id="17" name="Oval 16"/>
          <p:cNvSpPr/>
          <p:nvPr/>
        </p:nvSpPr>
        <p:spPr>
          <a:xfrm>
            <a:off x="6355080" y="5532120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5449824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2E2A3A"/>
                </a:solidFill>
                <a:latin typeface="Segoe UI Semibold"/>
              </a:rPr>
              <a:t>Justifica integrar estos constructos en los protocolos de tratamiento.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0" name="Oval 19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18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796528" y="3307080"/>
            <a:ext cx="4206240" cy="4206240"/>
          </a:xfrm>
          <a:prstGeom prst="ellipse">
            <a:avLst/>
          </a:prstGeom>
          <a:solidFill>
            <a:srgbClr val="9079C8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59536" y="2331720"/>
            <a:ext cx="1188720" cy="77724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9144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4100" b="0">
                <a:solidFill>
                  <a:srgbClr val="2E2A3A"/>
                </a:solidFill>
                <a:latin typeface="Georgia"/>
              </a:rPr>
              <a:t>Gracias por su atención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033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0">
                <a:solidFill>
                  <a:srgbClr val="4C4954"/>
                </a:solidFill>
                <a:latin typeface="Segoe UI"/>
              </a:rPr>
              <a:t>Quedo a su disposición para sus preguntas.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389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9C99A6"/>
                </a:solidFill>
                <a:latin typeface="Segoe UI"/>
              </a:rPr>
              <a:t>Denisa Antoneac   ·   Tutora: Raquel Rodríguez Carvajal   ·   Universidad Autónoma de Madrid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6000" y="528066"/>
            <a:ext cx="374902" cy="176022"/>
          </a:xfrm>
          <a:prstGeom prst="roundRect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9079C8"/>
                </a:solidFill>
              </a:rPr>
              <a:t>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>
                <a:solidFill>
                  <a:srgbClr val="2E2A3A"/>
                </a:solidFill>
              </a:rPr>
              <a:t>Criterios de inclusión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0000" y="1620000"/>
            <a:ext cx="10500000" cy="630000"/>
          </a:xfrm>
          <a:prstGeom prst="rect">
            <a:avLst/>
          </a:prstGeom>
          <a:solidFill>
            <a:srgbClr val="F5F2F9"/>
          </a:solidFill>
          <a:ln w="25400">
            <a:solidFill>
              <a:srgbClr val="9079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0000" y="1750000"/>
            <a:ext cx="200000" cy="200000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0000" y="1750000"/>
            <a:ext cx="200000" cy="2000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1700000"/>
            <a:ext cx="10100000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2A3A"/>
                </a:solidFill>
              </a:rPr>
              <a:t>Meta-análisis cuantitativo en revista científica con peer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0000" y="2240000"/>
            <a:ext cx="10500000" cy="630000"/>
          </a:xfrm>
          <a:prstGeom prst="rect">
            <a:avLst/>
          </a:prstGeom>
          <a:solidFill>
            <a:srgbClr val="EFF9F9"/>
          </a:solidFill>
          <a:ln w="25400">
            <a:solidFill>
              <a:srgbClr val="009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30000" y="2370000"/>
            <a:ext cx="200000" cy="200000"/>
          </a:xfrm>
          <a:prstGeom prst="ellipse">
            <a:avLst/>
          </a:prstGeom>
          <a:solidFill>
            <a:srgbClr val="009C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370000"/>
            <a:ext cx="200000" cy="2000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2320000"/>
            <a:ext cx="10100000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2A3A"/>
                </a:solidFill>
              </a:rPr>
              <a:t>Autoestima o autoconcepto como variable principal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0000" y="2860000"/>
            <a:ext cx="10500000" cy="630000"/>
          </a:xfrm>
          <a:prstGeom prst="rect">
            <a:avLst/>
          </a:prstGeom>
          <a:solidFill>
            <a:srgbClr val="FEF2F2"/>
          </a:solidFill>
          <a:ln w="25400">
            <a:solidFill>
              <a:srgbClr val="E86C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0000" y="2990000"/>
            <a:ext cx="200000" cy="200000"/>
          </a:xfrm>
          <a:prstGeom prst="ellipse">
            <a:avLst/>
          </a:prstGeom>
          <a:solidFill>
            <a:srgbClr val="E86C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000" y="2990000"/>
            <a:ext cx="200000" cy="2000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000" y="2940000"/>
            <a:ext cx="10100000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2A3A"/>
                </a:solidFill>
              </a:rPr>
              <a:t>Indicador de bienestar adicional (subjetivo, psicológico, HRQoL o salud mental)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0000" y="3480000"/>
            <a:ext cx="10500000" cy="630000"/>
          </a:xfrm>
          <a:prstGeom prst="rect">
            <a:avLst/>
          </a:prstGeom>
          <a:solidFill>
            <a:srgbClr val="F5F9F6"/>
          </a:solidFill>
          <a:ln w="25400">
            <a:solidFill>
              <a:srgbClr val="7AA8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000" y="3610000"/>
            <a:ext cx="200000" cy="200000"/>
          </a:xfrm>
          <a:prstGeom prst="ellipse">
            <a:avLst/>
          </a:prstGeom>
          <a:solidFill>
            <a:srgbClr val="7AA8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000" y="3610000"/>
            <a:ext cx="200000" cy="2000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000" y="3560000"/>
            <a:ext cx="10100000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2A3A"/>
                </a:solidFill>
              </a:rPr>
              <a:t>Población clínica/salud ≥75% (o análisis estratificados)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0000" y="4100000"/>
            <a:ext cx="10500000" cy="630000"/>
          </a:xfrm>
          <a:prstGeom prst="rect">
            <a:avLst/>
          </a:prstGeom>
          <a:solidFill>
            <a:srgbClr val="FEF7ED"/>
          </a:solidFill>
          <a:ln w="25400">
            <a:solidFill>
              <a:srgbClr val="D4A5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0000" y="4230000"/>
            <a:ext cx="200000" cy="200000"/>
          </a:xfrm>
          <a:prstGeom prst="ellipse">
            <a:avLst/>
          </a:prstGeom>
          <a:solidFill>
            <a:srgbClr val="D4A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0000" y="4230000"/>
            <a:ext cx="200000" cy="2000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000" y="4180000"/>
            <a:ext cx="10100000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2A3A"/>
                </a:solidFill>
              </a:rPr>
              <a:t>Publicado en inglés o español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0000" y="4720000"/>
            <a:ext cx="10500000" cy="630000"/>
          </a:xfrm>
          <a:prstGeom prst="rect">
            <a:avLst/>
          </a:prstGeom>
          <a:solidFill>
            <a:srgbClr val="FDF4F9"/>
          </a:solidFill>
          <a:ln w="25400">
            <a:solidFill>
              <a:srgbClr val="B87D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0000" y="4850000"/>
            <a:ext cx="200000" cy="200000"/>
          </a:xfrm>
          <a:prstGeom prst="ellipse">
            <a:avLst/>
          </a:prstGeom>
          <a:solidFill>
            <a:srgbClr val="B87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000" y="4850000"/>
            <a:ext cx="200000" cy="2000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000" y="4800000"/>
            <a:ext cx="10100000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2A3A"/>
                </a:solidFill>
              </a:rPr>
              <a:t>Publicado entre 1 enero 2016 y 25 mayo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C99A6"/>
                </a:solidFill>
              </a:rPr>
              <a:t>Autoestima, autoconcepto y bienestar   -   D. Antoneac</a:t>
            </a:r>
          </a:p>
        </p:txBody>
      </p:sp>
      <p:sp>
        <p:nvSpPr>
          <p:cNvPr id="31" name="Oval 30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C99A6"/>
                </a:solidFill>
              </a:rPr>
              <a:t>11</a:t>
            </a:r>
            <a:r>
              <a:rPr sz="1000" b="0">
                <a:solidFill>
                  <a:srgbClr val="9C99A6"/>
                </a:solidFill>
              </a:rPr>
              <a:t>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986</TotalTime>
  <Words>1628</Words>
  <Application>Microsoft Office PowerPoint</Application>
  <PresentationFormat>Panorámica</PresentationFormat>
  <Paragraphs>245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3" baseType="lpstr">
      <vt:lpstr>Aptos</vt:lpstr>
      <vt:lpstr>Aptos Display</vt:lpstr>
      <vt:lpstr>Arial</vt:lpstr>
      <vt:lpstr>Georgia</vt:lpstr>
      <vt:lpstr>Segoe UI</vt:lpstr>
      <vt:lpstr>Segoe UI Semibold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ANTONEAC Denisa</dc:creator>
  <cp:lastModifiedBy>Denisa Antoneac</cp:lastModifiedBy>
  <cp:revision>3</cp:revision>
  <dcterms:created xsi:type="dcterms:W3CDTF">2026-06-15T14:36:44Z</dcterms:created>
  <dcterms:modified xsi:type="dcterms:W3CDTF">2026-06-21T10:21:30Z</dcterms:modified>
</cp:coreProperties>
</file>