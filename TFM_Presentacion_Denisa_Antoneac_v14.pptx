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89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90" r:id="rId23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BF8"/>
    <a:srgbClr val="9079C8"/>
    <a:srgbClr val="81C193"/>
    <a:srgbClr val="C7E3CF"/>
    <a:srgbClr val="A0D0AE"/>
    <a:srgbClr val="E4EFF4"/>
    <a:srgbClr val="CADFE8"/>
    <a:srgbClr val="BCD7E2"/>
    <a:srgbClr val="B6D4E0"/>
    <a:srgbClr val="D8E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D5FDF-A3D5-5F34-253B-734012A66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A55F8A-3D4B-80E0-7718-4ECFCDE0B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8C577A-864F-AC43-BDD1-52AFEBC6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DC1B6-95CC-60D3-A142-4FDBFAF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50E08-3C46-1724-5F22-C3DE7B0B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14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8D51F-8745-5989-BADE-3E4FBB30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4A640-DD3D-090A-2EB0-364CB401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BA0E76-586F-8FB7-C9AA-F989F2B1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0ACF6-C4CC-6460-3D90-8233E506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038B6-5708-C572-A5A9-B6AC1A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2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982ED-4B4C-A476-B91E-C82581E9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BA329D-A43B-AD8A-36C2-BD7684D30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9425-A3C8-7BCC-D501-2AD50DB3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65390F-1438-8197-775E-76AB58D7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CA2E1-5004-5636-21D7-79ED35C4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93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D77A1-36B7-A121-D13A-E627111D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B2431-6B63-2BE0-9B63-C26356992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D68665-D3F7-9AF2-8095-12F99EAC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CA533C-0511-2B14-8547-FAA9DBCE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0C1B29-F60A-C2BE-7B4F-A9A6FC3A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7D3B77-1CA6-2A64-6E96-1E2BD9A0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40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5E797-7FA1-BDC0-AE68-8BFFF4E1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B5079D-4E3A-2A62-A403-619D1122F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FF5908-0730-5A83-32BE-A014DAE82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16D5A5-A890-7712-F985-52338E516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373603-84EE-A022-ABBD-71827EEDC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87520F-33C1-D95B-F6D4-016E83CF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294278-2708-A57A-ADCF-C56F2F07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1B8572-FAC5-ED55-FA47-0192185C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866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31848-2829-9F9C-4676-B91EF2B6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07F3EA-F2EB-5A72-DC49-BBA9CA94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5C662C-B7D1-1154-D4DD-03F9B730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AA1152-E2A2-D0A1-8D77-10D88160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8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496F8E-B21D-6734-BC2B-2BD6A1EF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40D74F-1B16-887D-AC8A-B5B0222C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62B128-6B4E-0175-7E28-F5AB437E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94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4523-99D4-E3A9-DB10-029E7722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1BB3B-5EA6-32F5-ACF5-9A964564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08B475-D975-07CD-A756-AF03957E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315CBD-ECB6-7D1C-6C0F-88C58504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AC05C1-E72E-E384-7404-9D1F6207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553829-3C0B-DBBC-FB00-636758EE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94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00C01-A378-5453-6040-5C13741E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CF92E1-5FCE-E1BE-D1E3-EA229B976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F23B9A-EA5D-96D2-9A26-FE2A3A2BE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F945A4-DBC0-ACB4-0D5E-BE52EDA3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B0453F-A267-8E74-5F68-47A626B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35F6AC-C32E-1B10-F0BD-A2996788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6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769E0-FCBE-DC4B-92C3-6E950D6B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36BAC5-50BC-75DA-311C-EB1C3364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DF2E8-79CB-4C9D-D79F-86112591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389E-1137-DD3F-3610-AC819FBA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B71AB-3E09-67F9-1E91-22F7A53A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91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3CB471-ABEE-6608-7FCE-AD9286ED2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1ADE6B-D5E8-033F-1B04-1836749A5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578A2-BA9E-01DE-0EA2-AB99A17F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EE6C3A-825A-7E10-6C40-2554902C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F803E2-6D62-1B8D-44C8-ADC477F6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9204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3C3D77-555A-403D-A2D8-308E8522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029EA2-CF81-A317-245B-51281819C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4CB46B-B5AF-0FB0-F172-F5DB1D238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47015-7F4A-4C41-B618-B3138CAFA7DE}" type="datetimeFigureOut">
              <a:rPr lang="es-ES" smtClean="0"/>
              <a:t>22/06/2026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DA2A7-6390-3AC1-D929-A2EBD06D5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23703-E6CA-FBAF-9956-C073E18AE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73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7BC4397-B060-4BBB-D1D2-3E2808BBAA32}"/>
              </a:ext>
            </a:extLst>
          </p:cNvPr>
          <p:cNvSpPr txBox="1"/>
          <p:nvPr/>
        </p:nvSpPr>
        <p:spPr>
          <a:xfrm>
            <a:off x="841248" y="1051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60" dirty="0">
                <a:solidFill>
                  <a:srgbClr val="9C99A6"/>
                </a:solidFill>
                <a:latin typeface="Segoe UI Semibold"/>
              </a:rPr>
              <a:t>UNIVERSIDAD AUTÓNOMA DE MADRID   ·   FACULTAD DE PSICOLOGÍA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4F47C278-BCF3-558D-90CF-EABE1C7BBCC7}"/>
              </a:ext>
            </a:extLst>
          </p:cNvPr>
          <p:cNvSpPr txBox="1"/>
          <p:nvPr/>
        </p:nvSpPr>
        <p:spPr>
          <a:xfrm>
            <a:off x="656590" y="1522432"/>
            <a:ext cx="8110219" cy="31746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4000"/>
              </a:lnSpc>
            </a:pPr>
            <a:r>
              <a:rPr sz="4000" b="0" dirty="0" err="1">
                <a:solidFill>
                  <a:srgbClr val="2E2A3A"/>
                </a:solidFill>
                <a:latin typeface="Georgia"/>
              </a:rPr>
              <a:t>Cómo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afectan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la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autoestima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000" dirty="0">
                <a:solidFill>
                  <a:srgbClr val="2E2A3A"/>
                </a:solidFill>
                <a:latin typeface="Georgia"/>
              </a:rPr>
              <a:t>y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el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autoconcepto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al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bienestar</a:t>
            </a:r>
            <a:r>
              <a:rPr lang="es-ES" sz="4000" b="0" dirty="0">
                <a:solidFill>
                  <a:srgbClr val="2E2A3A"/>
                </a:solidFill>
                <a:latin typeface="Georgia"/>
              </a:rPr>
              <a:t>: Una revisión paraguas en psicología clínica y de la salud (2016-2026)</a:t>
            </a:r>
            <a:endParaRPr sz="4000" b="0" dirty="0">
              <a:solidFill>
                <a:srgbClr val="2E2A3A"/>
              </a:solidFill>
              <a:latin typeface="Georgia"/>
            </a:endParaRPr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9C178D46-B50A-4625-6C5B-C0B681AAB604}"/>
              </a:ext>
            </a:extLst>
          </p:cNvPr>
          <p:cNvSpPr/>
          <p:nvPr/>
        </p:nvSpPr>
        <p:spPr>
          <a:xfrm>
            <a:off x="656862" y="4484438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A6DDB284-6773-E268-5F8C-B8EF0F501D7F}"/>
              </a:ext>
            </a:extLst>
          </p:cNvPr>
          <p:cNvSpPr txBox="1"/>
          <p:nvPr/>
        </p:nvSpPr>
        <p:spPr>
          <a:xfrm>
            <a:off x="762000" y="4759549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40" dirty="0">
                <a:solidFill>
                  <a:srgbClr val="9C99A6"/>
                </a:solidFill>
                <a:latin typeface="Segoe UI Semibold"/>
              </a:rPr>
              <a:t>AUTORA</a:t>
            </a:r>
            <a:endParaRPr sz="1200" b="1" spc="140" dirty="0">
              <a:solidFill>
                <a:srgbClr val="9C99A6"/>
              </a:solidFill>
              <a:latin typeface="Segoe UI Semibold"/>
            </a:endParaRP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Denisa Antoneac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A7E248DA-C944-1478-5876-016A1738B186}"/>
              </a:ext>
            </a:extLst>
          </p:cNvPr>
          <p:cNvSpPr txBox="1"/>
          <p:nvPr/>
        </p:nvSpPr>
        <p:spPr>
          <a:xfrm>
            <a:off x="3251200" y="4761527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40" dirty="0">
                <a:solidFill>
                  <a:srgbClr val="9C99A6"/>
                </a:solidFill>
                <a:latin typeface="Segoe UI Semibold"/>
              </a:rPr>
              <a:t>TUTORA ACADÉMICA</a:t>
            </a: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Raquel Rodríguez Carvajal</a:t>
            </a: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2EECA4AE-9725-482F-4183-F914F4F373FF}"/>
              </a:ext>
            </a:extLst>
          </p:cNvPr>
          <p:cNvSpPr/>
          <p:nvPr/>
        </p:nvSpPr>
        <p:spPr>
          <a:xfrm>
            <a:off x="739140" y="5461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 err="1">
                <a:solidFill>
                  <a:srgbClr val="6E57B0"/>
                </a:solidFill>
                <a:latin typeface="Segoe UI Semibold"/>
              </a:rPr>
              <a:t>Revisión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</a:t>
            </a:r>
            <a:r>
              <a:rPr sz="1400" b="1" dirty="0" err="1">
                <a:solidFill>
                  <a:srgbClr val="6E57B0"/>
                </a:solidFill>
                <a:latin typeface="Segoe UI Semibold"/>
              </a:rPr>
              <a:t>sistemática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· Umbrella review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CEE853B1-8245-3AB6-4F97-857059B8ADA2}"/>
              </a:ext>
            </a:extLst>
          </p:cNvPr>
          <p:cNvSpPr txBox="1"/>
          <p:nvPr/>
        </p:nvSpPr>
        <p:spPr>
          <a:xfrm>
            <a:off x="739140" y="6198675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dirty="0" err="1">
                <a:solidFill>
                  <a:srgbClr val="9C99A6"/>
                </a:solidFill>
                <a:latin typeface="Segoe UI"/>
              </a:rPr>
              <a:t>Máster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Universitario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Psicología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General Sanitaria ·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Convocatoria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junio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2026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FDC473A-F049-C97B-87E9-AC5EA384D3FB}"/>
              </a:ext>
            </a:extLst>
          </p:cNvPr>
          <p:cNvSpPr/>
          <p:nvPr/>
        </p:nvSpPr>
        <p:spPr>
          <a:xfrm>
            <a:off x="8069931" y="2729683"/>
            <a:ext cx="2494044" cy="2304186"/>
          </a:xfrm>
          <a:prstGeom prst="ellipse">
            <a:avLst/>
          </a:prstGeom>
          <a:solidFill>
            <a:srgbClr val="B07EBD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E13910B-10E0-41CF-5B76-63DC3B894199}"/>
              </a:ext>
            </a:extLst>
          </p:cNvPr>
          <p:cNvSpPr/>
          <p:nvPr/>
        </p:nvSpPr>
        <p:spPr>
          <a:xfrm>
            <a:off x="8766809" y="1174496"/>
            <a:ext cx="2986495" cy="3002062"/>
          </a:xfrm>
          <a:prstGeom prst="ellipse">
            <a:avLst/>
          </a:prstGeom>
          <a:solidFill>
            <a:srgbClr val="9F8FD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60129B29-507D-56A3-55EF-C281CC18C121}"/>
              </a:ext>
            </a:extLst>
          </p:cNvPr>
          <p:cNvSpPr/>
          <p:nvPr/>
        </p:nvSpPr>
        <p:spPr>
          <a:xfrm>
            <a:off x="9620366" y="3011368"/>
            <a:ext cx="2494044" cy="2277839"/>
          </a:xfrm>
          <a:prstGeom prst="ellipse">
            <a:avLst/>
          </a:prstGeom>
          <a:solidFill>
            <a:srgbClr val="D17A98">
              <a:alpha val="1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Estructura de la presentación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9808" y="16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Marco Teórico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9808" y="19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El self, autoestima, autoconcepto y bienestar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3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3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9808" y="24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Justificación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9808" y="27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Por qué este trabajo y qué añade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08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1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9808" y="31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Objetivos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9808" y="34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General y cuatro específicos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8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8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9808" y="39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Método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9808" y="42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Diseño PECO, búsqueda y selección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458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46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9808" y="46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Resultados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9808" y="49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Corpus, calidad AMSTAR-2 y síntesis por bloques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53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53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9808" y="54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Discusión y Conclusiones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9808" y="57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Implicaciones clínicas, limitaciones y líneas futuras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30" name="Oval 2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UN SIGLO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 siglo de estudio del 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96000" y="3410712"/>
            <a:ext cx="9000000" cy="27432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3" name="Rounded Rectangle 22"/>
          <p:cNvSpPr/>
          <p:nvPr/>
        </p:nvSpPr>
        <p:spPr>
          <a:xfrm>
            <a:off x="896888" y="52120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749808" y="521208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5" y="5330000"/>
            <a:ext cx="10177272" cy="5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1400" b="1" dirty="0"/>
              <a:t>Falacias:</a:t>
            </a:r>
          </a:p>
          <a:p>
            <a:endParaRPr lang="es-ES" sz="700" b="1" dirty="0"/>
          </a:p>
          <a:p>
            <a:r>
              <a:rPr lang="es-ES" sz="1400" b="1" dirty="0"/>
              <a:t>Jingle</a:t>
            </a:r>
            <a:r>
              <a:rPr lang="es-ES" sz="1400" dirty="0"/>
              <a:t>: mismo nombre, constructos distintos.  // </a:t>
            </a:r>
            <a:r>
              <a:rPr lang="es-ES" sz="1400" b="1" dirty="0" err="1"/>
              <a:t>Jangle</a:t>
            </a:r>
            <a:r>
              <a:rPr lang="es-ES" sz="1400" dirty="0"/>
              <a:t>: mismo constructo, nombres distintos.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7" name="Oval 26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3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6000" y="2148840"/>
            <a:ext cx="166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9079C8"/>
                </a:solidFill>
              </a:rPr>
              <a:t>1890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000" y="2670048"/>
            <a:ext cx="18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2E2A3A"/>
                </a:solidFill>
              </a:rPr>
              <a:t>William James</a:t>
            </a:r>
          </a:p>
        </p:txBody>
      </p:sp>
      <p:sp>
        <p:nvSpPr>
          <p:cNvPr id="31" name="Oval 30"/>
          <p:cNvSpPr/>
          <p:nvPr/>
        </p:nvSpPr>
        <p:spPr>
          <a:xfrm>
            <a:off x="1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6000" y="3794760"/>
            <a:ext cx="16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/>
              <a:t>El self </a:t>
            </a:r>
            <a:r>
              <a:rPr sz="1600" b="0" dirty="0" err="1"/>
              <a:t>como</a:t>
            </a:r>
            <a:endParaRPr sz="1600" b="0" dirty="0"/>
          </a:p>
          <a:p>
            <a:pPr algn="ctr"/>
            <a:r>
              <a:rPr sz="1600" b="0" dirty="0" err="1"/>
              <a:t>sujeto</a:t>
            </a:r>
            <a:r>
              <a:rPr sz="1600" b="0" dirty="0"/>
              <a:t> (I) y</a:t>
            </a:r>
          </a:p>
          <a:p>
            <a:pPr algn="ctr"/>
            <a:r>
              <a:rPr sz="1600" b="0" dirty="0" err="1"/>
              <a:t>objeto</a:t>
            </a:r>
            <a:r>
              <a:rPr sz="1600" b="0" dirty="0"/>
              <a:t> (me).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6000" y="2148840"/>
            <a:ext cx="166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9079C8"/>
                </a:solidFill>
              </a:rPr>
              <a:t>1902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6000" y="2670048"/>
            <a:ext cx="16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2E2A3A"/>
                </a:solidFill>
              </a:rPr>
              <a:t>Cooley</a:t>
            </a:r>
          </a:p>
        </p:txBody>
      </p:sp>
      <p:sp>
        <p:nvSpPr>
          <p:cNvPr id="35" name="Oval 34"/>
          <p:cNvSpPr/>
          <p:nvPr/>
        </p:nvSpPr>
        <p:spPr>
          <a:xfrm>
            <a:off x="32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87904" y="3758518"/>
            <a:ext cx="180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/>
              <a:t>El </a:t>
            </a:r>
            <a:r>
              <a:rPr sz="1600" b="0" dirty="0" err="1"/>
              <a:t>yo-espejo</a:t>
            </a:r>
            <a:r>
              <a:rPr sz="1600" b="0" dirty="0"/>
              <a:t>:</a:t>
            </a:r>
          </a:p>
          <a:p>
            <a:pPr algn="ctr"/>
            <a:r>
              <a:rPr sz="1600" b="0" dirty="0" err="1"/>
              <a:t>nos</a:t>
            </a:r>
            <a:r>
              <a:rPr sz="1600" b="0" dirty="0"/>
              <a:t> </a:t>
            </a:r>
            <a:r>
              <a:rPr sz="1600" b="0" dirty="0" err="1"/>
              <a:t>vemos</a:t>
            </a:r>
            <a:r>
              <a:rPr sz="1600" b="0" dirty="0"/>
              <a:t> </a:t>
            </a:r>
            <a:r>
              <a:rPr sz="1600" b="0" dirty="0" err="1"/>
              <a:t>como</a:t>
            </a:r>
            <a:endParaRPr sz="1600" b="0" dirty="0"/>
          </a:p>
          <a:p>
            <a:pPr algn="ctr"/>
            <a:r>
              <a:rPr sz="1600" b="0" dirty="0" err="1"/>
              <a:t>nos</a:t>
            </a:r>
            <a:r>
              <a:rPr sz="1600" b="0" dirty="0"/>
              <a:t> </a:t>
            </a:r>
            <a:r>
              <a:rPr sz="1600" b="0" dirty="0" err="1"/>
              <a:t>ven</a:t>
            </a:r>
            <a:r>
              <a:rPr sz="1600" b="0" dirty="0"/>
              <a:t> </a:t>
            </a:r>
            <a:r>
              <a:rPr sz="1600" b="0" dirty="0" err="1"/>
              <a:t>los</a:t>
            </a:r>
            <a:r>
              <a:rPr sz="1600" b="0" dirty="0"/>
              <a:t> </a:t>
            </a:r>
            <a:r>
              <a:rPr sz="1600" b="0" dirty="0" err="1"/>
              <a:t>demás</a:t>
            </a:r>
            <a:r>
              <a:rPr sz="1600" b="0" dirty="0"/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6000" y="2148840"/>
            <a:ext cx="166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9079C8"/>
                </a:solidFill>
              </a:rPr>
              <a:t>1934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6000" y="2670048"/>
            <a:ext cx="16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2E2A3A"/>
                </a:solidFill>
              </a:rPr>
              <a:t>G.H. Mead</a:t>
            </a:r>
          </a:p>
        </p:txBody>
      </p:sp>
      <p:sp>
        <p:nvSpPr>
          <p:cNvPr id="39" name="Oval 38"/>
          <p:cNvSpPr/>
          <p:nvPr/>
        </p:nvSpPr>
        <p:spPr>
          <a:xfrm>
            <a:off x="50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66000" y="3794760"/>
            <a:ext cx="166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/>
              <a:t>El self emerge</a:t>
            </a:r>
          </a:p>
          <a:p>
            <a:pPr algn="ctr"/>
            <a:r>
              <a:rPr sz="1600" b="0" dirty="0" err="1"/>
              <a:t>en</a:t>
            </a:r>
            <a:r>
              <a:rPr sz="1600" b="0" dirty="0"/>
              <a:t> la </a:t>
            </a:r>
            <a:r>
              <a:rPr sz="1600" b="0" dirty="0" err="1"/>
              <a:t>interacción</a:t>
            </a:r>
            <a:endParaRPr sz="1600" b="0" dirty="0"/>
          </a:p>
          <a:p>
            <a:pPr algn="ctr"/>
            <a:r>
              <a:rPr sz="1600" b="0" dirty="0"/>
              <a:t>social.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6000" y="2148840"/>
            <a:ext cx="166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9079C8"/>
                </a:solidFill>
              </a:rPr>
              <a:t>1965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6000" y="2670048"/>
            <a:ext cx="16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2E2A3A"/>
                </a:solidFill>
              </a:rPr>
              <a:t>Rosenberg</a:t>
            </a:r>
            <a:endParaRPr sz="950" b="1" dirty="0">
              <a:solidFill>
                <a:srgbClr val="2E2A3A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68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66000" y="3794760"/>
            <a:ext cx="166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/>
              <a:t>Escala RSES:</a:t>
            </a:r>
          </a:p>
          <a:p>
            <a:pPr algn="ctr"/>
            <a:r>
              <a:rPr sz="1600" b="0" dirty="0" err="1"/>
              <a:t>estándar</a:t>
            </a:r>
            <a:r>
              <a:rPr sz="1600" b="0" dirty="0"/>
              <a:t> de la</a:t>
            </a:r>
          </a:p>
          <a:p>
            <a:pPr algn="ctr"/>
            <a:r>
              <a:rPr sz="1600" b="0" dirty="0" err="1"/>
              <a:t>autoestima</a:t>
            </a:r>
            <a:r>
              <a:rPr sz="1600" b="0" dirty="0"/>
              <a:t> global.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6000" y="2148840"/>
            <a:ext cx="166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9079C8"/>
                </a:solidFill>
              </a:rPr>
              <a:t>1976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2E2A3A"/>
                </a:solidFill>
              </a:rPr>
              <a:t>Shavelson</a:t>
            </a:r>
          </a:p>
        </p:txBody>
      </p:sp>
      <p:sp>
        <p:nvSpPr>
          <p:cNvPr id="47" name="Oval 46"/>
          <p:cNvSpPr/>
          <p:nvPr/>
        </p:nvSpPr>
        <p:spPr>
          <a:xfrm>
            <a:off x="86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66000" y="3794760"/>
            <a:ext cx="180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/>
              <a:t>Autoconcepto</a:t>
            </a:r>
            <a:endParaRPr sz="1600" b="0" dirty="0"/>
          </a:p>
          <a:p>
            <a:pPr algn="ctr"/>
            <a:r>
              <a:rPr lang="es-ES" sz="1600" b="0" dirty="0"/>
              <a:t>M</a:t>
            </a:r>
            <a:r>
              <a:rPr sz="1600" b="0" dirty="0" err="1"/>
              <a:t>ultidimensional</a:t>
            </a:r>
            <a:r>
              <a:rPr lang="es-ES" sz="1600" b="0" dirty="0"/>
              <a:t> </a:t>
            </a:r>
            <a:r>
              <a:rPr sz="1600" b="0" dirty="0"/>
              <a:t>y </a:t>
            </a:r>
            <a:r>
              <a:rPr sz="1600" b="0" dirty="0" err="1"/>
              <a:t>jerárquico</a:t>
            </a:r>
            <a:r>
              <a:rPr sz="1600" b="0" dirty="0"/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6000" y="2148840"/>
            <a:ext cx="166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9079C8"/>
                </a:solidFill>
              </a:rPr>
              <a:t>2003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6000" y="2670048"/>
            <a:ext cx="16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2E2A3A"/>
                </a:solidFill>
              </a:rPr>
              <a:t>Baumeister</a:t>
            </a:r>
          </a:p>
        </p:txBody>
      </p:sp>
      <p:sp>
        <p:nvSpPr>
          <p:cNvPr id="51" name="Oval 50"/>
          <p:cNvSpPr/>
          <p:nvPr/>
        </p:nvSpPr>
        <p:spPr>
          <a:xfrm>
            <a:off x="10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82192" y="3632055"/>
            <a:ext cx="1660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dirty="0"/>
              <a:t>Meta-análisis. Efectos causales</a:t>
            </a:r>
            <a:br>
              <a:rPr lang="es-ES" sz="1600" dirty="0"/>
            </a:br>
            <a:r>
              <a:rPr lang="es-ES" sz="1600" dirty="0"/>
              <a:t>más modestos de lo esperado: pide más rigor.</a:t>
            </a:r>
          </a:p>
          <a:p>
            <a:pPr algn="ctr"/>
            <a:endParaRPr sz="1400" b="0" dirty="0">
              <a:solidFill>
                <a:srgbClr val="4C495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QUÉ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medimos exactamente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33275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Autoestima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79" y="2582936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latin typeface="Segoe UI"/>
              </a:rPr>
              <a:t>Evaluativa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latin typeface="Segoe UI"/>
              </a:rPr>
              <a:t>Juicio</a:t>
            </a:r>
            <a:r>
              <a:rPr sz="1600" b="0" dirty="0">
                <a:latin typeface="Segoe UI"/>
              </a:rPr>
              <a:t> global de </a:t>
            </a:r>
            <a:r>
              <a:rPr sz="1600" b="0" dirty="0" err="1">
                <a:latin typeface="Segoe UI"/>
              </a:rPr>
              <a:t>valía</a:t>
            </a:r>
            <a:r>
              <a:rPr sz="1600" b="0" dirty="0">
                <a:latin typeface="Segoe UI"/>
              </a:rPr>
              <a:t> personal</a:t>
            </a:r>
            <a:endParaRPr lang="es-ES" sz="1600" b="0" dirty="0"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b="0" dirty="0"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Dimensión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afectiva</a:t>
            </a:r>
            <a:r>
              <a:rPr sz="1600" b="0" dirty="0">
                <a:latin typeface="Segoe UI"/>
              </a:rPr>
              <a:t> del self.</a:t>
            </a:r>
            <a:endParaRPr lang="es-ES" sz="1600" b="0" dirty="0"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latin typeface="Segoe UI"/>
              </a:rPr>
              <a:t>¿Cuánto me valoro?</a:t>
            </a:r>
            <a:endParaRPr sz="1600" b="0" dirty="0"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24127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emibold"/>
              </a:rPr>
              <a:t>Rosenberg </a:t>
            </a:r>
            <a:r>
              <a:rPr sz="1600" b="1" dirty="0">
                <a:solidFill>
                  <a:srgbClr val="FFFFFF"/>
                </a:solidFill>
                <a:latin typeface="Segoe UI Semibold"/>
              </a:rPr>
              <a:t>Self-Esteem</a:t>
            </a:r>
            <a:r>
              <a:rPr sz="1400" b="1" dirty="0">
                <a:solidFill>
                  <a:srgbClr val="FFFFFF"/>
                </a:solidFill>
                <a:latin typeface="Segoe UI Semibold"/>
              </a:rPr>
              <a:t>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47488" y="20595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Autoconcepto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18888" y="2582936"/>
            <a:ext cx="2871216" cy="25603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latin typeface="Segoe UI"/>
              </a:rPr>
              <a:t>Descriptivo y multidimensional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latin typeface="Segoe UI"/>
              </a:rPr>
              <a:t>Descripción</a:t>
            </a:r>
            <a:r>
              <a:rPr sz="1600" b="0" dirty="0">
                <a:latin typeface="Segoe UI"/>
              </a:rPr>
              <a:t> del self </a:t>
            </a:r>
            <a:r>
              <a:rPr sz="1600" b="0" dirty="0" err="1">
                <a:latin typeface="Segoe UI"/>
              </a:rPr>
              <a:t>por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dominios</a:t>
            </a:r>
            <a:r>
              <a:rPr sz="1600" b="0" dirty="0">
                <a:latin typeface="Segoe UI"/>
              </a:rPr>
              <a:t>: </a:t>
            </a:r>
            <a:r>
              <a:rPr sz="1600" b="0" dirty="0" err="1">
                <a:latin typeface="Segoe UI"/>
              </a:rPr>
              <a:t>académico</a:t>
            </a:r>
            <a:r>
              <a:rPr sz="1600" b="0" dirty="0">
                <a:latin typeface="Segoe UI"/>
              </a:rPr>
              <a:t>, social, </a:t>
            </a:r>
            <a:r>
              <a:rPr sz="1600" b="0" dirty="0" err="1">
                <a:latin typeface="Segoe UI"/>
              </a:rPr>
              <a:t>físico</a:t>
            </a:r>
            <a:r>
              <a:rPr sz="1600" b="0" dirty="0">
                <a:latin typeface="Segoe UI"/>
              </a:rPr>
              <a:t>, corporal.</a:t>
            </a:r>
            <a:endParaRPr lang="es-ES" sz="1600" b="0" dirty="0"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latin typeface="Segoe UI"/>
            </a:endParaRPr>
          </a:p>
          <a:p>
            <a:pPr>
              <a:lnSpc>
                <a:spcPct val="116000"/>
              </a:lnSpc>
            </a:pPr>
            <a:r>
              <a:rPr lang="es-ES" sz="1600" dirty="0">
                <a:latin typeface="Segoe UI"/>
              </a:rPr>
              <a:t>¿Qué pienso de mí mismo?</a:t>
            </a:r>
            <a:endParaRPr sz="1600" b="0" dirty="0"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18888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Self-Description Questionnaire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77656" y="20528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>
                <a:solidFill>
                  <a:srgbClr val="2E2A3A"/>
                </a:solidFill>
                <a:latin typeface="Segoe UI Semibold"/>
              </a:rPr>
              <a:t>Bienestar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095" y="256489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600" b="0" dirty="0" err="1">
                <a:latin typeface="Segoe UI"/>
              </a:rPr>
              <a:t>Hedónico</a:t>
            </a:r>
            <a:r>
              <a:rPr sz="1600" b="0" dirty="0">
                <a:latin typeface="Segoe UI"/>
              </a:rPr>
              <a:t> (</a:t>
            </a:r>
            <a:r>
              <a:rPr sz="1600" b="0" dirty="0" err="1">
                <a:latin typeface="Segoe UI"/>
              </a:rPr>
              <a:t>satisfacción</a:t>
            </a:r>
            <a:r>
              <a:rPr sz="1600" b="0" dirty="0">
                <a:latin typeface="Segoe UI"/>
              </a:rPr>
              <a:t> y </a:t>
            </a:r>
            <a:r>
              <a:rPr sz="1600" b="0" dirty="0" err="1">
                <a:latin typeface="Segoe UI"/>
              </a:rPr>
              <a:t>afecto</a:t>
            </a:r>
            <a:r>
              <a:rPr sz="1600" b="0" dirty="0">
                <a:latin typeface="Segoe UI"/>
              </a:rPr>
              <a:t>)</a:t>
            </a:r>
            <a:endParaRPr lang="es-ES" sz="1600" b="0" dirty="0"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latin typeface="Segoe UI"/>
              </a:rPr>
              <a:t> </a:t>
            </a:r>
            <a:endParaRPr lang="es-ES" sz="1600" b="0" dirty="0"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dirty="0">
                <a:latin typeface="Segoe UI"/>
              </a:rPr>
              <a:t>E</a:t>
            </a:r>
            <a:r>
              <a:rPr sz="1600" b="0" dirty="0" err="1">
                <a:latin typeface="Segoe UI"/>
              </a:rPr>
              <a:t>udaimónico</a:t>
            </a:r>
            <a:r>
              <a:rPr sz="1600" b="0" dirty="0">
                <a:latin typeface="Segoe UI"/>
              </a:rPr>
              <a:t> (</a:t>
            </a:r>
            <a:r>
              <a:rPr sz="1600" b="0" dirty="0" err="1">
                <a:latin typeface="Segoe UI"/>
              </a:rPr>
              <a:t>funcionamiento</a:t>
            </a:r>
            <a:r>
              <a:rPr lang="es-ES" sz="160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óptimo</a:t>
            </a:r>
            <a:r>
              <a:rPr sz="1600" b="0" dirty="0">
                <a:latin typeface="Segoe UI"/>
              </a:rPr>
              <a:t>)</a:t>
            </a:r>
            <a:endParaRPr lang="es-ES" sz="1600" b="0" dirty="0"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latin typeface="Segoe UI"/>
              </a:rPr>
              <a:t>Calidad de vida relacionada con la salud </a:t>
            </a:r>
          </a:p>
          <a:p>
            <a:pPr algn="l">
              <a:lnSpc>
                <a:spcPct val="116000"/>
              </a:lnSpc>
            </a:pPr>
            <a:endParaRPr lang="es-ES" sz="1600" dirty="0"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latin typeface="Segoe UI"/>
              </a:rPr>
              <a:t>Salud mental general</a:t>
            </a:r>
            <a:endParaRPr sz="1600" b="0" dirty="0"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67344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HRQoL  +  salud 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4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EL BIENESTAR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El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bienestar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tiene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cuatro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caras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2415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subjetivo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hedónico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5" y="2560320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b="0" dirty="0" err="1">
                <a:latin typeface="Segoe UI"/>
              </a:rPr>
              <a:t>Satisfacción</a:t>
            </a:r>
            <a:r>
              <a:rPr b="0" dirty="0">
                <a:latin typeface="Segoe UI"/>
              </a:rPr>
              <a:t> con la </a:t>
            </a:r>
            <a:r>
              <a:rPr b="0" dirty="0" err="1">
                <a:latin typeface="Segoe UI"/>
              </a:rPr>
              <a:t>vida</a:t>
            </a:r>
            <a:r>
              <a:rPr b="0" dirty="0">
                <a:latin typeface="Segoe UI"/>
              </a:rPr>
              <a:t> +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positivo</a:t>
            </a:r>
            <a:r>
              <a:rPr b="0" dirty="0">
                <a:latin typeface="Segoe UI"/>
              </a:rPr>
              <a:t> −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negativo</a:t>
            </a:r>
            <a:r>
              <a:rPr b="0" dirty="0">
                <a:latin typeface="Segoe UI"/>
              </a:rPr>
              <a:t> (Diener).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psicológico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eudaimónico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8529" y="2452769"/>
            <a:ext cx="4976078" cy="111339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Funcionamiento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óptimo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de la persona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seis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dimensiones</a:t>
            </a:r>
            <a:r>
              <a:rPr lang="es-ES" b="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autonomía, dominio del entorno, crecimiento personal, relaciones positivas, propósito en la vida y autoaceptación 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(Ryff).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5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Calidad de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vida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y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salud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HRQoL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5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>
                <a:latin typeface="Segoe UI"/>
              </a:rPr>
              <a:t>Impacto de la </a:t>
            </a:r>
            <a:r>
              <a:rPr b="0" dirty="0" err="1">
                <a:latin typeface="Segoe UI"/>
              </a:rPr>
              <a:t>enfermedad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sobre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el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funcionamiento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físico</a:t>
            </a:r>
            <a:r>
              <a:rPr b="0" dirty="0">
                <a:latin typeface="Segoe UI"/>
              </a:rPr>
              <a:t>, mental y social (WHOQOL).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Salud mental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96027"/>
            <a:ext cx="4992624" cy="11978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lang="es-ES" dirty="0"/>
              <a:t>Ausencia de enfermedad no equivale a salud mental: son dos dimensiones independientes. Objetivo terapéutico: construir recursos positivos (</a:t>
            </a:r>
            <a:r>
              <a:rPr b="0" dirty="0">
                <a:latin typeface="Segoe UI"/>
              </a:rPr>
              <a:t>Keyes).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3" name="Oval 22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5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Evidencia abundante… pero fragmentada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92938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" y="1874520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 dirty="0">
                <a:latin typeface="Segoe UI"/>
              </a:rPr>
              <a:t>Es </a:t>
            </a:r>
            <a:r>
              <a:rPr sz="1500" b="0" dirty="0" err="1">
                <a:latin typeface="Segoe UI"/>
              </a:rPr>
              <a:t>una</a:t>
            </a:r>
            <a:r>
              <a:rPr sz="1500" b="0" dirty="0">
                <a:latin typeface="Segoe UI"/>
              </a:rPr>
              <a:t> de las </a:t>
            </a:r>
            <a:r>
              <a:rPr sz="1500" b="0" dirty="0" err="1">
                <a:latin typeface="Segoe UI"/>
              </a:rPr>
              <a:t>literaturas</a:t>
            </a:r>
            <a:r>
              <a:rPr sz="1500" b="0" dirty="0">
                <a:latin typeface="Segoe UI"/>
              </a:rPr>
              <a:t> </a:t>
            </a:r>
            <a:r>
              <a:rPr sz="1500" b="1" dirty="0" err="1">
                <a:latin typeface="Segoe UI Semibold"/>
              </a:rPr>
              <a:t>más</a:t>
            </a:r>
            <a:r>
              <a:rPr sz="1500" b="1" dirty="0">
                <a:latin typeface="Segoe UI Semibold"/>
              </a:rPr>
              <a:t> </a:t>
            </a:r>
            <a:r>
              <a:rPr sz="1500" b="1" dirty="0" err="1">
                <a:latin typeface="Segoe UI Semibold"/>
              </a:rPr>
              <a:t>voluminosas</a:t>
            </a:r>
            <a:r>
              <a:rPr sz="1500" b="0" dirty="0">
                <a:latin typeface="Segoe UI"/>
              </a:rPr>
              <a:t> de </a:t>
            </a:r>
            <a:r>
              <a:rPr sz="1500" b="0" dirty="0" err="1">
                <a:latin typeface="Segoe UI"/>
              </a:rPr>
              <a:t>toda</a:t>
            </a:r>
            <a:r>
              <a:rPr sz="1500" b="0" dirty="0">
                <a:latin typeface="Segoe UI"/>
              </a:rPr>
              <a:t> la </a:t>
            </a:r>
            <a:r>
              <a:rPr sz="1500" b="0" dirty="0" err="1">
                <a:latin typeface="Segoe UI"/>
              </a:rPr>
              <a:t>psicología</a:t>
            </a:r>
            <a:r>
              <a:rPr sz="1500" b="0" dirty="0">
                <a:latin typeface="Segoe UI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768095" y="3054096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2971800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 dirty="0">
                <a:latin typeface="Segoe UI"/>
              </a:rPr>
              <a:t>La </a:t>
            </a:r>
            <a:r>
              <a:rPr sz="1500" b="0" dirty="0" err="1">
                <a:latin typeface="Segoe UI"/>
              </a:rPr>
              <a:t>síntesis</a:t>
            </a:r>
            <a:r>
              <a:rPr sz="1500" b="0" dirty="0">
                <a:latin typeface="Segoe UI"/>
              </a:rPr>
              <a:t> </a:t>
            </a:r>
            <a:r>
              <a:rPr sz="1500" b="0" dirty="0" err="1">
                <a:latin typeface="Segoe UI"/>
              </a:rPr>
              <a:t>más</a:t>
            </a:r>
            <a:r>
              <a:rPr sz="1500" b="0" dirty="0">
                <a:latin typeface="Segoe UI"/>
              </a:rPr>
              <a:t> </a:t>
            </a:r>
            <a:r>
              <a:rPr sz="1500" b="0" dirty="0" err="1">
                <a:latin typeface="Segoe UI"/>
              </a:rPr>
              <a:t>próxima</a:t>
            </a:r>
            <a:r>
              <a:rPr sz="1500" b="0" dirty="0">
                <a:latin typeface="Segoe UI"/>
              </a:rPr>
              <a:t>, </a:t>
            </a:r>
            <a:r>
              <a:rPr sz="1500" b="1" dirty="0">
                <a:latin typeface="Segoe UI Semibold"/>
              </a:rPr>
              <a:t>Zell &amp; Johansson (2025)</a:t>
            </a:r>
            <a:r>
              <a:rPr sz="1500" b="0" dirty="0">
                <a:latin typeface="Segoe UI"/>
              </a:rPr>
              <a:t>, </a:t>
            </a:r>
            <a:r>
              <a:rPr sz="1500" b="0" dirty="0" err="1">
                <a:latin typeface="Segoe UI"/>
              </a:rPr>
              <a:t>agrega</a:t>
            </a:r>
            <a:r>
              <a:rPr sz="1500" b="0" dirty="0">
                <a:latin typeface="Segoe UI"/>
              </a:rPr>
              <a:t> 40 meta-</a:t>
            </a:r>
            <a:r>
              <a:rPr sz="1500" b="0" dirty="0" err="1">
                <a:latin typeface="Segoe UI"/>
              </a:rPr>
              <a:t>análisis</a:t>
            </a:r>
            <a:r>
              <a:rPr sz="1500" b="0" dirty="0">
                <a:latin typeface="Segoe UI"/>
              </a:rPr>
              <a:t>: r = ,31 global (,42 </a:t>
            </a:r>
            <a:r>
              <a:rPr sz="1500" b="0" dirty="0" err="1">
                <a:latin typeface="Segoe UI"/>
              </a:rPr>
              <a:t>salud</a:t>
            </a:r>
            <a:r>
              <a:rPr sz="1500" b="0" dirty="0">
                <a:latin typeface="Segoe UI"/>
              </a:rPr>
              <a:t> mental; ,15 </a:t>
            </a:r>
            <a:r>
              <a:rPr sz="1500" b="0" dirty="0" err="1">
                <a:latin typeface="Segoe UI"/>
              </a:rPr>
              <a:t>salud</a:t>
            </a:r>
            <a:r>
              <a:rPr sz="1500" b="0" dirty="0">
                <a:latin typeface="Segoe UI"/>
              </a:rPr>
              <a:t> </a:t>
            </a:r>
            <a:r>
              <a:rPr sz="1500" b="0" dirty="0" err="1">
                <a:latin typeface="Segoe UI"/>
              </a:rPr>
              <a:t>física</a:t>
            </a:r>
            <a:r>
              <a:rPr sz="1500" b="0" dirty="0">
                <a:latin typeface="Segoe UI"/>
              </a:rPr>
              <a:t>)… </a:t>
            </a:r>
            <a:r>
              <a:rPr sz="1500" b="0" dirty="0" err="1">
                <a:latin typeface="Segoe UI"/>
              </a:rPr>
              <a:t>pero</a:t>
            </a:r>
            <a:r>
              <a:rPr sz="1500" b="0" dirty="0">
                <a:latin typeface="Segoe UI"/>
              </a:rPr>
              <a:t> </a:t>
            </a:r>
            <a:r>
              <a:rPr sz="1500" b="0" dirty="0" err="1">
                <a:latin typeface="Segoe UI"/>
              </a:rPr>
              <a:t>en</a:t>
            </a:r>
            <a:r>
              <a:rPr sz="1500" b="0" dirty="0">
                <a:latin typeface="Segoe UI"/>
              </a:rPr>
              <a:t> población general.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58114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49884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 dirty="0">
                <a:latin typeface="Segoe UI"/>
              </a:rPr>
              <a:t>Cada meta-</a:t>
            </a:r>
            <a:r>
              <a:rPr sz="1500" b="0" dirty="0" err="1">
                <a:latin typeface="Segoe UI"/>
              </a:rPr>
              <a:t>análisis</a:t>
            </a:r>
            <a:r>
              <a:rPr sz="1500" b="0" dirty="0">
                <a:latin typeface="Segoe UI"/>
              </a:rPr>
              <a:t> </a:t>
            </a:r>
            <a:r>
              <a:rPr sz="1500" b="0" dirty="0" err="1">
                <a:latin typeface="Segoe UI"/>
              </a:rPr>
              <a:t>aborda</a:t>
            </a:r>
            <a:r>
              <a:rPr sz="1500" b="0" dirty="0">
                <a:latin typeface="Segoe UI"/>
              </a:rPr>
              <a:t> </a:t>
            </a:r>
            <a:r>
              <a:rPr sz="1500" b="0" dirty="0" err="1">
                <a:latin typeface="Segoe UI"/>
              </a:rPr>
              <a:t>una</a:t>
            </a:r>
            <a:r>
              <a:rPr sz="1500" b="0" dirty="0">
                <a:latin typeface="Segoe UI"/>
              </a:rPr>
              <a:t> </a:t>
            </a:r>
            <a:r>
              <a:rPr sz="1500" b="0" dirty="0" err="1">
                <a:latin typeface="Segoe UI"/>
              </a:rPr>
              <a:t>porción</a:t>
            </a:r>
            <a:r>
              <a:rPr sz="1500" b="0" dirty="0">
                <a:latin typeface="Segoe UI"/>
              </a:rPr>
              <a:t> del </a:t>
            </a:r>
            <a:r>
              <a:rPr sz="1500" b="0" dirty="0" err="1">
                <a:latin typeface="Segoe UI"/>
              </a:rPr>
              <a:t>problema</a:t>
            </a:r>
            <a:r>
              <a:rPr sz="1500" b="0" dirty="0">
                <a:latin typeface="Segoe UI"/>
              </a:rPr>
              <a:t>: </a:t>
            </a:r>
            <a:r>
              <a:rPr sz="1500" b="1" dirty="0" err="1">
                <a:latin typeface="Segoe UI Semibold"/>
              </a:rPr>
              <a:t>visión</a:t>
            </a:r>
            <a:r>
              <a:rPr sz="1500" b="1" dirty="0">
                <a:latin typeface="Segoe UI Semibold"/>
              </a:rPr>
              <a:t> </a:t>
            </a:r>
            <a:r>
              <a:rPr sz="1500" b="1" dirty="0" err="1">
                <a:latin typeface="Segoe UI Semibold"/>
              </a:rPr>
              <a:t>fragmentada</a:t>
            </a:r>
            <a:r>
              <a:rPr sz="1500" b="0" dirty="0">
                <a:latin typeface="Segoe UI"/>
              </a:rPr>
              <a:t> y </a:t>
            </a:r>
            <a:r>
              <a:rPr sz="1500" b="0" dirty="0" err="1">
                <a:latin typeface="Segoe UI"/>
              </a:rPr>
              <a:t>difícil</a:t>
            </a:r>
            <a:r>
              <a:rPr sz="1500" b="0" dirty="0">
                <a:latin typeface="Segoe UI"/>
              </a:rPr>
              <a:t> de </a:t>
            </a:r>
            <a:r>
              <a:rPr sz="1500" b="0" dirty="0" err="1">
                <a:latin typeface="Segoe UI"/>
              </a:rPr>
              <a:t>transferir</a:t>
            </a:r>
            <a:r>
              <a:rPr sz="1500" b="0" dirty="0">
                <a:latin typeface="Segoe UI"/>
              </a:rPr>
              <a:t> a la </a:t>
            </a:r>
            <a:r>
              <a:rPr sz="1500" b="0" dirty="0" err="1">
                <a:latin typeface="Segoe UI"/>
              </a:rPr>
              <a:t>clínica</a:t>
            </a:r>
            <a:r>
              <a:rPr sz="1500" b="0" dirty="0"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03520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0574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b="1">
                <a:solidFill>
                  <a:srgbClr val="6E57B0"/>
                </a:solidFill>
                <a:latin typeface="Segoe UI Semibold"/>
              </a:rPr>
              <a:t>El hueco que cubre este 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480559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b="0" dirty="0">
                <a:latin typeface="Segoe UI"/>
              </a:rPr>
              <a:t>①  </a:t>
            </a:r>
            <a:r>
              <a:rPr b="0" dirty="0" err="1">
                <a:latin typeface="Segoe UI"/>
              </a:rPr>
              <a:t>Restrinj</a:t>
            </a:r>
            <a:r>
              <a:rPr lang="es-ES" b="0" dirty="0">
                <a:latin typeface="Segoe UI"/>
              </a:rPr>
              <a:t>e</a:t>
            </a:r>
            <a:r>
              <a:rPr b="0" dirty="0">
                <a:latin typeface="Segoe UI"/>
              </a:rPr>
              <a:t> a </a:t>
            </a:r>
            <a:r>
              <a:rPr b="1" dirty="0">
                <a:latin typeface="Segoe UI Semibold"/>
              </a:rPr>
              <a:t>población </a:t>
            </a:r>
            <a:r>
              <a:rPr b="1" dirty="0" err="1">
                <a:latin typeface="Segoe UI Semibold"/>
              </a:rPr>
              <a:t>clínica</a:t>
            </a:r>
            <a:r>
              <a:rPr b="1" dirty="0">
                <a:latin typeface="Segoe UI Semibold"/>
              </a:rPr>
              <a:t> y de la </a:t>
            </a:r>
            <a:r>
              <a:rPr b="1" dirty="0" err="1">
                <a:latin typeface="Segoe UI Semibold"/>
              </a:rPr>
              <a:t>salud</a:t>
            </a:r>
            <a:r>
              <a:rPr b="0" dirty="0">
                <a:latin typeface="Segoe UI"/>
              </a:rPr>
              <a:t> (≥ 75 %).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b="0" dirty="0">
                <a:latin typeface="Segoe UI"/>
              </a:rPr>
              <a:t>②  </a:t>
            </a:r>
            <a:r>
              <a:rPr b="0" dirty="0" err="1">
                <a:latin typeface="Segoe UI"/>
              </a:rPr>
              <a:t>Integr</a:t>
            </a:r>
            <a:r>
              <a:rPr lang="es-ES" b="0" dirty="0">
                <a:latin typeface="Segoe UI"/>
              </a:rPr>
              <a:t>a</a:t>
            </a:r>
            <a:r>
              <a:rPr b="0" dirty="0">
                <a:latin typeface="Segoe UI"/>
              </a:rPr>
              <a:t> </a:t>
            </a:r>
            <a:r>
              <a:rPr b="1" dirty="0" err="1">
                <a:latin typeface="Segoe UI Semibold"/>
              </a:rPr>
              <a:t>autoestima</a:t>
            </a:r>
            <a:r>
              <a:rPr b="1" dirty="0">
                <a:latin typeface="Segoe UI Semibold"/>
              </a:rPr>
              <a:t> y </a:t>
            </a:r>
            <a:r>
              <a:rPr b="1" dirty="0" err="1">
                <a:latin typeface="Segoe UI Semibold"/>
              </a:rPr>
              <a:t>autoconcepto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como</a:t>
            </a:r>
            <a:r>
              <a:rPr b="0" dirty="0">
                <a:latin typeface="Segoe UI"/>
              </a:rPr>
              <a:t> dos </a:t>
            </a:r>
            <a:r>
              <a:rPr b="0" dirty="0" err="1">
                <a:latin typeface="Segoe UI"/>
              </a:rPr>
              <a:t>caras</a:t>
            </a:r>
            <a:r>
              <a:rPr b="0" dirty="0">
                <a:latin typeface="Segoe UI"/>
              </a:rPr>
              <a:t> del </a:t>
            </a:r>
            <a:r>
              <a:rPr b="0" dirty="0" err="1">
                <a:latin typeface="Segoe UI"/>
              </a:rPr>
              <a:t>mismo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objeto</a:t>
            </a:r>
            <a:r>
              <a:rPr b="0" dirty="0">
                <a:latin typeface="Segoe UI"/>
              </a:rPr>
              <a:t>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600" b="0" dirty="0">
                <a:latin typeface="Segoe UI"/>
              </a:rPr>
              <a:t>Las </a:t>
            </a:r>
            <a:r>
              <a:rPr sz="1600" b="0" dirty="0" err="1">
                <a:latin typeface="Segoe UI"/>
              </a:rPr>
              <a:t>intervenciones</a:t>
            </a:r>
            <a:r>
              <a:rPr sz="1600" b="0" dirty="0">
                <a:latin typeface="Segoe UI"/>
              </a:rPr>
              <a:t> se </a:t>
            </a:r>
            <a:r>
              <a:rPr sz="1600" b="0" dirty="0" err="1">
                <a:latin typeface="Segoe UI"/>
              </a:rPr>
              <a:t>diseñan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sobre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constructos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específicos</a:t>
            </a:r>
            <a:r>
              <a:rPr sz="1600" b="0" dirty="0">
                <a:latin typeface="Segoe UI"/>
              </a:rPr>
              <a:t>, no </a:t>
            </a:r>
            <a:r>
              <a:rPr sz="1600" b="0" dirty="0" err="1">
                <a:latin typeface="Segoe UI"/>
              </a:rPr>
              <a:t>sobre</a:t>
            </a:r>
            <a:r>
              <a:rPr sz="1600" b="0" dirty="0">
                <a:latin typeface="Segoe UI"/>
              </a:rPr>
              <a:t> un </a:t>
            </a:r>
            <a:r>
              <a:rPr sz="1600" b="0" dirty="0" err="1">
                <a:latin typeface="Segoe UI"/>
              </a:rPr>
              <a:t>único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agregado</a:t>
            </a:r>
            <a:r>
              <a:rPr sz="1600" b="0" dirty="0">
                <a:latin typeface="Segoe UI"/>
              </a:rPr>
              <a:t> global.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6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 propongo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10725912" cy="1078992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9808" y="1691640"/>
            <a:ext cx="91440" cy="1078992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883664"/>
            <a:ext cx="99943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 dirty="0" err="1">
                <a:latin typeface="Segoe UI Semibold"/>
              </a:rPr>
              <a:t>Objetivo</a:t>
            </a:r>
            <a:r>
              <a:rPr sz="1700" b="1" dirty="0">
                <a:latin typeface="Segoe UI Semibold"/>
              </a:rPr>
              <a:t> general.  </a:t>
            </a:r>
            <a:r>
              <a:rPr sz="1700" b="0" dirty="0" err="1">
                <a:latin typeface="Segoe UI"/>
              </a:rPr>
              <a:t>Sintetizar</a:t>
            </a:r>
            <a:r>
              <a:rPr sz="1700" b="0" dirty="0">
                <a:latin typeface="Segoe UI"/>
              </a:rPr>
              <a:t>, </a:t>
            </a:r>
            <a:r>
              <a:rPr sz="1700" b="0" dirty="0" err="1">
                <a:latin typeface="Segoe UI"/>
              </a:rPr>
              <a:t>mediante</a:t>
            </a:r>
            <a:r>
              <a:rPr sz="1700" b="0" dirty="0">
                <a:latin typeface="Segoe UI"/>
              </a:rPr>
              <a:t> </a:t>
            </a:r>
            <a:r>
              <a:rPr sz="1700" b="0" dirty="0" err="1">
                <a:latin typeface="Segoe UI"/>
              </a:rPr>
              <a:t>una</a:t>
            </a:r>
            <a:r>
              <a:rPr sz="1700" b="0" dirty="0">
                <a:latin typeface="Segoe UI"/>
              </a:rPr>
              <a:t> </a:t>
            </a:r>
            <a:r>
              <a:rPr sz="1700" b="0" dirty="0" err="1">
                <a:latin typeface="Segoe UI"/>
              </a:rPr>
              <a:t>revisión</a:t>
            </a:r>
            <a:r>
              <a:rPr sz="1700" b="0" dirty="0">
                <a:latin typeface="Segoe UI"/>
              </a:rPr>
              <a:t> </a:t>
            </a:r>
            <a:r>
              <a:rPr sz="1700" b="0" dirty="0" err="1">
                <a:latin typeface="Segoe UI"/>
              </a:rPr>
              <a:t>paraguas</a:t>
            </a:r>
            <a:r>
              <a:rPr sz="1700" b="0" dirty="0">
                <a:latin typeface="Segoe UI"/>
              </a:rPr>
              <a:t> (PRISMA 2020 y PRIOR), la </a:t>
            </a:r>
            <a:r>
              <a:rPr sz="1700" b="0" dirty="0" err="1">
                <a:latin typeface="Segoe UI"/>
              </a:rPr>
              <a:t>evidencia</a:t>
            </a:r>
            <a:r>
              <a:rPr sz="1700" b="0" dirty="0">
                <a:latin typeface="Segoe UI"/>
              </a:rPr>
              <a:t> meta-</a:t>
            </a:r>
            <a:r>
              <a:rPr sz="1700" b="0" dirty="0" err="1">
                <a:latin typeface="Segoe UI"/>
              </a:rPr>
              <a:t>analítica</a:t>
            </a:r>
            <a:r>
              <a:rPr sz="1700" b="0" dirty="0">
                <a:latin typeface="Segoe UI"/>
              </a:rPr>
              <a:t> </a:t>
            </a:r>
            <a:r>
              <a:rPr sz="1700" b="0" dirty="0" err="1">
                <a:latin typeface="Segoe UI"/>
              </a:rPr>
              <a:t>sobre</a:t>
            </a:r>
            <a:r>
              <a:rPr sz="1700" b="0" dirty="0">
                <a:latin typeface="Segoe UI"/>
              </a:rPr>
              <a:t> </a:t>
            </a:r>
            <a:r>
              <a:rPr sz="1700" b="0" dirty="0" err="1">
                <a:latin typeface="Segoe UI"/>
              </a:rPr>
              <a:t>autoestima</a:t>
            </a:r>
            <a:r>
              <a:rPr sz="1700" b="0" dirty="0">
                <a:latin typeface="Segoe UI"/>
              </a:rPr>
              <a:t> y/o </a:t>
            </a:r>
            <a:r>
              <a:rPr sz="1700" b="0" dirty="0" err="1">
                <a:latin typeface="Segoe UI"/>
              </a:rPr>
              <a:t>autoconcepto</a:t>
            </a:r>
            <a:r>
              <a:rPr sz="1700" b="0" dirty="0">
                <a:latin typeface="Segoe UI"/>
              </a:rPr>
              <a:t> y </a:t>
            </a:r>
            <a:r>
              <a:rPr sz="1700" b="0" dirty="0" err="1">
                <a:latin typeface="Segoe UI"/>
              </a:rPr>
              <a:t>bienestar</a:t>
            </a:r>
            <a:r>
              <a:rPr sz="1700" b="0" dirty="0">
                <a:latin typeface="Segoe UI"/>
              </a:rPr>
              <a:t> </a:t>
            </a:r>
            <a:r>
              <a:rPr sz="1700" b="0" dirty="0" err="1">
                <a:latin typeface="Segoe UI"/>
              </a:rPr>
              <a:t>en</a:t>
            </a:r>
            <a:r>
              <a:rPr sz="1700" b="0" dirty="0">
                <a:latin typeface="Segoe UI"/>
              </a:rPr>
              <a:t> </a:t>
            </a:r>
            <a:r>
              <a:rPr sz="1700" b="0" dirty="0" err="1">
                <a:latin typeface="Segoe UI"/>
              </a:rPr>
              <a:t>psicología</a:t>
            </a:r>
            <a:r>
              <a:rPr sz="1700" b="0" dirty="0">
                <a:latin typeface="Segoe UI"/>
              </a:rPr>
              <a:t> </a:t>
            </a:r>
            <a:r>
              <a:rPr sz="1700" b="0" dirty="0" err="1">
                <a:latin typeface="Segoe UI"/>
              </a:rPr>
              <a:t>clínica</a:t>
            </a:r>
            <a:r>
              <a:rPr sz="1700" b="0" dirty="0">
                <a:latin typeface="Segoe UI"/>
              </a:rPr>
              <a:t> y de la </a:t>
            </a:r>
            <a:r>
              <a:rPr sz="1700" b="0" dirty="0" err="1">
                <a:latin typeface="Segoe UI"/>
              </a:rPr>
              <a:t>salud</a:t>
            </a:r>
            <a:r>
              <a:rPr sz="1700" b="0" dirty="0">
                <a:latin typeface="Segoe UI"/>
              </a:rPr>
              <a:t> (2016–2026).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926177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 err="1">
                <a:latin typeface="Segoe UI"/>
              </a:rPr>
              <a:t>Identificar</a:t>
            </a:r>
            <a:r>
              <a:rPr sz="1650" b="0" dirty="0">
                <a:latin typeface="Segoe UI"/>
              </a:rPr>
              <a:t> y </a:t>
            </a:r>
            <a:r>
              <a:rPr sz="1650" b="0" dirty="0" err="1">
                <a:latin typeface="Segoe UI"/>
              </a:rPr>
              <a:t>describir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los</a:t>
            </a:r>
            <a:r>
              <a:rPr sz="1650" b="0" dirty="0">
                <a:latin typeface="Segoe UI"/>
              </a:rPr>
              <a:t> meta-</a:t>
            </a:r>
            <a:r>
              <a:rPr sz="1650" b="0" dirty="0" err="1">
                <a:latin typeface="Segoe UI"/>
              </a:rPr>
              <a:t>análisis</a:t>
            </a:r>
            <a:r>
              <a:rPr sz="1650" b="0" dirty="0">
                <a:latin typeface="Segoe UI"/>
              </a:rPr>
              <a:t> del </a:t>
            </a:r>
            <a:r>
              <a:rPr sz="1650" b="0" dirty="0" err="1">
                <a:latin typeface="Segoe UI"/>
              </a:rPr>
              <a:t>periodo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en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poblaciones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clínicas</a:t>
            </a:r>
            <a:r>
              <a:rPr sz="1650" b="0" dirty="0">
                <a:latin typeface="Segoe UI"/>
              </a:rPr>
              <a:t> o de </a:t>
            </a:r>
            <a:r>
              <a:rPr sz="1650" b="0" dirty="0" err="1">
                <a:latin typeface="Segoe UI"/>
              </a:rPr>
              <a:t>salud</a:t>
            </a:r>
            <a:r>
              <a:rPr sz="1650" b="0" dirty="0">
                <a:latin typeface="Segoe UI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6336792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 err="1">
                <a:latin typeface="Segoe UI"/>
              </a:rPr>
              <a:t>Sintetizar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los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tamaños</a:t>
            </a:r>
            <a:r>
              <a:rPr sz="1650" b="0" dirty="0">
                <a:latin typeface="Segoe UI"/>
              </a:rPr>
              <a:t> del </a:t>
            </a:r>
            <a:r>
              <a:rPr sz="1650" b="0" dirty="0" err="1">
                <a:latin typeface="Segoe UI"/>
              </a:rPr>
              <a:t>efecto</a:t>
            </a:r>
            <a:r>
              <a:rPr sz="1650" b="0" dirty="0">
                <a:latin typeface="Segoe UI"/>
              </a:rPr>
              <a:t>: </a:t>
            </a:r>
            <a:r>
              <a:rPr sz="1650" b="0" dirty="0" err="1">
                <a:latin typeface="Segoe UI"/>
              </a:rPr>
              <a:t>consistencias</a:t>
            </a:r>
            <a:r>
              <a:rPr sz="1650" b="0" dirty="0">
                <a:latin typeface="Segoe UI"/>
              </a:rPr>
              <a:t> y </a:t>
            </a:r>
            <a:r>
              <a:rPr sz="1650" b="0" dirty="0" err="1">
                <a:latin typeface="Segoe UI"/>
              </a:rPr>
              <a:t>discrepancias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por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constructo</a:t>
            </a:r>
            <a:r>
              <a:rPr sz="1650" b="0" dirty="0">
                <a:latin typeface="Segoe UI"/>
              </a:rPr>
              <a:t>, outcome y población.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5034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 err="1">
                <a:latin typeface="Segoe UI"/>
              </a:rPr>
              <a:t>Evaluar</a:t>
            </a:r>
            <a:r>
              <a:rPr sz="1650" b="0" dirty="0">
                <a:latin typeface="Segoe UI"/>
              </a:rPr>
              <a:t> la </a:t>
            </a:r>
            <a:r>
              <a:rPr sz="1650" b="0" dirty="0" err="1">
                <a:latin typeface="Segoe UI"/>
              </a:rPr>
              <a:t>calidad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metodológica</a:t>
            </a:r>
            <a:r>
              <a:rPr sz="1650" b="0" dirty="0">
                <a:latin typeface="Segoe UI"/>
              </a:rPr>
              <a:t> (AMSTAR-2) y </a:t>
            </a:r>
            <a:r>
              <a:rPr sz="1650" b="0" dirty="0" err="1">
                <a:latin typeface="Segoe UI"/>
              </a:rPr>
              <a:t>el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solapamiento</a:t>
            </a:r>
            <a:r>
              <a:rPr sz="1650" b="0" dirty="0">
                <a:latin typeface="Segoe UI"/>
              </a:rPr>
              <a:t> entre </a:t>
            </a:r>
            <a:r>
              <a:rPr sz="1650" b="0" dirty="0" err="1">
                <a:latin typeface="Segoe UI"/>
              </a:rPr>
              <a:t>revisiones</a:t>
            </a:r>
            <a:r>
              <a:rPr sz="1650" b="0" dirty="0">
                <a:latin typeface="Segoe UI"/>
              </a:rPr>
              <a:t> (CCA).</a:t>
            </a:r>
          </a:p>
        </p:txBody>
      </p:sp>
      <p:sp>
        <p:nvSpPr>
          <p:cNvPr id="15" name="Oval 14"/>
          <p:cNvSpPr/>
          <p:nvPr/>
        </p:nvSpPr>
        <p:spPr>
          <a:xfrm>
            <a:off x="6336792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45034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 err="1">
                <a:latin typeface="Segoe UI"/>
              </a:rPr>
              <a:t>Identificar</a:t>
            </a:r>
            <a:r>
              <a:rPr sz="1650" b="0" dirty="0">
                <a:latin typeface="Segoe UI"/>
              </a:rPr>
              <a:t> lagunas </a:t>
            </a:r>
            <a:r>
              <a:rPr sz="1650" b="0" dirty="0" err="1">
                <a:latin typeface="Segoe UI"/>
              </a:rPr>
              <a:t>en</a:t>
            </a:r>
            <a:r>
              <a:rPr sz="1650" b="0" dirty="0">
                <a:latin typeface="Segoe UI"/>
              </a:rPr>
              <a:t> la </a:t>
            </a:r>
            <a:r>
              <a:rPr sz="1650" b="0" dirty="0" err="1">
                <a:latin typeface="Segoe UI"/>
              </a:rPr>
              <a:t>evidencia</a:t>
            </a:r>
            <a:r>
              <a:rPr sz="1650" b="0" dirty="0">
                <a:latin typeface="Segoe UI"/>
              </a:rPr>
              <a:t> y </a:t>
            </a:r>
            <a:r>
              <a:rPr sz="1650" b="0" dirty="0" err="1">
                <a:latin typeface="Segoe UI"/>
              </a:rPr>
              <a:t>proponer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líneas</a:t>
            </a:r>
            <a:r>
              <a:rPr sz="1650" b="0" dirty="0">
                <a:latin typeface="Segoe UI"/>
              </a:rPr>
              <a:t> de </a:t>
            </a:r>
            <a:r>
              <a:rPr sz="1650" b="0" dirty="0" err="1">
                <a:latin typeface="Segoe UI"/>
              </a:rPr>
              <a:t>investigación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futura</a:t>
            </a:r>
            <a:r>
              <a:rPr sz="1650" b="0" dirty="0"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8" name="Oval 1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7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DISEÑO Y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69823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Una revisión de revisiones (PECO)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67127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24127" y="2084831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 dirty="0" err="1">
                <a:latin typeface="Segoe UI Semibold"/>
              </a:rPr>
              <a:t>Diseño</a:t>
            </a:r>
            <a:r>
              <a:rPr sz="1700" b="1" dirty="0">
                <a:latin typeface="Segoe UI Semibold"/>
              </a:rPr>
              <a:t>:</a:t>
            </a:r>
            <a:r>
              <a:rPr sz="1700" b="0" dirty="0">
                <a:latin typeface="Segoe UI"/>
              </a:rPr>
              <a:t> umbrella review. La </a:t>
            </a:r>
            <a:r>
              <a:rPr sz="1700" b="0" dirty="0" err="1">
                <a:latin typeface="Segoe UI"/>
              </a:rPr>
              <a:t>unidad</a:t>
            </a:r>
            <a:r>
              <a:rPr sz="1700" b="0" dirty="0">
                <a:latin typeface="Segoe UI"/>
              </a:rPr>
              <a:t> de </a:t>
            </a:r>
            <a:r>
              <a:rPr sz="1700" b="0" dirty="0" err="1">
                <a:latin typeface="Segoe UI"/>
              </a:rPr>
              <a:t>análisis</a:t>
            </a:r>
            <a:r>
              <a:rPr sz="1700" b="0" dirty="0">
                <a:latin typeface="Segoe UI"/>
              </a:rPr>
              <a:t> es </a:t>
            </a:r>
            <a:r>
              <a:rPr sz="1700" b="0" dirty="0" err="1">
                <a:latin typeface="Segoe UI"/>
              </a:rPr>
              <a:t>el</a:t>
            </a:r>
            <a:r>
              <a:rPr sz="1700" b="0" dirty="0">
                <a:latin typeface="Segoe UI"/>
              </a:rPr>
              <a:t> meta-</a:t>
            </a:r>
            <a:r>
              <a:rPr sz="1700" b="0" dirty="0" err="1">
                <a:latin typeface="Segoe UI"/>
              </a:rPr>
              <a:t>análisis</a:t>
            </a:r>
            <a:r>
              <a:rPr sz="1700" b="0" dirty="0">
                <a:latin typeface="Segoe UI"/>
              </a:rPr>
              <a:t>, no </a:t>
            </a:r>
            <a:r>
              <a:rPr sz="1700" b="0" dirty="0" err="1">
                <a:latin typeface="Segoe UI"/>
              </a:rPr>
              <a:t>el</a:t>
            </a:r>
            <a:r>
              <a:rPr sz="1700" b="0" dirty="0">
                <a:latin typeface="Segoe UI"/>
              </a:rPr>
              <a:t> </a:t>
            </a:r>
            <a:r>
              <a:rPr sz="1700" b="0" dirty="0" err="1">
                <a:latin typeface="Segoe UI"/>
              </a:rPr>
              <a:t>estudio</a:t>
            </a:r>
            <a:r>
              <a:rPr sz="1700" b="0" dirty="0">
                <a:latin typeface="Segoe UI"/>
              </a:rPr>
              <a:t> </a:t>
            </a:r>
            <a:r>
              <a:rPr sz="1700" b="0" dirty="0" err="1">
                <a:latin typeface="Segoe UI"/>
              </a:rPr>
              <a:t>primario</a:t>
            </a:r>
            <a:r>
              <a:rPr sz="1700" b="0" dirty="0">
                <a:latin typeface="Segoe UI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1024127" y="331927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 dirty="0" err="1">
                <a:latin typeface="Segoe UI Semibold"/>
              </a:rPr>
              <a:t>Reporte</a:t>
            </a:r>
            <a:r>
              <a:rPr sz="1700" b="1" dirty="0">
                <a:latin typeface="Segoe UI Semibold"/>
              </a:rPr>
              <a:t>:</a:t>
            </a:r>
            <a:r>
              <a:rPr sz="1700" b="0" dirty="0">
                <a:latin typeface="Segoe UI"/>
              </a:rPr>
              <a:t> PRISMA 2020 y PRIOR, </a:t>
            </a:r>
            <a:r>
              <a:rPr sz="1700" b="0" dirty="0" err="1">
                <a:latin typeface="Segoe UI"/>
              </a:rPr>
              <a:t>guías</a:t>
            </a:r>
            <a:r>
              <a:rPr sz="1700" b="0" dirty="0">
                <a:latin typeface="Segoe UI"/>
              </a:rPr>
              <a:t> </a:t>
            </a:r>
            <a:r>
              <a:rPr sz="1700" b="0" dirty="0" err="1">
                <a:latin typeface="Segoe UI"/>
              </a:rPr>
              <a:t>específicas</a:t>
            </a:r>
            <a:r>
              <a:rPr sz="1700" b="0" dirty="0">
                <a:latin typeface="Segoe UI"/>
              </a:rPr>
              <a:t> para </a:t>
            </a:r>
            <a:r>
              <a:rPr sz="1700" b="0" dirty="0" err="1">
                <a:latin typeface="Segoe UI"/>
              </a:rPr>
              <a:t>revisiones</a:t>
            </a:r>
            <a:r>
              <a:rPr sz="1700" b="0" dirty="0">
                <a:latin typeface="Segoe UI"/>
              </a:rPr>
              <a:t> de </a:t>
            </a:r>
            <a:r>
              <a:rPr sz="1700" b="0" dirty="0" err="1">
                <a:latin typeface="Segoe UI"/>
              </a:rPr>
              <a:t>revisiones</a:t>
            </a:r>
            <a:r>
              <a:rPr sz="1700" b="0" dirty="0">
                <a:latin typeface="Segoe UI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63600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024127" y="455371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latin typeface="Segoe UI Semibold"/>
              </a:rPr>
              <a:t>Pregunta:</a:t>
            </a:r>
            <a:r>
              <a:rPr sz="1700" b="0">
                <a:latin typeface="Segoe UI"/>
              </a:rPr>
              <a:t> formulada en formato PECO 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6504" y="1647063"/>
            <a:ext cx="5866103" cy="4753737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800224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200" b="1" dirty="0">
                <a:solidFill>
                  <a:srgbClr val="9079C8"/>
                </a:solidFill>
                <a:latin typeface="Segoe UI Semibold"/>
              </a:rPr>
              <a:t>P</a:t>
            </a:r>
          </a:p>
          <a:p>
            <a:pPr algn="l">
              <a:spcBef>
                <a:spcPts val="200"/>
              </a:spcBef>
            </a:pPr>
            <a:r>
              <a:rPr sz="1600" b="1" dirty="0">
                <a:solidFill>
                  <a:srgbClr val="9079C8"/>
                </a:solidFill>
                <a:latin typeface="Segoe UI Semibold"/>
              </a:rPr>
              <a:t>Población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777364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b="0" dirty="0" err="1">
                <a:latin typeface="Segoe UI"/>
              </a:rPr>
              <a:t>Contexto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clínico</a:t>
            </a:r>
            <a:r>
              <a:rPr b="0" dirty="0">
                <a:latin typeface="Segoe UI"/>
              </a:rPr>
              <a:t> o de </a:t>
            </a:r>
            <a:r>
              <a:rPr b="0" dirty="0" err="1">
                <a:latin typeface="Segoe UI"/>
              </a:rPr>
              <a:t>salud</a:t>
            </a:r>
            <a:r>
              <a:rPr b="0" dirty="0">
                <a:latin typeface="Segoe UI"/>
              </a:rPr>
              <a:t>: </a:t>
            </a:r>
            <a:r>
              <a:rPr b="0" dirty="0" err="1">
                <a:latin typeface="Segoe UI"/>
              </a:rPr>
              <a:t>diagnóstico</a:t>
            </a:r>
            <a:r>
              <a:rPr b="0" dirty="0">
                <a:latin typeface="Segoe UI"/>
              </a:rPr>
              <a:t>, </a:t>
            </a:r>
            <a:r>
              <a:rPr b="0" dirty="0" err="1">
                <a:latin typeface="Segoe UI"/>
              </a:rPr>
              <a:t>enfermedad</a:t>
            </a:r>
            <a:r>
              <a:rPr b="0" dirty="0">
                <a:latin typeface="Segoe UI"/>
              </a:rPr>
              <a:t> o </a:t>
            </a:r>
            <a:r>
              <a:rPr b="0" dirty="0" err="1">
                <a:latin typeface="Segoe UI"/>
              </a:rPr>
              <a:t>riesgo</a:t>
            </a:r>
            <a:r>
              <a:rPr b="0" dirty="0">
                <a:latin typeface="Segoe UI"/>
              </a:rPr>
              <a:t>. Umbral ≥ 75 %.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852926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200" b="1" dirty="0">
                <a:solidFill>
                  <a:srgbClr val="9079C8"/>
                </a:solidFill>
                <a:latin typeface="Segoe UI Semibold"/>
              </a:rPr>
              <a:t>E</a:t>
            </a:r>
          </a:p>
          <a:p>
            <a:pPr algn="l">
              <a:spcBef>
                <a:spcPts val="200"/>
              </a:spcBef>
            </a:pPr>
            <a:r>
              <a:rPr sz="1600" b="1" dirty="0" err="1">
                <a:solidFill>
                  <a:srgbClr val="9079C8"/>
                </a:solidFill>
                <a:latin typeface="Segoe UI Semibold"/>
              </a:rPr>
              <a:t>Exposición</a:t>
            </a:r>
            <a:endParaRPr sz="1600" b="1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63840" y="2901808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b="0" dirty="0" err="1">
                <a:latin typeface="Segoe UI"/>
              </a:rPr>
              <a:t>Autoestima</a:t>
            </a:r>
            <a:r>
              <a:rPr b="0" dirty="0">
                <a:latin typeface="Segoe UI"/>
              </a:rPr>
              <a:t> y/o </a:t>
            </a:r>
            <a:r>
              <a:rPr b="0" dirty="0" err="1">
                <a:latin typeface="Segoe UI"/>
              </a:rPr>
              <a:t>autoconcepto</a:t>
            </a:r>
            <a:r>
              <a:rPr b="0" dirty="0">
                <a:latin typeface="Segoe UI"/>
              </a:rPr>
              <a:t>, </a:t>
            </a:r>
            <a:r>
              <a:rPr b="0" dirty="0" err="1">
                <a:latin typeface="Segoe UI"/>
              </a:rPr>
              <a:t>incluida</a:t>
            </a:r>
            <a:r>
              <a:rPr b="0" dirty="0">
                <a:latin typeface="Segoe UI"/>
              </a:rPr>
              <a:t> la imagen corporal, con </a:t>
            </a:r>
            <a:r>
              <a:rPr b="0" dirty="0" err="1">
                <a:latin typeface="Segoe UI"/>
              </a:rPr>
              <a:t>instrumentos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validados</a:t>
            </a:r>
            <a:r>
              <a:rPr b="0" dirty="0"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05765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200" b="1" dirty="0">
                <a:solidFill>
                  <a:srgbClr val="9079C8"/>
                </a:solidFill>
                <a:latin typeface="Segoe UI Semibold"/>
              </a:rPr>
              <a:t>C</a:t>
            </a:r>
          </a:p>
          <a:p>
            <a:pPr algn="l">
              <a:spcBef>
                <a:spcPts val="200"/>
              </a:spcBef>
            </a:pPr>
            <a:r>
              <a:rPr sz="1600" b="1" dirty="0" err="1">
                <a:solidFill>
                  <a:srgbClr val="9079C8"/>
                </a:solidFill>
                <a:latin typeface="Segoe UI Semibold"/>
              </a:rPr>
              <a:t>Comparador</a:t>
            </a:r>
            <a:endParaRPr sz="1600" b="1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63840" y="4126802"/>
            <a:ext cx="3304033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4000"/>
              </a:lnSpc>
            </a:pPr>
            <a:r>
              <a:rPr b="0" dirty="0">
                <a:latin typeface="Segoe UI"/>
              </a:rPr>
              <a:t>Flexible: </a:t>
            </a:r>
            <a:r>
              <a:rPr b="0" dirty="0" err="1">
                <a:latin typeface="Segoe UI"/>
              </a:rPr>
              <a:t>implícito</a:t>
            </a:r>
            <a:r>
              <a:rPr b="0" dirty="0">
                <a:latin typeface="Segoe UI"/>
              </a:rPr>
              <a:t> (</a:t>
            </a:r>
            <a:r>
              <a:rPr b="0" dirty="0" err="1">
                <a:latin typeface="Segoe UI"/>
              </a:rPr>
              <a:t>correlacional</a:t>
            </a:r>
            <a:r>
              <a:rPr b="0" dirty="0">
                <a:latin typeface="Segoe UI"/>
              </a:rPr>
              <a:t>) o </a:t>
            </a:r>
            <a:r>
              <a:rPr lang="es-ES" dirty="0"/>
              <a:t>control sin intervención, control activo, lista de espera o placebo </a:t>
            </a:r>
            <a:r>
              <a:rPr b="0" dirty="0">
                <a:latin typeface="Segoe UI"/>
              </a:rPr>
              <a:t>(</a:t>
            </a:r>
            <a:r>
              <a:rPr b="0" dirty="0" err="1">
                <a:latin typeface="Segoe UI"/>
              </a:rPr>
              <a:t>intervención</a:t>
            </a:r>
            <a:r>
              <a:rPr b="0" dirty="0">
                <a:latin typeface="Segoe UI"/>
              </a:rPr>
              <a:t>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210937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200" b="1" dirty="0">
                <a:solidFill>
                  <a:srgbClr val="9079C8"/>
                </a:solidFill>
                <a:latin typeface="Segoe UI Semibold"/>
              </a:rPr>
              <a:t>O</a:t>
            </a:r>
          </a:p>
          <a:p>
            <a:pPr algn="l">
              <a:spcBef>
                <a:spcPts val="200"/>
              </a:spcBef>
            </a:pPr>
            <a:r>
              <a:rPr sz="1600" b="1" dirty="0">
                <a:solidFill>
                  <a:srgbClr val="9079C8"/>
                </a:solidFill>
                <a:latin typeface="Segoe UI Semibold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347854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b="0" dirty="0">
                <a:latin typeface="Segoe UI"/>
              </a:rPr>
              <a:t>Bienestar </a:t>
            </a:r>
            <a:r>
              <a:rPr b="0" dirty="0" err="1">
                <a:latin typeface="Segoe UI"/>
              </a:rPr>
              <a:t>subjetivo</a:t>
            </a:r>
            <a:r>
              <a:rPr b="0" dirty="0">
                <a:latin typeface="Segoe UI"/>
              </a:rPr>
              <a:t>, </a:t>
            </a:r>
            <a:r>
              <a:rPr b="0" dirty="0" err="1">
                <a:latin typeface="Segoe UI"/>
              </a:rPr>
              <a:t>psicológico</a:t>
            </a:r>
            <a:r>
              <a:rPr b="0" dirty="0">
                <a:latin typeface="Segoe UI"/>
              </a:rPr>
              <a:t>, </a:t>
            </a:r>
            <a:r>
              <a:rPr lang="es-ES" dirty="0">
                <a:latin typeface="Segoe UI"/>
              </a:rPr>
              <a:t>calidad de vida y salud</a:t>
            </a:r>
            <a:r>
              <a:rPr b="0" dirty="0">
                <a:latin typeface="Segoe UI"/>
              </a:rPr>
              <a:t> o </a:t>
            </a:r>
            <a:r>
              <a:rPr b="0" dirty="0" err="1">
                <a:latin typeface="Segoe UI"/>
              </a:rPr>
              <a:t>salud</a:t>
            </a:r>
            <a:r>
              <a:rPr b="0" dirty="0">
                <a:latin typeface="Segoe UI"/>
              </a:rPr>
              <a:t> mental general.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8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BÚSQUEDA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Dónde y cómo busqué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2148840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756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4 bases primarias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624328"/>
            <a:ext cx="459028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PubMed/MEDLINE · APA PsycInfo · Scopus · Web of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" y="3538728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34655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+ 5 fuentes de literatura gris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014215"/>
            <a:ext cx="45902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PROSPERO · OSF · Google Scholar · TESEO · ProQuest Dissertations.</a:t>
            </a:r>
          </a:p>
          <a:p>
            <a:pPr algn="l">
              <a:spcBef>
                <a:spcPts val="500"/>
              </a:spcBef>
            </a:pPr>
            <a:r>
              <a:rPr sz="1350" b="0" i="1">
                <a:solidFill>
                  <a:srgbClr val="9C99A6"/>
                </a:solidFill>
                <a:latin typeface="Segoe UI"/>
              </a:rPr>
              <a:t>Reduce el sesgo de publicación.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198424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 dirty="0" err="1">
                <a:solidFill>
                  <a:srgbClr val="2E2A3A"/>
                </a:solidFill>
                <a:latin typeface="Segoe UI Semibold"/>
              </a:rPr>
              <a:t>Estrategia</a:t>
            </a:r>
            <a:r>
              <a:rPr sz="1650" b="1" dirty="0">
                <a:solidFill>
                  <a:srgbClr val="2E2A3A"/>
                </a:solidFill>
                <a:latin typeface="Segoe UI Semibold"/>
              </a:rPr>
              <a:t>: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3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bloques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unidos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AND (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exposición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× outcome ×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diseño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)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vocabulario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controlado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MeSH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, APA Thesaurus).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 dirty="0" err="1">
                <a:solidFill>
                  <a:srgbClr val="2E2A3A"/>
                </a:solidFill>
                <a:latin typeface="Segoe UI Semibold"/>
              </a:rPr>
              <a:t>Gestión</a:t>
            </a:r>
            <a:r>
              <a:rPr sz="1650" b="1" dirty="0">
                <a:solidFill>
                  <a:srgbClr val="2E2A3A"/>
                </a:solidFill>
                <a:latin typeface="Segoe UI Semibold"/>
              </a:rPr>
              <a:t>: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todos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los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registros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Rayyan,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motivo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de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exclusión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documentado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46588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2992" y="461772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 dirty="0" err="1">
                <a:solidFill>
                  <a:srgbClr val="2E2A3A"/>
                </a:solidFill>
                <a:latin typeface="Segoe UI Semibold"/>
              </a:rPr>
              <a:t>Transparencia</a:t>
            </a:r>
            <a:r>
              <a:rPr sz="1650" b="1" dirty="0">
                <a:solidFill>
                  <a:srgbClr val="2E2A3A"/>
                </a:solidFill>
                <a:latin typeface="Segoe UI Semibold"/>
              </a:rPr>
              <a:t>: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cribado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extracción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revisora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única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→ se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reconoce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como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limitación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principal.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9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EL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13 meta-análisis, mucha diversidad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meta-análisis incluidos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~415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estudios primarios agregados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7 – 114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rango de k (mediana 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 spc="120" dirty="0">
                <a:solidFill>
                  <a:srgbClr val="9079C8"/>
                </a:solidFill>
                <a:latin typeface="Segoe UI Semibold"/>
              </a:rPr>
              <a:t>POBLACIONES CUBIERTAS  (201</a:t>
            </a:r>
            <a:r>
              <a:rPr lang="es-ES" sz="1150" b="1" spc="120" dirty="0">
                <a:solidFill>
                  <a:srgbClr val="9079C8"/>
                </a:solidFill>
                <a:latin typeface="Segoe UI Semibold"/>
              </a:rPr>
              <a:t>6</a:t>
            </a:r>
            <a:r>
              <a:rPr sz="1150" b="1" spc="120" dirty="0">
                <a:solidFill>
                  <a:srgbClr val="9079C8"/>
                </a:solidFill>
                <a:latin typeface="Segoe UI Semibold"/>
              </a:rPr>
              <a:t>–2026)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227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Trastornos psiquiátricos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950208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7807" y="39227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Obesidad infantojuvenil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34256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3328" y="43068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908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reproductiva / trans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718304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76088" y="4690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orofacial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5102352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5074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4589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Víctimas de violencia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548640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54589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430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Baja autoestima clínica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5870448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8848" y="5843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11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La calidad del corpus pide cautela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Alta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057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20391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1   8 %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7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Moderada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269747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9C99A6"/>
                </a:solidFill>
                <a:latin typeface="Segoe UI"/>
              </a:rPr>
              <a:t>0   (ninguno)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5584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Baja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374135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3" y="335584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1421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Críticamente baja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032503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C9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3" y="4014215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874519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240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300" b="1">
                <a:solidFill>
                  <a:srgbClr val="FFFFFF"/>
                </a:solidFill>
                <a:latin typeface="Georgia"/>
              </a:rPr>
              <a:t>12 de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108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con calidad Baja o Críticamente baja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977639"/>
            <a:ext cx="2194560" cy="10972"/>
          </a:xfrm>
          <a:prstGeom prst="rect">
            <a:avLst/>
          </a:prstGeom>
          <a:solidFill>
            <a:srgbClr val="C9B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1605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1">
                <a:solidFill>
                  <a:srgbClr val="EDE9F8"/>
                </a:solidFill>
                <a:latin typeface="Segoe UI Semibold"/>
              </a:rPr>
              <a:t>CCA = 1,4 %  ·  solapamiento leve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57800"/>
            <a:ext cx="7315200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525780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541324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Las conclusiones requieren cautela: el patrón general se sostiene, pero las magnitudes pueden estar sobreestimadas.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12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SÍNTESIS POR BLOQUES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Cinco bloques temáticos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42032" y="196596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 Semibold"/>
              </a:rPr>
              <a:t>★ Hallazgo más robusto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9079C8"/>
                </a:solidFill>
                <a:latin typeface="Segoe UI Semibold"/>
              </a:rPr>
              <a:t>BLOQUE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mental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Baja autoestima ↔ ideación y conducta suicida (Buecker, 2025). COMET y TCC-Fennell.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9079C8"/>
                </a:solidFill>
                <a:latin typeface="Segoe UI Semibold"/>
              </a:rPr>
              <a:t>r −,26 a −,44 · k 114 · AMSTAR-2 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4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6E86A8"/>
                </a:solidFill>
                <a:latin typeface="Segoe UI Semibold"/>
              </a:rPr>
              <a:t>BLOQUE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somática / CdV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Intervención psicológica en SOP y tratamiento de la deformidad dentofacial.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E86A8"/>
                </a:solidFill>
                <a:latin typeface="Segoe UI Semibold"/>
              </a:rPr>
              <a:t>Mejoras en imagen, depresión y CdV (certeza baja).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B49A6A"/>
                </a:solidFill>
                <a:latin typeface="Segoe UI Semibold"/>
              </a:rPr>
              <a:t>BLOQUE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Obesidad pediátrica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La actividad física estructurada mejora a la vez autoestima, imagen corporal y ánimo.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49A6A"/>
                </a:solidFill>
                <a:latin typeface="Segoe UI Semibold"/>
              </a:rPr>
              <a:t>SMD ≈ 0,34 autoestima · 0,47 imagen.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C98998"/>
                </a:solidFill>
                <a:latin typeface="Segoe UI Semibold"/>
              </a:rPr>
              <a:t>BLOQUE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Imagen corporal en trastornos clínicos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Exposición corporal (TCA/TDC) y atención de afirmación de género (TGD).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98998"/>
                </a:solidFill>
                <a:latin typeface="Segoe UI Semibold"/>
              </a:rPr>
              <a:t>g −,46 a −,99 en body dissatisfaction.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 dirty="0">
                <a:solidFill>
                  <a:srgbClr val="81C193"/>
                </a:solidFill>
                <a:latin typeface="Segoe UI Semibold"/>
              </a:rPr>
              <a:t>BLOQUE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como mecanismo mediador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4C4954"/>
                </a:solidFill>
                <a:latin typeface="Segoe UI"/>
              </a:rPr>
              <a:t>MASEM (k=82): media la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relación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estigma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internalizado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→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calidad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vida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8868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Efecto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</a:t>
            </a: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indirecto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β = −,189</a:t>
            </a:r>
            <a:r>
              <a:rPr lang="es-ES" sz="1100" b="1" dirty="0">
                <a:solidFill>
                  <a:srgbClr val="9079C8"/>
                </a:solidFill>
                <a:latin typeface="Segoe UI Semibold"/>
              </a:rPr>
              <a:t>.</a:t>
            </a:r>
            <a:endParaRPr sz="1100" b="1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93024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4" y="4617720"/>
            <a:ext cx="2871216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E2A3A"/>
                </a:solidFill>
                <a:latin typeface="Segoe UI Semibold"/>
              </a:rPr>
              <a:t>Transversal: </a:t>
            </a:r>
            <a:r>
              <a:rPr sz="1300" b="0">
                <a:solidFill>
                  <a:srgbClr val="4C4954"/>
                </a:solidFill>
                <a:latin typeface="Segoe UI"/>
              </a:rPr>
              <a:t>la dirección de los efectos es consistente entre bloques pese a poblaciones y métricas distintas.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13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MENSAJES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Conclusiones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7" y="24368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latin typeface="Segoe UI"/>
              </a:rPr>
              <a:t>La </a:t>
            </a:r>
            <a:r>
              <a:rPr sz="1650" b="0" dirty="0" err="1">
                <a:latin typeface="Segoe UI"/>
              </a:rPr>
              <a:t>autoestima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predice</a:t>
            </a:r>
            <a:r>
              <a:rPr sz="1650" b="0" dirty="0">
                <a:latin typeface="Segoe UI"/>
              </a:rPr>
              <a:t> la </a:t>
            </a:r>
            <a:r>
              <a:rPr sz="1650" b="0" dirty="0" err="1">
                <a:latin typeface="Segoe UI"/>
              </a:rPr>
              <a:t>salud</a:t>
            </a:r>
            <a:r>
              <a:rPr sz="1650" b="0" dirty="0">
                <a:latin typeface="Segoe UI"/>
              </a:rPr>
              <a:t> mental </a:t>
            </a:r>
            <a:r>
              <a:rPr sz="1650" b="0" dirty="0" err="1">
                <a:latin typeface="Segoe UI"/>
              </a:rPr>
              <a:t>clínica</a:t>
            </a:r>
            <a:r>
              <a:rPr sz="1650" b="0" dirty="0">
                <a:latin typeface="Segoe UI"/>
              </a:rPr>
              <a:t> (</a:t>
            </a:r>
            <a:r>
              <a:rPr sz="1650" b="0" dirty="0" err="1">
                <a:latin typeface="Segoe UI"/>
              </a:rPr>
              <a:t>moderado-fuerte</a:t>
            </a:r>
            <a:r>
              <a:rPr sz="1650" b="0" dirty="0">
                <a:latin typeface="Segoe UI"/>
              </a:rPr>
              <a:t>), con </a:t>
            </a:r>
            <a:r>
              <a:rPr sz="1650" b="0" dirty="0" err="1">
                <a:latin typeface="Segoe UI"/>
              </a:rPr>
              <a:t>su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máximo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en</a:t>
            </a:r>
            <a:r>
              <a:rPr sz="1650" b="0" dirty="0">
                <a:latin typeface="Segoe UI"/>
              </a:rPr>
              <a:t> la </a:t>
            </a:r>
            <a:r>
              <a:rPr sz="1650" b="0" dirty="0" err="1">
                <a:latin typeface="Segoe UI"/>
              </a:rPr>
              <a:t>suicidalidad</a:t>
            </a:r>
            <a:r>
              <a:rPr sz="1650" b="0" dirty="0"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1112" y="2405407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latin typeface="Segoe UI"/>
              </a:rPr>
              <a:t>Las </a:t>
            </a:r>
            <a:r>
              <a:rPr sz="1650" b="0" dirty="0" err="1">
                <a:latin typeface="Segoe UI"/>
              </a:rPr>
              <a:t>intervenciones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sobre</a:t>
            </a:r>
            <a:r>
              <a:rPr sz="1650" b="0" dirty="0">
                <a:latin typeface="Segoe UI"/>
              </a:rPr>
              <a:t> la </a:t>
            </a:r>
            <a:r>
              <a:rPr sz="1650" b="0" dirty="0" err="1">
                <a:latin typeface="Segoe UI"/>
              </a:rPr>
              <a:t>autoestima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funcionan</a:t>
            </a:r>
            <a:r>
              <a:rPr sz="1650" b="0" dirty="0">
                <a:latin typeface="Segoe UI"/>
              </a:rPr>
              <a:t> (g 0,20–0,50) y </a:t>
            </a:r>
            <a:r>
              <a:rPr sz="1650" b="0" dirty="0" err="1">
                <a:latin typeface="Segoe UI"/>
              </a:rPr>
              <a:t>arrastran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mejoras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en</a:t>
            </a:r>
            <a:r>
              <a:rPr sz="1650" b="0" dirty="0">
                <a:latin typeface="Segoe UI"/>
              </a:rPr>
              <a:t> la </a:t>
            </a:r>
            <a:r>
              <a:rPr sz="1650" b="0" dirty="0" err="1">
                <a:latin typeface="Segoe UI"/>
              </a:rPr>
              <a:t>depresión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comórbida</a:t>
            </a:r>
            <a:r>
              <a:rPr sz="1650" b="0" dirty="0"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7" y="4401377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latin typeface="Segoe UI"/>
              </a:rPr>
              <a:t>Cuerpo, imagen y </a:t>
            </a:r>
            <a:r>
              <a:rPr sz="1650" b="0" dirty="0" err="1">
                <a:latin typeface="Segoe UI"/>
              </a:rPr>
              <a:t>autoestima</a:t>
            </a:r>
            <a:r>
              <a:rPr sz="1650" b="0" dirty="0">
                <a:latin typeface="Segoe UI"/>
              </a:rPr>
              <a:t> van </a:t>
            </a:r>
            <a:r>
              <a:rPr sz="1650" b="0" dirty="0" err="1">
                <a:latin typeface="Segoe UI"/>
              </a:rPr>
              <a:t>juntos</a:t>
            </a:r>
            <a:r>
              <a:rPr sz="1650" b="0" dirty="0">
                <a:latin typeface="Segoe UI"/>
              </a:rPr>
              <a:t>; la </a:t>
            </a:r>
            <a:r>
              <a:rPr sz="1650" b="0" dirty="0" err="1">
                <a:latin typeface="Segoe UI"/>
              </a:rPr>
              <a:t>obesidad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pediátrica</a:t>
            </a:r>
            <a:r>
              <a:rPr sz="1650" b="0" dirty="0">
                <a:latin typeface="Segoe UI"/>
              </a:rPr>
              <a:t> es </a:t>
            </a:r>
            <a:r>
              <a:rPr sz="1650" b="0" dirty="0" err="1">
                <a:latin typeface="Segoe UI"/>
              </a:rPr>
              <a:t>el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ejemplo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más</a:t>
            </a:r>
            <a:r>
              <a:rPr sz="1650" b="0" dirty="0">
                <a:latin typeface="Segoe UI"/>
              </a:rPr>
              <a:t> maduro.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444855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latin typeface="Segoe UI"/>
              </a:rPr>
              <a:t>La imagen corporal es </a:t>
            </a:r>
            <a:r>
              <a:rPr sz="1650" b="0" dirty="0" err="1">
                <a:latin typeface="Segoe UI"/>
              </a:rPr>
              <a:t>modificable</a:t>
            </a:r>
            <a:r>
              <a:rPr sz="1650" b="0" dirty="0">
                <a:latin typeface="Segoe UI"/>
              </a:rPr>
              <a:t> con </a:t>
            </a:r>
            <a:r>
              <a:rPr sz="1650" b="0" dirty="0" err="1">
                <a:latin typeface="Segoe UI"/>
              </a:rPr>
              <a:t>intervenciones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específicas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en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poblaciones</a:t>
            </a:r>
            <a:r>
              <a:rPr sz="1650" b="0" dirty="0">
                <a:latin typeface="Segoe UI"/>
              </a:rPr>
              <a:t> </a:t>
            </a:r>
            <a:r>
              <a:rPr sz="1650" b="0" dirty="0" err="1">
                <a:latin typeface="Segoe UI"/>
              </a:rPr>
              <a:t>clínicas</a:t>
            </a:r>
            <a:r>
              <a:rPr sz="1650" b="0" dirty="0"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064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9C99A6"/>
                </a:solidFill>
                <a:latin typeface="Segoe UI"/>
              </a:rPr>
              <a:t>Coherente con Zell &amp; Johansson (2025) para salud mental (r ≈ ,42), pero con foco y matiz clínico.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14 / 18</a:t>
            </a: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3CD8A53B-BDA9-818A-45A5-E6950855AB3C}"/>
              </a:ext>
            </a:extLst>
          </p:cNvPr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CFC21AAE-3A51-B48F-E51A-1FD98532C3B5}"/>
              </a:ext>
            </a:extLst>
          </p:cNvPr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IMPLICACIONES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Tres implicaciones para la práctica clínica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7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Diana de intervención valiosa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00" b="0">
                <a:latin typeface="Segoe UI"/>
              </a:rPr>
              <a:t>La autoestima se modifica con psicoterapia (COMET, TCC de Fennell, protocolos para TCA), con beneficio modesto pero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5736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Integrar cuerpo, imagen y autoestima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00" b="0" dirty="0">
                <a:latin typeface="Segoe UI"/>
              </a:rPr>
              <a:t>En </a:t>
            </a:r>
            <a:r>
              <a:rPr sz="1600" b="0" dirty="0" err="1">
                <a:latin typeface="Segoe UI"/>
              </a:rPr>
              <a:t>salud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física</a:t>
            </a:r>
            <a:r>
              <a:rPr sz="1600" b="0" dirty="0">
                <a:latin typeface="Segoe UI"/>
              </a:rPr>
              <a:t> y </a:t>
            </a:r>
            <a:r>
              <a:rPr sz="1600" b="0" dirty="0" err="1">
                <a:latin typeface="Segoe UI"/>
              </a:rPr>
              <a:t>condiciones</a:t>
            </a:r>
            <a:r>
              <a:rPr sz="1600" b="0" dirty="0">
                <a:latin typeface="Segoe UI"/>
              </a:rPr>
              <a:t> que </a:t>
            </a:r>
            <a:r>
              <a:rPr sz="1600" b="0" dirty="0" err="1">
                <a:latin typeface="Segoe UI"/>
              </a:rPr>
              <a:t>afectan</a:t>
            </a:r>
            <a:r>
              <a:rPr sz="1600" b="0" dirty="0">
                <a:latin typeface="Segoe UI"/>
              </a:rPr>
              <a:t> al </a:t>
            </a:r>
            <a:r>
              <a:rPr sz="1600" b="0" dirty="0" err="1">
                <a:latin typeface="Segoe UI"/>
              </a:rPr>
              <a:t>cuerpo</a:t>
            </a:r>
            <a:r>
              <a:rPr sz="1600" b="0" dirty="0">
                <a:latin typeface="Segoe UI"/>
              </a:rPr>
              <a:t>, imagen y </a:t>
            </a:r>
            <a:r>
              <a:rPr sz="1600" b="0" dirty="0" err="1">
                <a:latin typeface="Segoe UI"/>
              </a:rPr>
              <a:t>autoestima</a:t>
            </a:r>
            <a:r>
              <a:rPr sz="1600" b="0" dirty="0">
                <a:latin typeface="Segoe UI"/>
              </a:rPr>
              <a:t> son </a:t>
            </a:r>
            <a:r>
              <a:rPr sz="1600" b="0" dirty="0" err="1">
                <a:latin typeface="Segoe UI"/>
              </a:rPr>
              <a:t>dianas</a:t>
            </a:r>
            <a:r>
              <a:rPr sz="1600" b="0" dirty="0">
                <a:latin typeface="Segoe UI"/>
              </a:rPr>
              <a:t>, no solo </a:t>
            </a:r>
            <a:r>
              <a:rPr sz="1600" b="0" dirty="0" err="1">
                <a:latin typeface="Segoe UI"/>
              </a:rPr>
              <a:t>desenlaces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secundarios</a:t>
            </a:r>
            <a:r>
              <a:rPr sz="1600" b="0" dirty="0">
                <a:latin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Cribado en prevención del suicidio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00" b="0" dirty="0" err="1">
                <a:latin typeface="Segoe UI"/>
              </a:rPr>
              <a:t>Medir</a:t>
            </a:r>
            <a:r>
              <a:rPr sz="1600" b="0" dirty="0">
                <a:latin typeface="Segoe UI"/>
              </a:rPr>
              <a:t> la </a:t>
            </a:r>
            <a:r>
              <a:rPr sz="1600" b="0" dirty="0" err="1">
                <a:latin typeface="Segoe UI"/>
              </a:rPr>
              <a:t>autoestima</a:t>
            </a:r>
            <a:r>
              <a:rPr sz="1600" b="0" dirty="0">
                <a:latin typeface="Segoe UI"/>
              </a:rPr>
              <a:t> (RSES) e </a:t>
            </a:r>
            <a:r>
              <a:rPr sz="1600" b="0" dirty="0" err="1">
                <a:latin typeface="Segoe UI"/>
              </a:rPr>
              <a:t>intervenir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sobre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ella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refuerza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los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programas</a:t>
            </a:r>
            <a:r>
              <a:rPr sz="1600" b="0" dirty="0">
                <a:latin typeface="Segoe UI"/>
              </a:rPr>
              <a:t> de </a:t>
            </a:r>
            <a:r>
              <a:rPr sz="1600" b="0" dirty="0" err="1">
                <a:latin typeface="Segoe UI"/>
              </a:rPr>
              <a:t>prevención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en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poblaciones</a:t>
            </a:r>
            <a:r>
              <a:rPr sz="1600" b="0" dirty="0">
                <a:latin typeface="Segoe UI"/>
              </a:rPr>
              <a:t> de </a:t>
            </a:r>
            <a:r>
              <a:rPr sz="1600" b="0" dirty="0" err="1">
                <a:latin typeface="Segoe UI"/>
              </a:rPr>
              <a:t>riesgo</a:t>
            </a:r>
            <a:r>
              <a:rPr sz="1600" b="0" dirty="0">
                <a:latin typeface="Segoe U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15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LIMITACIONES · Y LÍNEAS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Lo que hay que tener en cuenta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 dirty="0"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1550" b="1" dirty="0">
                <a:solidFill>
                  <a:srgbClr val="2E2A3A"/>
                </a:solidFill>
                <a:latin typeface="Segoe UI Semibold"/>
              </a:rPr>
              <a:t>Limitaciones de</a:t>
            </a:r>
            <a:r>
              <a:rPr sz="1550" b="1" dirty="0">
                <a:solidFill>
                  <a:srgbClr val="2E2A3A"/>
                </a:solidFill>
                <a:latin typeface="Segoe UI Semibold"/>
              </a:rPr>
              <a:t> la </a:t>
            </a:r>
            <a:r>
              <a:rPr sz="1550" b="1" dirty="0" err="1">
                <a:solidFill>
                  <a:srgbClr val="2E2A3A"/>
                </a:solidFill>
                <a:latin typeface="Segoe UI Semibold"/>
              </a:rPr>
              <a:t>evidencia</a:t>
            </a:r>
            <a:endParaRPr sz="155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42415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600" b="0" dirty="0">
                <a:latin typeface="Segoe UI"/>
              </a:rPr>
              <a:t>12 de 13 con AMSTAR-2 baja o </a:t>
            </a:r>
            <a:r>
              <a:rPr sz="1600" b="0" dirty="0" err="1">
                <a:latin typeface="Segoe UI"/>
              </a:rPr>
              <a:t>crítica</a:t>
            </a:r>
            <a:endParaRPr sz="1600" b="0" dirty="0">
              <a:latin typeface="Segoe UI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42415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600" b="0" dirty="0" err="1">
                <a:latin typeface="Segoe UI"/>
              </a:rPr>
              <a:t>Heterogeneidad</a:t>
            </a:r>
            <a:r>
              <a:rPr sz="1600" b="0" dirty="0">
                <a:latin typeface="Segoe UI"/>
              </a:rPr>
              <a:t> de </a:t>
            </a:r>
            <a:r>
              <a:rPr sz="1600" b="0" dirty="0" err="1">
                <a:latin typeface="Segoe UI"/>
              </a:rPr>
              <a:t>instrumentos</a:t>
            </a:r>
            <a:r>
              <a:rPr sz="1600" b="0" dirty="0">
                <a:latin typeface="Segoe UI"/>
              </a:rPr>
              <a:t> y </a:t>
            </a:r>
            <a:r>
              <a:rPr sz="1600" b="0" dirty="0" err="1">
                <a:latin typeface="Segoe UI"/>
              </a:rPr>
              <a:t>métricas</a:t>
            </a:r>
            <a:endParaRPr sz="1600" b="0" dirty="0">
              <a:latin typeface="Segoe UI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42415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600" b="0">
                <a:latin typeface="Segoe UI"/>
              </a:rPr>
              <a:t>Cobertura desigual: a veces 1 revisión por bloque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1550" b="1" dirty="0">
                <a:solidFill>
                  <a:srgbClr val="2E2A3A"/>
                </a:solidFill>
                <a:latin typeface="Segoe UI Semibold"/>
              </a:rPr>
              <a:t>Limitaciones d</a:t>
            </a:r>
            <a:r>
              <a:rPr sz="1550" b="1" dirty="0" err="1">
                <a:solidFill>
                  <a:srgbClr val="2E2A3A"/>
                </a:solidFill>
                <a:latin typeface="Segoe UI Semibold"/>
              </a:rPr>
              <a:t>el</a:t>
            </a:r>
            <a:r>
              <a:rPr sz="1550" b="1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1550" b="1" dirty="0" err="1">
                <a:solidFill>
                  <a:srgbClr val="2E2A3A"/>
                </a:solidFill>
                <a:latin typeface="Segoe UI Semibold"/>
              </a:rPr>
              <a:t>proceso</a:t>
            </a:r>
            <a:endParaRPr sz="155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64024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600" b="0" dirty="0" err="1">
                <a:latin typeface="Segoe UI"/>
              </a:rPr>
              <a:t>Revisora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única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en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todo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el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proceso</a:t>
            </a:r>
            <a:endParaRPr sz="1600" b="0" dirty="0">
              <a:latin typeface="Segoe UI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764024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1768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600" b="0">
                <a:latin typeface="Segoe UI"/>
              </a:rPr>
              <a:t>Idiomas inglés / español</a:t>
            </a:r>
          </a:p>
        </p:txBody>
      </p:sp>
      <p:sp>
        <p:nvSpPr>
          <p:cNvPr id="22" name="Oval 21"/>
          <p:cNvSpPr/>
          <p:nvPr/>
        </p:nvSpPr>
        <p:spPr>
          <a:xfrm>
            <a:off x="4764024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1768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600" b="0">
                <a:latin typeface="Segoe UI"/>
              </a:rPr>
              <a:t>Ventana temporal 2016–2026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600" b="0">
                <a:latin typeface="Segoe UI"/>
              </a:rPr>
              <a:t>Sin gradación formal 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23376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Líneas futuras</a:t>
            </a:r>
          </a:p>
        </p:txBody>
      </p:sp>
      <p:sp>
        <p:nvSpPr>
          <p:cNvPr id="29" name="Oval 28"/>
          <p:cNvSpPr/>
          <p:nvPr/>
        </p:nvSpPr>
        <p:spPr>
          <a:xfrm>
            <a:off x="8485632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600" b="0" dirty="0">
                <a:latin typeface="Segoe UI"/>
              </a:rPr>
              <a:t>Meta-</a:t>
            </a:r>
            <a:r>
              <a:rPr sz="1600" b="0" dirty="0" err="1">
                <a:latin typeface="Segoe UI"/>
              </a:rPr>
              <a:t>análisis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prerregistrados</a:t>
            </a:r>
            <a:r>
              <a:rPr sz="1600" b="0" dirty="0">
                <a:latin typeface="Segoe UI"/>
              </a:rPr>
              <a:t> y </a:t>
            </a:r>
            <a:r>
              <a:rPr sz="1600" b="0" dirty="0" err="1">
                <a:latin typeface="Segoe UI"/>
              </a:rPr>
              <a:t>mejor</a:t>
            </a:r>
            <a:r>
              <a:rPr sz="1600" b="0" dirty="0">
                <a:latin typeface="Segoe UI"/>
              </a:rPr>
              <a:t> </a:t>
            </a:r>
            <a:r>
              <a:rPr sz="1600" b="0" dirty="0" err="1">
                <a:latin typeface="Segoe UI"/>
              </a:rPr>
              <a:t>reportados</a:t>
            </a:r>
            <a:endParaRPr sz="1600" b="0" dirty="0">
              <a:latin typeface="Segoe UI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485632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3376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600" b="0">
                <a:latin typeface="Segoe UI"/>
              </a:rPr>
              <a:t>Estudios longitudinales (causalidad)</a:t>
            </a:r>
          </a:p>
        </p:txBody>
      </p:sp>
      <p:sp>
        <p:nvSpPr>
          <p:cNvPr id="33" name="Oval 32"/>
          <p:cNvSpPr/>
          <p:nvPr/>
        </p:nvSpPr>
        <p:spPr>
          <a:xfrm>
            <a:off x="8485632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3376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600" b="0">
                <a:latin typeface="Segoe UI"/>
              </a:rPr>
              <a:t>Autoconcepto multidimensional</a:t>
            </a:r>
          </a:p>
        </p:txBody>
      </p:sp>
      <p:sp>
        <p:nvSpPr>
          <p:cNvPr id="35" name="Oval 34"/>
          <p:cNvSpPr/>
          <p:nvPr/>
        </p:nvSpPr>
        <p:spPr>
          <a:xfrm>
            <a:off x="8485632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23376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600" b="0" dirty="0">
                <a:latin typeface="Segoe UI"/>
              </a:rPr>
              <a:t>Personas </a:t>
            </a:r>
            <a:r>
              <a:rPr sz="1600" b="0" dirty="0" err="1">
                <a:latin typeface="Segoe UI"/>
              </a:rPr>
              <a:t>mayores</a:t>
            </a:r>
            <a:r>
              <a:rPr sz="1600" b="0" dirty="0">
                <a:latin typeface="Segoe UI"/>
              </a:rPr>
              <a:t> y </a:t>
            </a:r>
            <a:r>
              <a:rPr sz="1600" b="0" dirty="0" err="1">
                <a:latin typeface="Segoe UI"/>
              </a:rPr>
              <a:t>contextos</a:t>
            </a:r>
            <a:r>
              <a:rPr sz="1600" b="0" dirty="0">
                <a:latin typeface="Segoe UI"/>
              </a:rPr>
              <a:t> no </a:t>
            </a:r>
            <a:r>
              <a:rPr sz="1600" b="0" dirty="0" err="1">
                <a:latin typeface="Segoe UI"/>
              </a:rPr>
              <a:t>occidentales</a:t>
            </a:r>
            <a:endParaRPr sz="1600" b="0" dirty="0">
              <a:latin typeface="Segoe U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8" name="Oval 3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16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En una frase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E2A3A"/>
                </a:solidFill>
                <a:latin typeface="Segoe UI"/>
              </a:rPr>
              <a:t>Con la cautela que impone la calidad del corpus, la evidencia apoya que la </a:t>
            </a:r>
            <a:r>
              <a:rPr sz="2000" b="1">
                <a:solidFill>
                  <a:srgbClr val="6E57B0"/>
                </a:solidFill>
                <a:latin typeface="Segoe UI Semibold"/>
              </a:rPr>
              <a:t>autoestima y el autoconcepto no son desenlaces secundarios, sino objetivos de intervención valiosos</a:t>
            </a:r>
            <a:r>
              <a:rPr sz="2000" b="0">
                <a:solidFill>
                  <a:srgbClr val="2E2A3A"/>
                </a:solidFill>
                <a:latin typeface="Segoe UI"/>
              </a:rPr>
              <a:t> en psicología clínica y de la salud.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376732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 dirty="0">
                <a:solidFill>
                  <a:srgbClr val="4C4954"/>
                </a:solidFill>
                <a:latin typeface="Segoe UI"/>
              </a:rPr>
              <a:t>Baja </a:t>
            </a:r>
            <a:r>
              <a:rPr sz="150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500" b="0" dirty="0">
                <a:solidFill>
                  <a:srgbClr val="4C4954"/>
                </a:solidFill>
                <a:latin typeface="Segoe UI"/>
              </a:rPr>
              <a:t> ↔ </a:t>
            </a:r>
            <a:r>
              <a:rPr sz="1500" b="0" dirty="0" err="1">
                <a:solidFill>
                  <a:srgbClr val="4C4954"/>
                </a:solidFill>
                <a:latin typeface="Segoe UI"/>
              </a:rPr>
              <a:t>suicidalidad</a:t>
            </a:r>
            <a:r>
              <a:rPr sz="1500" b="0" dirty="0">
                <a:solidFill>
                  <a:srgbClr val="4C4954"/>
                </a:solidFill>
                <a:latin typeface="Segoe UI"/>
              </a:rPr>
              <a:t>: </a:t>
            </a:r>
            <a:r>
              <a:rPr sz="1500" b="0" dirty="0" err="1">
                <a:solidFill>
                  <a:srgbClr val="4C4954"/>
                </a:solidFill>
                <a:latin typeface="Segoe UI"/>
              </a:rPr>
              <a:t>el</a:t>
            </a:r>
            <a:r>
              <a:rPr sz="15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C4954"/>
                </a:solidFill>
                <a:latin typeface="Segoe UI"/>
              </a:rPr>
              <a:t>hallazgo</a:t>
            </a:r>
            <a:r>
              <a:rPr sz="15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C4954"/>
                </a:solidFill>
                <a:latin typeface="Segoe UI"/>
              </a:rPr>
              <a:t>más</a:t>
            </a:r>
            <a:r>
              <a:rPr sz="15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4C4954"/>
                </a:solidFill>
                <a:latin typeface="Segoe UI"/>
              </a:rPr>
              <a:t>robusto</a:t>
            </a:r>
            <a:r>
              <a:rPr sz="150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5" y="4608576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Las intervenciones sobre la autoestima son eficaces.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5449824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actividad física mejora autoestima e imagen en obesidad infantojuvenil.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76732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imagen corporal es modificable en poblaciones clínicas.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608576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autoestima media la relación estigma → calidad de vida.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544982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E2A3A"/>
                </a:solidFill>
                <a:latin typeface="Segoe UI Semibold"/>
              </a:rPr>
              <a:t>Justifica integrar estos constructos en los protocolos de tratamiento.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17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96528" y="3307080"/>
            <a:ext cx="4206240" cy="4206240"/>
          </a:xfrm>
          <a:prstGeom prst="ellipse">
            <a:avLst/>
          </a:prstGeom>
          <a:solidFill>
            <a:srgbClr val="9079C8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" y="2331720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100" b="0">
                <a:solidFill>
                  <a:srgbClr val="2E2A3A"/>
                </a:solidFill>
                <a:latin typeface="Georgia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>
                <a:solidFill>
                  <a:srgbClr val="4C4954"/>
                </a:solidFill>
                <a:latin typeface="Segoe UI"/>
              </a:rPr>
              <a:t>Quedo a su disposición para sus preguntas.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9C99A6"/>
                </a:solidFill>
                <a:latin typeface="Segoe UI"/>
              </a:rPr>
              <a:t>Denisa Antoneac   ·   Tutora: Raquel Rodríguez Carvajal   ·   Universidad Autónoma de Madrid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Criterios de inclusión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0000" y="1830000"/>
            <a:ext cx="60000" cy="60000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000" y="1650000"/>
            <a:ext cx="1028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(a) </a:t>
            </a:r>
            <a:r>
              <a:rPr sz="1600" b="0">
                <a:solidFill>
                  <a:srgbClr val="4C4954"/>
                </a:solidFill>
              </a:rPr>
              <a:t>Meta-análisis cuantitativo en revista científica con peer review</a:t>
            </a:r>
          </a:p>
        </p:txBody>
      </p:sp>
      <p:sp>
        <p:nvSpPr>
          <p:cNvPr id="8" name="Oval 7"/>
          <p:cNvSpPr/>
          <p:nvPr/>
        </p:nvSpPr>
        <p:spPr>
          <a:xfrm>
            <a:off x="800000" y="2480000"/>
            <a:ext cx="60000" cy="60000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0000" y="2270000"/>
            <a:ext cx="10300000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0000" y="2300000"/>
            <a:ext cx="1028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(b) </a:t>
            </a:r>
            <a:r>
              <a:rPr sz="1600" b="0">
                <a:solidFill>
                  <a:srgbClr val="4C4954"/>
                </a:solidFill>
              </a:rPr>
              <a:t>Autoestima o autoconcepto como variable principal</a:t>
            </a:r>
          </a:p>
        </p:txBody>
      </p:sp>
      <p:sp>
        <p:nvSpPr>
          <p:cNvPr id="11" name="Oval 10"/>
          <p:cNvSpPr/>
          <p:nvPr/>
        </p:nvSpPr>
        <p:spPr>
          <a:xfrm>
            <a:off x="800000" y="3130000"/>
            <a:ext cx="60000" cy="60000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0000" y="2920000"/>
            <a:ext cx="10300000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0000" y="2950000"/>
            <a:ext cx="1028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(c) </a:t>
            </a:r>
            <a:r>
              <a:rPr sz="1600" b="0">
                <a:solidFill>
                  <a:srgbClr val="4C4954"/>
                </a:solidFill>
              </a:rPr>
              <a:t>Indicador de bienestar adicional (subjetivo, psicológico, HRQoL o salud mental)</a:t>
            </a:r>
          </a:p>
        </p:txBody>
      </p:sp>
      <p:sp>
        <p:nvSpPr>
          <p:cNvPr id="14" name="Oval 13"/>
          <p:cNvSpPr/>
          <p:nvPr/>
        </p:nvSpPr>
        <p:spPr>
          <a:xfrm>
            <a:off x="800000" y="3780000"/>
            <a:ext cx="60000" cy="60000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0000" y="3570000"/>
            <a:ext cx="10300000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000" y="3600000"/>
            <a:ext cx="1028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(d) </a:t>
            </a:r>
            <a:r>
              <a:rPr sz="1600" b="0">
                <a:solidFill>
                  <a:srgbClr val="4C4954"/>
                </a:solidFill>
              </a:rPr>
              <a:t>Población clínica/salud ≥75% (o análisis estratificados)</a:t>
            </a:r>
          </a:p>
        </p:txBody>
      </p:sp>
      <p:sp>
        <p:nvSpPr>
          <p:cNvPr id="17" name="Oval 16"/>
          <p:cNvSpPr/>
          <p:nvPr/>
        </p:nvSpPr>
        <p:spPr>
          <a:xfrm>
            <a:off x="800000" y="4430000"/>
            <a:ext cx="60000" cy="60000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000" y="4220000"/>
            <a:ext cx="10300000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000" y="4250000"/>
            <a:ext cx="1028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(e) </a:t>
            </a:r>
            <a:r>
              <a:rPr sz="1600" b="0">
                <a:solidFill>
                  <a:srgbClr val="4C4954"/>
                </a:solidFill>
              </a:rPr>
              <a:t>Publicado en inglés o español</a:t>
            </a:r>
          </a:p>
        </p:txBody>
      </p:sp>
      <p:sp>
        <p:nvSpPr>
          <p:cNvPr id="20" name="Oval 19"/>
          <p:cNvSpPr/>
          <p:nvPr/>
        </p:nvSpPr>
        <p:spPr>
          <a:xfrm>
            <a:off x="800000" y="5080000"/>
            <a:ext cx="60000" cy="60000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000" y="4870000"/>
            <a:ext cx="10300000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000" y="4900000"/>
            <a:ext cx="1028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(f) </a:t>
            </a:r>
            <a:r>
              <a:rPr sz="1600" b="0">
                <a:solidFill>
                  <a:srgbClr val="4C4954"/>
                </a:solidFill>
              </a:rPr>
              <a:t>Publicado entre 1 enero 2016 y 25 mayo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24" name="Oval 23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C99A6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1064</TotalTime>
  <Words>1744</Words>
  <Application>Microsoft Office PowerPoint</Application>
  <PresentationFormat>Panorámica</PresentationFormat>
  <Paragraphs>283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Georgia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ANTONEAC Denisa</dc:creator>
  <cp:lastModifiedBy>Denisa Antoneac</cp:lastModifiedBy>
  <cp:revision>4</cp:revision>
  <dcterms:created xsi:type="dcterms:W3CDTF">2026-06-15T14:36:44Z</dcterms:created>
  <dcterms:modified xsi:type="dcterms:W3CDTF">2026-06-22T00:31:24Z</dcterms:modified>
</cp:coreProperties>
</file>