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60" dirty="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590" y="1522432"/>
            <a:ext cx="8110219" cy="31746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</a:pPr>
            <a:r>
              <a:rPr sz="40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bienestar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: Una revisión paraguas en psicología clínica y de la salud (2016-2026)</a:t>
            </a:r>
            <a:endParaRPr sz="40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6862" y="4484438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069931" y="2729683"/>
            <a:ext cx="2494044" cy="2304186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9620366" y="3011368"/>
            <a:ext cx="2494044" cy="2277839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8766809" y="1174496"/>
            <a:ext cx="2986495" cy="3002062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spc="140" dirty="0">
                <a:solidFill>
                  <a:srgbClr val="9079C8"/>
                </a:solidFill>
                <a:latin typeface="Segoe UI Semibold"/>
              </a:rPr>
              <a:t>MARCO TEÓRICO · </a:t>
            </a:r>
            <a:r>
              <a:rPr lang="es-ES" sz="2000" b="1" spc="140" dirty="0">
                <a:solidFill>
                  <a:srgbClr val="9079C8"/>
                </a:solidFill>
                <a:latin typeface="Segoe UI Semibold"/>
              </a:rPr>
              <a:t>SELF</a:t>
            </a:r>
            <a:endParaRPr sz="2000" b="1" spc="140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1161288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676268" y="5237000"/>
            <a:ext cx="147080" cy="1104198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dirty="0" err="1">
                <a:solidFill>
                  <a:srgbClr val="2E2A3A"/>
                </a:solidFill>
              </a:rPr>
              <a:t>Falacias</a:t>
            </a:r>
            <a:r>
              <a:rPr lang="es-ES" sz="1400" b="1" dirty="0">
                <a:solidFill>
                  <a:srgbClr val="2E2A3A"/>
                </a:solidFill>
              </a:rPr>
              <a:t>:</a:t>
            </a:r>
          </a:p>
          <a:p>
            <a:pPr algn="l"/>
            <a:endParaRPr lang="es-ES" sz="700" b="1" dirty="0">
              <a:solidFill>
                <a:srgbClr val="2E2A3A"/>
              </a:solidFill>
            </a:endParaRPr>
          </a:p>
          <a:p>
            <a:pPr algn="l"/>
            <a:r>
              <a:rPr sz="1400" b="1" dirty="0">
                <a:solidFill>
                  <a:srgbClr val="4C4954"/>
                </a:solidFill>
              </a:rPr>
              <a:t>Jingle</a:t>
            </a:r>
            <a:r>
              <a:rPr sz="1400" b="0" dirty="0">
                <a:solidFill>
                  <a:srgbClr val="4C4954"/>
                </a:solidFill>
              </a:rPr>
              <a:t>: </a:t>
            </a:r>
            <a:r>
              <a:rPr sz="1400" b="0" dirty="0" err="1">
                <a:solidFill>
                  <a:srgbClr val="4C4954"/>
                </a:solidFill>
              </a:rPr>
              <a:t>mismo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nombre</a:t>
            </a:r>
            <a:r>
              <a:rPr sz="1400" b="0" dirty="0">
                <a:solidFill>
                  <a:srgbClr val="4C4954"/>
                </a:solidFill>
              </a:rPr>
              <a:t>, </a:t>
            </a:r>
            <a:r>
              <a:rPr sz="1400" b="0" dirty="0" err="1">
                <a:solidFill>
                  <a:srgbClr val="4C4954"/>
                </a:solidFill>
              </a:rPr>
              <a:t>constructos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distintos</a:t>
            </a:r>
            <a:r>
              <a:rPr sz="1400" b="0" dirty="0">
                <a:solidFill>
                  <a:srgbClr val="4C4954"/>
                </a:solidFill>
              </a:rPr>
              <a:t>.  </a:t>
            </a:r>
            <a:endParaRPr lang="es-ES" sz="1400" b="0" dirty="0">
              <a:solidFill>
                <a:srgbClr val="4C4954"/>
              </a:solidFill>
            </a:endParaRPr>
          </a:p>
          <a:p>
            <a:pPr algn="l"/>
            <a:endParaRPr lang="es-ES" sz="200" b="0" dirty="0">
              <a:solidFill>
                <a:srgbClr val="4C4954"/>
              </a:solidFill>
            </a:endParaRPr>
          </a:p>
          <a:p>
            <a:pPr algn="l"/>
            <a:r>
              <a:rPr sz="1400" b="1" dirty="0">
                <a:solidFill>
                  <a:srgbClr val="4C4954"/>
                </a:solidFill>
              </a:rPr>
              <a:t>Jangle</a:t>
            </a:r>
            <a:r>
              <a:rPr sz="1400" b="0" dirty="0">
                <a:solidFill>
                  <a:srgbClr val="4C4954"/>
                </a:solidFill>
              </a:rPr>
              <a:t>: </a:t>
            </a:r>
            <a:r>
              <a:rPr sz="1400" b="0" dirty="0" err="1">
                <a:solidFill>
                  <a:srgbClr val="4C4954"/>
                </a:solidFill>
              </a:rPr>
              <a:t>mismo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constructo</a:t>
            </a:r>
            <a:r>
              <a:rPr sz="1400" b="0" dirty="0">
                <a:solidFill>
                  <a:srgbClr val="4C4954"/>
                </a:solidFill>
              </a:rPr>
              <a:t>, </a:t>
            </a:r>
            <a:r>
              <a:rPr sz="1400" b="0" dirty="0" err="1">
                <a:solidFill>
                  <a:srgbClr val="4C4954"/>
                </a:solidFill>
              </a:rPr>
              <a:t>nombres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distintos</a:t>
            </a:r>
            <a:r>
              <a:rPr sz="1400" b="0" dirty="0">
                <a:solidFill>
                  <a:srgbClr val="4C4954"/>
                </a:solidFill>
              </a:rPr>
              <a:t>.  El </a:t>
            </a:r>
            <a:r>
              <a:rPr sz="1400" b="0" dirty="0" err="1">
                <a:solidFill>
                  <a:srgbClr val="4C4954"/>
                </a:solidFill>
              </a:rPr>
              <a:t>instrumento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elegido</a:t>
            </a:r>
            <a:r>
              <a:rPr sz="1400" b="0" dirty="0">
                <a:solidFill>
                  <a:srgbClr val="4C4954"/>
                </a:solidFill>
              </a:rPr>
              <a:t> define que </a:t>
            </a:r>
            <a:r>
              <a:rPr sz="1400" b="0" dirty="0" err="1">
                <a:solidFill>
                  <a:srgbClr val="4C4954"/>
                </a:solidFill>
              </a:rPr>
              <a:t>constructo</a:t>
            </a:r>
            <a:r>
              <a:rPr sz="1400" b="0" dirty="0">
                <a:solidFill>
                  <a:srgbClr val="4C4954"/>
                </a:solidFill>
              </a:rPr>
              <a:t> se </a:t>
            </a:r>
            <a:r>
              <a:rPr sz="1400" b="0" dirty="0" err="1">
                <a:solidFill>
                  <a:srgbClr val="4C4954"/>
                </a:solidFill>
              </a:rPr>
              <a:t>mide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realmente</a:t>
            </a:r>
            <a:r>
              <a:rPr sz="1400" b="0" dirty="0">
                <a:solidFill>
                  <a:srgbClr val="4C4954"/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2000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160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160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304938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2499870" y="3766876"/>
            <a:ext cx="17974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El </a:t>
            </a:r>
            <a:r>
              <a:rPr sz="1600" b="0" dirty="0" err="1">
                <a:solidFill>
                  <a:srgbClr val="4C4954"/>
                </a:solidFill>
              </a:rPr>
              <a:t>yo-espejo</a:t>
            </a:r>
            <a:r>
              <a:rPr sz="1600" b="0" dirty="0">
                <a:solidFill>
                  <a:srgbClr val="4C4954"/>
                </a:solidFill>
              </a:rPr>
              <a:t>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nos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vemos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como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nos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ven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los</a:t>
            </a:r>
            <a:r>
              <a:rPr sz="1600" b="0" dirty="0">
                <a:solidFill>
                  <a:srgbClr val="4C4954"/>
                </a:solidFill>
              </a:rPr>
              <a:t> dem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>
                <a:solidFill>
                  <a:srgbClr val="4C4954"/>
                </a:solidFill>
              </a:rPr>
              <a:t>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en</a:t>
            </a:r>
            <a:r>
              <a:rPr sz="1600" b="0" dirty="0">
                <a:solidFill>
                  <a:srgbClr val="4C4954"/>
                </a:solidFill>
              </a:rPr>
              <a:t> la </a:t>
            </a:r>
            <a:r>
              <a:rPr sz="1600" b="0" dirty="0" err="1">
                <a:solidFill>
                  <a:srgbClr val="4C4954"/>
                </a:solidFill>
              </a:rPr>
              <a:t>interacci</a:t>
            </a:r>
            <a:r>
              <a:rPr lang="es-ES" sz="1600" b="0" dirty="0" err="1">
                <a:solidFill>
                  <a:srgbClr val="4C4954"/>
                </a:solidFill>
              </a:rPr>
              <a:t>ó</a:t>
            </a:r>
            <a:r>
              <a:rPr sz="1600" b="0" dirty="0">
                <a:solidFill>
                  <a:srgbClr val="4C4954"/>
                </a:solidFill>
              </a:rPr>
              <a:t>n</a:t>
            </a: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est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 err="1">
                <a:solidFill>
                  <a:srgbClr val="4C4954"/>
                </a:solidFill>
              </a:rPr>
              <a:t>ndar</a:t>
            </a:r>
            <a:r>
              <a:rPr sz="1600" b="0" dirty="0">
                <a:solidFill>
                  <a:srgbClr val="4C4954"/>
                </a:solidFill>
              </a:rPr>
              <a:t> de la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autoestima</a:t>
            </a:r>
            <a:r>
              <a:rPr sz="1600" b="0" dirty="0">
                <a:solidFill>
                  <a:srgbClr val="4C4954"/>
                </a:solidFill>
              </a:rPr>
              <a:t>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798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4C4954"/>
                </a:solidFill>
              </a:rPr>
              <a:t>Autoconcepto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y </a:t>
            </a:r>
            <a:r>
              <a:rPr sz="1600" b="0" dirty="0" err="1">
                <a:solidFill>
                  <a:srgbClr val="4C4954"/>
                </a:solidFill>
              </a:rPr>
              <a:t>jer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 err="1">
                <a:solidFill>
                  <a:srgbClr val="4C4954"/>
                </a:solidFill>
              </a:rPr>
              <a:t>rquico</a:t>
            </a:r>
            <a:r>
              <a:rPr sz="1600" b="0" dirty="0">
                <a:solidFill>
                  <a:srgbClr val="4C4954"/>
                </a:solidFill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La </a:t>
            </a:r>
            <a:r>
              <a:rPr sz="1600" b="0" dirty="0" err="1">
                <a:solidFill>
                  <a:srgbClr val="4C4954"/>
                </a:solidFill>
              </a:rPr>
              <a:t>alta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autoestima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no causa </a:t>
            </a:r>
            <a:r>
              <a:rPr sz="1600" b="0" dirty="0" err="1">
                <a:solidFill>
                  <a:srgbClr val="4C4954"/>
                </a:solidFill>
              </a:rPr>
              <a:t>todo</a:t>
            </a:r>
            <a:r>
              <a:rPr sz="1600" b="0" dirty="0">
                <a:solidFill>
                  <a:srgbClr val="4C4954"/>
                </a:solidFill>
              </a:rPr>
              <a:t>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pide</a:t>
            </a:r>
            <a:r>
              <a:rPr sz="1600" b="0" dirty="0">
                <a:solidFill>
                  <a:srgbClr val="4C4954"/>
                </a:solidFill>
              </a:rPr>
              <a:t> m</a:t>
            </a:r>
            <a:r>
              <a:rPr lang="es-ES" sz="1600" dirty="0">
                <a:solidFill>
                  <a:srgbClr val="4C4954"/>
                </a:solidFill>
              </a:rPr>
              <a:t>á</a:t>
            </a:r>
            <a:r>
              <a:rPr sz="1600" b="0" dirty="0">
                <a:solidFill>
                  <a:srgbClr val="4C4954"/>
                </a:solidFill>
              </a:rPr>
              <a:t>s rigor.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Emociones positivas, funcionamiento psicológico y social </a:t>
            </a:r>
            <a:r>
              <a:rPr b="0" dirty="0">
                <a:latin typeface="Segoe UI"/>
              </a:rPr>
              <a:t>(Keyes).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2843" y="521208"/>
            <a:ext cx="438134" cy="18288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116809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b="1" spc="140" dirty="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13 meta-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análisis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0924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350" b="0" dirty="0">
                <a:latin typeface="Segoe UI"/>
              </a:rPr>
              <a:t>0</a:t>
            </a:r>
            <a:endParaRPr sz="1350" b="0" dirty="0"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11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12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 err="1">
                <a:solidFill>
                  <a:srgbClr val="9C99A6"/>
                </a:solidFill>
                <a:latin typeface="Segoe UI"/>
              </a:rPr>
              <a:t>Autoestima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9C99A6"/>
                </a:solidFill>
                <a:latin typeface="Segoe UI"/>
              </a:rPr>
              <a:t>autoconcepto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y </a:t>
            </a:r>
            <a:r>
              <a:rPr sz="1050" b="0" dirty="0" err="1">
                <a:solidFill>
                  <a:srgbClr val="9C99A6"/>
                </a:solidFill>
                <a:latin typeface="Segoe UI"/>
              </a:rPr>
              <a:t>bienestar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Limitaciones d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e la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evidencia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 err="1">
                <a:solidFill>
                  <a:srgbClr val="2E2A3A"/>
                </a:solidFill>
                <a:latin typeface="Segoe UI Semibold"/>
              </a:rPr>
              <a:t>Limitacciones</a:t>
            </a:r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 d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el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proceso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50000"/>
            <a:ext cx="74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9808" y="1680000"/>
            <a:ext cx="448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2A3A"/>
                </a:solidFill>
              </a:rPr>
              <a:t>Marco Teorico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808" y="2040000"/>
            <a:ext cx="44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70000"/>
            <a:ext cx="74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9808" y="2500000"/>
            <a:ext cx="448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2A3A"/>
                </a:solidFill>
              </a:rPr>
              <a:t>Justificacion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808" y="2860000"/>
            <a:ext cx="44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4954"/>
                </a:solidFill>
              </a:rPr>
              <a:t>Por que este trabajo y que anade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0000"/>
            <a:ext cx="74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9808" y="3320000"/>
            <a:ext cx="448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9808" y="3680000"/>
            <a:ext cx="44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4954"/>
                </a:solidFill>
              </a:rPr>
              <a:t>General y cuatro especificos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650000"/>
            <a:ext cx="74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0000" y="1680000"/>
            <a:ext cx="448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2A3A"/>
                </a:solidFill>
              </a:rPr>
              <a:t>Metodo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0000" y="2040000"/>
            <a:ext cx="44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4954"/>
                </a:solidFill>
              </a:rPr>
              <a:t>Diseno PECO, busqueda y seleccion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470000"/>
            <a:ext cx="74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0000" y="2500000"/>
            <a:ext cx="448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0000" y="2860000"/>
            <a:ext cx="44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4954"/>
                </a:solidFill>
              </a:rPr>
              <a:t>Corpus, calidad AMSTAR-2 y sintesis por bloques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3290000"/>
            <a:ext cx="74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0000" y="3320000"/>
            <a:ext cx="448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2A3A"/>
                </a:solidFill>
              </a:rPr>
              <a:t>Discusion y Conclusiones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0000" y="3680000"/>
            <a:ext cx="44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4954"/>
                </a:solidFill>
              </a:rPr>
              <a:t>Implicaciones clinicas, limitaciones y lineas futuras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0000" y="1650000"/>
            <a:ext cx="13716" cy="2460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1675</Words>
  <Application>Microsoft Office PowerPoint</Application>
  <PresentationFormat>Panorámica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4</cp:revision>
  <dcterms:created xsi:type="dcterms:W3CDTF">2026-06-15T14:36:44Z</dcterms:created>
  <dcterms:modified xsi:type="dcterms:W3CDTF">2026-06-21T22:05:56Z</dcterms:modified>
</cp:coreProperties>
</file>