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2" r:id="rId2"/>
    <p:sldId id="289" r:id="rId22"/>
    <p:sldId id="274" r:id="rId3"/>
    <p:sldId id="275" r:id="rId4"/>
    <p:sldId id="276" r:id="rId5"/>
    <p:sldId id="277" r:id="rId6"/>
    <p:sldId id="278" r:id="rId7"/>
    <p:sldId id="279" r:id="rId8"/>
    <p:sldId id="280" r:id="rId9"/>
    <p:sldId id="281" r:id="rId10"/>
    <p:sldId id="282" r:id="rId11"/>
    <p:sldId id="283" r:id="rId12"/>
    <p:sldId id="284" r:id="rId13"/>
    <p:sldId id="285" r:id="rId14"/>
    <p:sldId id="286" r:id="rId15"/>
    <p:sldId id="287" r:id="rId16"/>
    <p:sldId id="288" r:id="rId17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EBF8"/>
    <a:srgbClr val="9079C8"/>
    <a:srgbClr val="81C193"/>
    <a:srgbClr val="C7E3CF"/>
    <a:srgbClr val="A0D0AE"/>
    <a:srgbClr val="E4EFF4"/>
    <a:srgbClr val="CADFE8"/>
    <a:srgbClr val="BCD7E2"/>
    <a:srgbClr val="B6D4E0"/>
    <a:srgbClr val="D8EC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67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3D5FDF-A3D5-5F34-253B-734012A667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EA55F8A-3D4B-80E0-7718-4ECFCDE0B7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18C577A-864F-AC43-BDD1-52AFEBC62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47015-7F4A-4C41-B618-B3138CAFA7DE}" type="datetimeFigureOut">
              <a:rPr lang="es-ES" smtClean="0"/>
              <a:t>21/06/2026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64DC1B6-95CC-60D3-A142-4FDBFAF1D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8F50E08-3C46-1724-5F22-C3DE7B0BF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59A3A-70C6-4255-A508-C52BA91157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431405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B8D51F-8745-5989-BADE-3E4FBB306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344A640-DD3D-090A-2EB0-364CB4014A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CBA0E76-586F-8FB7-C9AA-F989F2B110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47015-7F4A-4C41-B618-B3138CAFA7DE}" type="datetimeFigureOut">
              <a:rPr lang="es-ES" smtClean="0"/>
              <a:t>21/06/2026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0D0ACF6-C4CC-6460-3D90-8233E5061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4B038B6-5708-C572-A5A9-B6AC1A824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59A3A-70C6-4255-A508-C52BA91157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422852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4982ED-4B4C-A476-B91E-C82581E9B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DBA329D-A43B-AD8A-36C2-BD7684D304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1E59425-A3C8-7BCC-D501-2AD50DB36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47015-7F4A-4C41-B618-B3138CAFA7DE}" type="datetimeFigureOut">
              <a:rPr lang="es-ES" smtClean="0"/>
              <a:t>21/06/2026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565390F-1438-8197-775E-76AB58D7C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4FCA2E1-5004-5636-21D7-79ED35C4C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59A3A-70C6-4255-A508-C52BA91157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859372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DD77A1-36B7-A121-D13A-E627111DE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16B2431-6B63-2BE0-9B63-C263569923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3D68665-D3F7-9AF2-8095-12F99EAC1E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CCA533C-0511-2B14-8547-FAA9DBCEC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47015-7F4A-4C41-B618-B3138CAFA7DE}" type="datetimeFigureOut">
              <a:rPr lang="es-ES" smtClean="0"/>
              <a:t>21/06/2026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00C1B29-F60A-C2BE-7B4F-A9A6FC3AD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27D3B77-1CA6-2A64-6E96-1E2BD9A0F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59A3A-70C6-4255-A508-C52BA91157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494084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B5E797-7FA1-BDC0-AE68-8BFFF4E14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7B5079D-4E3A-2A62-A403-619D1122F5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8FF5908-0730-5A83-32BE-A014DAE82D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716D5A5-A890-7712-F985-52338E5163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6373603-84EE-A022-ABBD-71827EEDCC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487520F-33C1-D95B-F6D4-016E83CF5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47015-7F4A-4C41-B618-B3138CAFA7DE}" type="datetimeFigureOut">
              <a:rPr lang="es-ES" smtClean="0"/>
              <a:t>21/06/2026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6294278-2708-A57A-ADCF-C56F2F07E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71B8572-FAC5-ED55-FA47-0192185CF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59A3A-70C6-4255-A508-C52BA91157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78668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531848-2829-9F9C-4676-B91EF2B69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907F3EA-F2EB-5A72-DC49-BBA9CA94B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47015-7F4A-4C41-B618-B3138CAFA7DE}" type="datetimeFigureOut">
              <a:rPr lang="es-ES" smtClean="0"/>
              <a:t>21/06/2026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85C662C-B7D1-1154-D4DD-03F9B7308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6AA1152-E2A2-D0A1-8D77-10D881607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59A3A-70C6-4255-A508-C52BA91157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558018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F496F8E-B21D-6734-BC2B-2BD6A1EFF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47015-7F4A-4C41-B618-B3138CAFA7DE}" type="datetimeFigureOut">
              <a:rPr lang="es-ES" smtClean="0"/>
              <a:t>21/06/2026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340D74F-1B16-887D-AC8A-B5B0222CE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D62B128-6B4E-0175-7E28-F5AB437E3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59A3A-70C6-4255-A508-C52BA91157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759477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554523-99D4-E3A9-DB10-029E7722F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431BB3B-5EA6-32F5-ACF5-9A96456471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608B475-D975-07CD-A756-AF03957E50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A315CBD-ECB6-7D1C-6C0F-88C58504E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47015-7F4A-4C41-B618-B3138CAFA7DE}" type="datetimeFigureOut">
              <a:rPr lang="es-ES" smtClean="0"/>
              <a:t>21/06/2026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BAC05C1-E72E-E384-7404-9D1F6207C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A553829-3C0B-DBBC-FB00-636758EE3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59A3A-70C6-4255-A508-C52BA91157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039497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D00C01-A378-5453-6040-5C13741E9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BCF92E1-5FCE-E1BE-D1E3-EA229B9767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6F23B9A-EA5D-96D2-9A26-FE2A3A2BE3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AF945A4-DBC0-ACB4-0D5E-BE52EDA31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47015-7F4A-4C41-B618-B3138CAFA7DE}" type="datetimeFigureOut">
              <a:rPr lang="es-ES" smtClean="0"/>
              <a:t>21/06/2026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6B0453F-A267-8E74-5F68-47A626BF1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C35F6AC-C32E-1B10-F0BD-A2996788A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59A3A-70C6-4255-A508-C52BA91157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29667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9769E0-FCBE-DC4B-92C3-6E950D6BD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F36BAC5-50BC-75DA-311C-EB1C3364C8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3EDF2E8-79CB-4C9D-D79F-86112591E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47015-7F4A-4C41-B618-B3138CAFA7DE}" type="datetimeFigureOut">
              <a:rPr lang="es-ES" smtClean="0"/>
              <a:t>21/06/2026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5B2389E-1137-DD3F-3610-AC819FBA8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90B71AB-3E09-67F9-1E91-22F7A53A9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59A3A-70C6-4255-A508-C52BA91157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869154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83CB471-ABEE-6608-7FCE-AD9286ED23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B1ADE6B-D5E8-033F-1B04-1836749A55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3E578A2-BA9E-01DE-0EA2-AB99A17FA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47015-7F4A-4C41-B618-B3138CAFA7DE}" type="datetimeFigureOut">
              <a:rPr lang="es-ES" smtClean="0"/>
              <a:t>21/06/2026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3EE6C3A-825A-7E10-6C40-2554902C1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8F803E2-6D62-1B8D-44C8-ADC477F63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59A3A-70C6-4255-A508-C52BA91157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0292042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93C3D77-555A-403D-A2D8-308E85228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2029EA2-CF81-A317-245B-51281819C9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C4CB46B-B5AF-0FB0-F172-F5DB1D238B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247015-7F4A-4C41-B618-B3138CAFA7DE}" type="datetimeFigureOut">
              <a:rPr lang="es-ES" smtClean="0"/>
              <a:t>21/06/2026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F4DA2A7-6390-3AC1-D929-A2EBD06D51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9523703-E6CA-FBAF-9956-C073E18AEA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A59A3A-70C6-4255-A508-C52BA91157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257330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41248" y="1051560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600" b="1" spc="160" dirty="0">
                <a:solidFill>
                  <a:srgbClr val="9C99A6"/>
                </a:solidFill>
                <a:latin typeface="Segoe UI Semibold"/>
              </a:rPr>
              <a:t>UNIVERSIDAD AUTÓNOMA DE MADRID   ·   FACULTAD DE PSICOLOGÍA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6590" y="1522432"/>
            <a:ext cx="8110219" cy="317468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04000"/>
              </a:lnSpc>
            </a:pPr>
            <a:r>
              <a:rPr sz="4000" b="0" dirty="0" err="1">
                <a:solidFill>
                  <a:srgbClr val="2E2A3A"/>
                </a:solidFill>
                <a:latin typeface="Georgia"/>
              </a:rPr>
              <a:t>Cómo</a:t>
            </a:r>
            <a:r>
              <a:rPr sz="4000" b="0" dirty="0">
                <a:solidFill>
                  <a:srgbClr val="2E2A3A"/>
                </a:solidFill>
                <a:latin typeface="Georgia"/>
              </a:rPr>
              <a:t> </a:t>
            </a:r>
            <a:r>
              <a:rPr sz="4000" b="0" dirty="0" err="1">
                <a:solidFill>
                  <a:srgbClr val="2E2A3A"/>
                </a:solidFill>
                <a:latin typeface="Georgia"/>
              </a:rPr>
              <a:t>afectan</a:t>
            </a:r>
            <a:r>
              <a:rPr sz="4000" b="0" dirty="0">
                <a:solidFill>
                  <a:srgbClr val="2E2A3A"/>
                </a:solidFill>
                <a:latin typeface="Georgia"/>
              </a:rPr>
              <a:t> la </a:t>
            </a:r>
            <a:r>
              <a:rPr sz="4000" b="0" dirty="0" err="1">
                <a:solidFill>
                  <a:srgbClr val="2E2A3A"/>
                </a:solidFill>
                <a:latin typeface="Georgia"/>
              </a:rPr>
              <a:t>autoestima</a:t>
            </a:r>
            <a:r>
              <a:rPr sz="4000" b="0" dirty="0">
                <a:solidFill>
                  <a:srgbClr val="2E2A3A"/>
                </a:solidFill>
                <a:latin typeface="Georgia"/>
              </a:rPr>
              <a:t> </a:t>
            </a:r>
            <a:r>
              <a:rPr lang="es-ES" sz="4000" b="0" dirty="0">
                <a:solidFill>
                  <a:srgbClr val="2E2A3A"/>
                </a:solidFill>
                <a:latin typeface="Georgia"/>
              </a:rPr>
              <a:t> </a:t>
            </a:r>
            <a:r>
              <a:rPr lang="es-ES" sz="4000" dirty="0">
                <a:solidFill>
                  <a:srgbClr val="2E2A3A"/>
                </a:solidFill>
                <a:latin typeface="Georgia"/>
              </a:rPr>
              <a:t>y </a:t>
            </a:r>
            <a:r>
              <a:rPr sz="4000" b="0" dirty="0" err="1">
                <a:solidFill>
                  <a:srgbClr val="2E2A3A"/>
                </a:solidFill>
                <a:latin typeface="Georgia"/>
              </a:rPr>
              <a:t>el</a:t>
            </a:r>
            <a:r>
              <a:rPr sz="4000" b="0" dirty="0">
                <a:solidFill>
                  <a:srgbClr val="2E2A3A"/>
                </a:solidFill>
                <a:latin typeface="Georgia"/>
              </a:rPr>
              <a:t> </a:t>
            </a:r>
            <a:r>
              <a:rPr sz="4000" b="0" dirty="0" err="1">
                <a:solidFill>
                  <a:srgbClr val="2E2A3A"/>
                </a:solidFill>
                <a:latin typeface="Georgia"/>
              </a:rPr>
              <a:t>autoconcepto</a:t>
            </a:r>
            <a:r>
              <a:rPr sz="4000" b="0" dirty="0">
                <a:solidFill>
                  <a:srgbClr val="2E2A3A"/>
                </a:solidFill>
                <a:latin typeface="Georgia"/>
              </a:rPr>
              <a:t> al </a:t>
            </a:r>
            <a:r>
              <a:rPr sz="4000" b="0" dirty="0" err="1">
                <a:solidFill>
                  <a:srgbClr val="2E2A3A"/>
                </a:solidFill>
                <a:latin typeface="Georgia"/>
              </a:rPr>
              <a:t>bienestar</a:t>
            </a:r>
            <a:r>
              <a:rPr lang="es-ES" sz="4000" b="0" dirty="0">
                <a:solidFill>
                  <a:srgbClr val="2E2A3A"/>
                </a:solidFill>
                <a:latin typeface="Georgia"/>
              </a:rPr>
              <a:t>: Una revisión paraguas en psicología clínica y de la salud (2016-2026)</a:t>
            </a:r>
            <a:endParaRPr sz="4000" b="0" dirty="0">
              <a:solidFill>
                <a:srgbClr val="2E2A3A"/>
              </a:solidFill>
              <a:latin typeface="Georgia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56862" y="4484438"/>
            <a:ext cx="1188720" cy="77724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2000" y="4759549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600" b="1" spc="140" dirty="0">
                <a:solidFill>
                  <a:srgbClr val="9C99A6"/>
                </a:solidFill>
                <a:latin typeface="Segoe UI Semibold"/>
              </a:rPr>
              <a:t>AUTORA</a:t>
            </a:r>
            <a:endParaRPr sz="1200" b="1" spc="140" dirty="0">
              <a:solidFill>
                <a:srgbClr val="9C99A6"/>
              </a:solidFill>
              <a:latin typeface="Segoe UI Semibold"/>
            </a:endParaRPr>
          </a:p>
          <a:p>
            <a:pPr algn="l">
              <a:spcBef>
                <a:spcPts val="200"/>
              </a:spcBef>
            </a:pPr>
            <a:r>
              <a:rPr b="0" dirty="0">
                <a:solidFill>
                  <a:srgbClr val="2E2A3A"/>
                </a:solidFill>
                <a:latin typeface="Segoe UI"/>
              </a:rPr>
              <a:t>Denisa Antoneac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51200" y="4761527"/>
            <a:ext cx="457200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 spc="140" dirty="0">
                <a:solidFill>
                  <a:srgbClr val="9C99A6"/>
                </a:solidFill>
                <a:latin typeface="Segoe UI Semibold"/>
              </a:rPr>
              <a:t>TUTORA ACADÉMICA</a:t>
            </a:r>
          </a:p>
          <a:p>
            <a:pPr algn="l">
              <a:spcBef>
                <a:spcPts val="200"/>
              </a:spcBef>
            </a:pPr>
            <a:r>
              <a:rPr b="0" dirty="0">
                <a:solidFill>
                  <a:srgbClr val="2E2A3A"/>
                </a:solidFill>
                <a:latin typeface="Segoe UI"/>
              </a:rPr>
              <a:t>Raquel Rodríguez Carvajal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9140" y="5461000"/>
            <a:ext cx="324612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907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1" dirty="0" err="1">
                <a:solidFill>
                  <a:srgbClr val="6E57B0"/>
                </a:solidFill>
                <a:latin typeface="Segoe UI Semibold"/>
              </a:rPr>
              <a:t>Revisión</a:t>
            </a:r>
            <a:r>
              <a:rPr sz="1400" b="1" dirty="0">
                <a:solidFill>
                  <a:srgbClr val="6E57B0"/>
                </a:solidFill>
                <a:latin typeface="Segoe UI Semibold"/>
              </a:rPr>
              <a:t> </a:t>
            </a:r>
            <a:r>
              <a:rPr sz="1400" b="1" dirty="0" err="1">
                <a:solidFill>
                  <a:srgbClr val="6E57B0"/>
                </a:solidFill>
                <a:latin typeface="Segoe UI Semibold"/>
              </a:rPr>
              <a:t>sistemática</a:t>
            </a:r>
            <a:r>
              <a:rPr sz="1400" b="1" dirty="0">
                <a:solidFill>
                  <a:srgbClr val="6E57B0"/>
                </a:solidFill>
                <a:latin typeface="Segoe UI Semibold"/>
              </a:rPr>
              <a:t> · Umbrella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9140" y="6198675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0" dirty="0" err="1">
                <a:solidFill>
                  <a:srgbClr val="9C99A6"/>
                </a:solidFill>
                <a:latin typeface="Segoe UI"/>
              </a:rPr>
              <a:t>Máster</a:t>
            </a:r>
            <a:r>
              <a:rPr sz="1400" b="0" dirty="0">
                <a:solidFill>
                  <a:srgbClr val="9C99A6"/>
                </a:solidFill>
                <a:latin typeface="Segoe UI"/>
              </a:rPr>
              <a:t> Universitario </a:t>
            </a:r>
            <a:r>
              <a:rPr sz="1400" b="0" dirty="0" err="1">
                <a:solidFill>
                  <a:srgbClr val="9C99A6"/>
                </a:solidFill>
                <a:latin typeface="Segoe UI"/>
              </a:rPr>
              <a:t>en</a:t>
            </a:r>
            <a:r>
              <a:rPr sz="1400" b="0" dirty="0">
                <a:solidFill>
                  <a:srgbClr val="9C99A6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9C99A6"/>
                </a:solidFill>
                <a:latin typeface="Segoe UI"/>
              </a:rPr>
              <a:t>Psicología</a:t>
            </a:r>
            <a:r>
              <a:rPr sz="1400" b="0" dirty="0">
                <a:solidFill>
                  <a:srgbClr val="9C99A6"/>
                </a:solidFill>
                <a:latin typeface="Segoe UI"/>
              </a:rPr>
              <a:t> General Sanitaria · </a:t>
            </a:r>
            <a:r>
              <a:rPr sz="1400" b="0" dirty="0" err="1">
                <a:solidFill>
                  <a:srgbClr val="9C99A6"/>
                </a:solidFill>
                <a:latin typeface="Segoe UI"/>
              </a:rPr>
              <a:t>Convocatoria</a:t>
            </a:r>
            <a:r>
              <a:rPr sz="1400" b="0" dirty="0">
                <a:solidFill>
                  <a:srgbClr val="9C99A6"/>
                </a:solidFill>
                <a:latin typeface="Segoe UI"/>
              </a:rPr>
              <a:t> de </a:t>
            </a:r>
            <a:r>
              <a:rPr sz="1400" b="0" dirty="0" err="1">
                <a:solidFill>
                  <a:srgbClr val="9C99A6"/>
                </a:solidFill>
                <a:latin typeface="Segoe UI"/>
              </a:rPr>
              <a:t>junio</a:t>
            </a:r>
            <a:r>
              <a:rPr sz="1400" b="0" dirty="0">
                <a:solidFill>
                  <a:srgbClr val="9C99A6"/>
                </a:solidFill>
                <a:latin typeface="Segoe UI"/>
              </a:rPr>
              <a:t> de 2026</a:t>
            </a:r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51D57788-F4BD-73FB-9C96-D2A669879588}"/>
              </a:ext>
            </a:extLst>
          </p:cNvPr>
          <p:cNvSpPr/>
          <p:nvPr/>
        </p:nvSpPr>
        <p:spPr>
          <a:xfrm>
            <a:off x="8069931" y="2729683"/>
            <a:ext cx="2494044" cy="2304186"/>
          </a:xfrm>
          <a:prstGeom prst="ellipse">
            <a:avLst/>
          </a:prstGeom>
          <a:solidFill>
            <a:srgbClr val="B07EBD">
              <a:alpha val="18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EB831CC8-6A79-6883-B834-0ACB2D7A9156}"/>
              </a:ext>
            </a:extLst>
          </p:cNvPr>
          <p:cNvSpPr/>
          <p:nvPr/>
        </p:nvSpPr>
        <p:spPr>
          <a:xfrm>
            <a:off x="9620366" y="3011368"/>
            <a:ext cx="2494044" cy="2277839"/>
          </a:xfrm>
          <a:prstGeom prst="ellipse">
            <a:avLst/>
          </a:prstGeom>
          <a:solidFill>
            <a:srgbClr val="D17A98">
              <a:alpha val="15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08216AD5-0047-938A-A66C-CD7DDAEA5CEB}"/>
              </a:ext>
            </a:extLst>
          </p:cNvPr>
          <p:cNvSpPr/>
          <p:nvPr/>
        </p:nvSpPr>
        <p:spPr>
          <a:xfrm>
            <a:off x="8766809" y="1174496"/>
            <a:ext cx="2986495" cy="3002062"/>
          </a:xfrm>
          <a:prstGeom prst="ellipse">
            <a:avLst/>
          </a:prstGeom>
          <a:solidFill>
            <a:srgbClr val="9F8FD0">
              <a:alpha val="20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6000" y="528066"/>
            <a:ext cx="374902" cy="176022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2000" b="1" spc="140" dirty="0">
                <a:solidFill>
                  <a:srgbClr val="9079C8"/>
                </a:solidFill>
                <a:latin typeface="Segoe UI Semibold"/>
              </a:rPr>
              <a:t>MARCO TEÓRICO · </a:t>
            </a:r>
            <a:r>
              <a:rPr lang="es-ES" sz="2000" b="1" spc="140" dirty="0">
                <a:solidFill>
                  <a:srgbClr val="9079C8"/>
                </a:solidFill>
                <a:latin typeface="Segoe UI Semibold"/>
              </a:rPr>
              <a:t>SELF</a:t>
            </a:r>
            <a:endParaRPr sz="2000" b="1" spc="140" dirty="0">
              <a:solidFill>
                <a:srgbClr val="9079C8"/>
              </a:solidFill>
              <a:latin typeface="Segoe UI Semibol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0">
                <a:solidFill>
                  <a:srgbClr val="2E2A3A"/>
                </a:solidFill>
                <a:latin typeface="Segoe UI Semibold"/>
              </a:rPr>
              <a:t>Un siglo de estudio del self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596000" y="3410712"/>
            <a:ext cx="9000000" cy="27432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 sz="2000"/>
          </a:p>
        </p:txBody>
      </p:sp>
      <p:sp>
        <p:nvSpPr>
          <p:cNvPr id="23" name="Rounded Rectangle 22"/>
          <p:cNvSpPr/>
          <p:nvPr/>
        </p:nvSpPr>
        <p:spPr>
          <a:xfrm>
            <a:off x="896888" y="5212080"/>
            <a:ext cx="10725912" cy="1161288"/>
          </a:xfrm>
          <a:prstGeom prst="roundRect">
            <a:avLst>
              <a:gd name="adj" fmla="val 8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 sz="2400"/>
          </a:p>
        </p:txBody>
      </p:sp>
      <p:sp>
        <p:nvSpPr>
          <p:cNvPr id="24" name="Rectangle 23"/>
          <p:cNvSpPr/>
          <p:nvPr/>
        </p:nvSpPr>
        <p:spPr>
          <a:xfrm>
            <a:off x="676268" y="5237000"/>
            <a:ext cx="147080" cy="1104198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42415" y="5330000"/>
            <a:ext cx="10177272" cy="57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 dirty="0" err="1">
                <a:solidFill>
                  <a:srgbClr val="2E2A3A"/>
                </a:solidFill>
              </a:rPr>
              <a:t>Falacias</a:t>
            </a:r>
            <a:r>
              <a:rPr lang="es-ES" sz="1400" b="1" dirty="0">
                <a:solidFill>
                  <a:srgbClr val="2E2A3A"/>
                </a:solidFill>
              </a:rPr>
              <a:t>:</a:t>
            </a:r>
          </a:p>
          <a:p>
            <a:pPr algn="l"/>
            <a:endParaRPr lang="es-ES" sz="700" b="1" dirty="0">
              <a:solidFill>
                <a:srgbClr val="2E2A3A"/>
              </a:solidFill>
            </a:endParaRPr>
          </a:p>
          <a:p>
            <a:pPr algn="l"/>
            <a:r>
              <a:rPr sz="1400" b="1" dirty="0">
                <a:solidFill>
                  <a:srgbClr val="4C4954"/>
                </a:solidFill>
              </a:rPr>
              <a:t>Jingle</a:t>
            </a:r>
            <a:r>
              <a:rPr sz="1400" b="0" dirty="0">
                <a:solidFill>
                  <a:srgbClr val="4C4954"/>
                </a:solidFill>
              </a:rPr>
              <a:t>: </a:t>
            </a:r>
            <a:r>
              <a:rPr sz="1400" b="0" dirty="0" err="1">
                <a:solidFill>
                  <a:srgbClr val="4C4954"/>
                </a:solidFill>
              </a:rPr>
              <a:t>mismo</a:t>
            </a:r>
            <a:r>
              <a:rPr sz="1400" b="0" dirty="0">
                <a:solidFill>
                  <a:srgbClr val="4C4954"/>
                </a:solidFill>
              </a:rPr>
              <a:t> </a:t>
            </a:r>
            <a:r>
              <a:rPr sz="1400" b="0" dirty="0" err="1">
                <a:solidFill>
                  <a:srgbClr val="4C4954"/>
                </a:solidFill>
              </a:rPr>
              <a:t>nombre</a:t>
            </a:r>
            <a:r>
              <a:rPr sz="1400" b="0" dirty="0">
                <a:solidFill>
                  <a:srgbClr val="4C4954"/>
                </a:solidFill>
              </a:rPr>
              <a:t>, </a:t>
            </a:r>
            <a:r>
              <a:rPr sz="1400" b="0" dirty="0" err="1">
                <a:solidFill>
                  <a:srgbClr val="4C4954"/>
                </a:solidFill>
              </a:rPr>
              <a:t>constructos</a:t>
            </a:r>
            <a:r>
              <a:rPr sz="1400" b="0" dirty="0">
                <a:solidFill>
                  <a:srgbClr val="4C4954"/>
                </a:solidFill>
              </a:rPr>
              <a:t> </a:t>
            </a:r>
            <a:r>
              <a:rPr sz="1400" b="0" dirty="0" err="1">
                <a:solidFill>
                  <a:srgbClr val="4C4954"/>
                </a:solidFill>
              </a:rPr>
              <a:t>distintos</a:t>
            </a:r>
            <a:r>
              <a:rPr sz="1400" b="0" dirty="0">
                <a:solidFill>
                  <a:srgbClr val="4C4954"/>
                </a:solidFill>
              </a:rPr>
              <a:t>.  </a:t>
            </a:r>
            <a:endParaRPr lang="es-ES" sz="1400" b="0" dirty="0">
              <a:solidFill>
                <a:srgbClr val="4C4954"/>
              </a:solidFill>
            </a:endParaRPr>
          </a:p>
          <a:p>
            <a:pPr algn="l"/>
            <a:endParaRPr lang="es-ES" sz="200" b="0" dirty="0">
              <a:solidFill>
                <a:srgbClr val="4C4954"/>
              </a:solidFill>
            </a:endParaRPr>
          </a:p>
          <a:p>
            <a:pPr algn="l"/>
            <a:r>
              <a:rPr sz="1400" b="1" dirty="0">
                <a:solidFill>
                  <a:srgbClr val="4C4954"/>
                </a:solidFill>
              </a:rPr>
              <a:t>Jangle</a:t>
            </a:r>
            <a:r>
              <a:rPr sz="1400" b="0" dirty="0">
                <a:solidFill>
                  <a:srgbClr val="4C4954"/>
                </a:solidFill>
              </a:rPr>
              <a:t>: </a:t>
            </a:r>
            <a:r>
              <a:rPr sz="1400" b="0" dirty="0" err="1">
                <a:solidFill>
                  <a:srgbClr val="4C4954"/>
                </a:solidFill>
              </a:rPr>
              <a:t>mismo</a:t>
            </a:r>
            <a:r>
              <a:rPr sz="1400" b="0" dirty="0">
                <a:solidFill>
                  <a:srgbClr val="4C4954"/>
                </a:solidFill>
              </a:rPr>
              <a:t> </a:t>
            </a:r>
            <a:r>
              <a:rPr sz="1400" b="0" dirty="0" err="1">
                <a:solidFill>
                  <a:srgbClr val="4C4954"/>
                </a:solidFill>
              </a:rPr>
              <a:t>constructo</a:t>
            </a:r>
            <a:r>
              <a:rPr sz="1400" b="0" dirty="0">
                <a:solidFill>
                  <a:srgbClr val="4C4954"/>
                </a:solidFill>
              </a:rPr>
              <a:t>, </a:t>
            </a:r>
            <a:r>
              <a:rPr sz="1400" b="0" dirty="0" err="1">
                <a:solidFill>
                  <a:srgbClr val="4C4954"/>
                </a:solidFill>
              </a:rPr>
              <a:t>nombres</a:t>
            </a:r>
            <a:r>
              <a:rPr sz="1400" b="0" dirty="0">
                <a:solidFill>
                  <a:srgbClr val="4C4954"/>
                </a:solidFill>
              </a:rPr>
              <a:t> </a:t>
            </a:r>
            <a:r>
              <a:rPr sz="1400" b="0" dirty="0" err="1">
                <a:solidFill>
                  <a:srgbClr val="4C4954"/>
                </a:solidFill>
              </a:rPr>
              <a:t>distintos</a:t>
            </a:r>
            <a:r>
              <a:rPr sz="1400" b="0" dirty="0">
                <a:solidFill>
                  <a:srgbClr val="4C4954"/>
                </a:solidFill>
              </a:rPr>
              <a:t>.  El </a:t>
            </a:r>
            <a:r>
              <a:rPr sz="1400" b="0" dirty="0" err="1">
                <a:solidFill>
                  <a:srgbClr val="4C4954"/>
                </a:solidFill>
              </a:rPr>
              <a:t>instrumento</a:t>
            </a:r>
            <a:r>
              <a:rPr sz="1400" b="0" dirty="0">
                <a:solidFill>
                  <a:srgbClr val="4C4954"/>
                </a:solidFill>
              </a:rPr>
              <a:t> </a:t>
            </a:r>
            <a:r>
              <a:rPr sz="1400" b="0" dirty="0" err="1">
                <a:solidFill>
                  <a:srgbClr val="4C4954"/>
                </a:solidFill>
              </a:rPr>
              <a:t>elegido</a:t>
            </a:r>
            <a:r>
              <a:rPr sz="1400" b="0" dirty="0">
                <a:solidFill>
                  <a:srgbClr val="4C4954"/>
                </a:solidFill>
              </a:rPr>
              <a:t> define que </a:t>
            </a:r>
            <a:r>
              <a:rPr sz="1400" b="0" dirty="0" err="1">
                <a:solidFill>
                  <a:srgbClr val="4C4954"/>
                </a:solidFill>
              </a:rPr>
              <a:t>constructo</a:t>
            </a:r>
            <a:r>
              <a:rPr sz="1400" b="0" dirty="0">
                <a:solidFill>
                  <a:srgbClr val="4C4954"/>
                </a:solidFill>
              </a:rPr>
              <a:t> se </a:t>
            </a:r>
            <a:r>
              <a:rPr sz="1400" b="0" dirty="0" err="1">
                <a:solidFill>
                  <a:srgbClr val="4C4954"/>
                </a:solidFill>
              </a:rPr>
              <a:t>mide</a:t>
            </a:r>
            <a:r>
              <a:rPr sz="1400" b="0" dirty="0">
                <a:solidFill>
                  <a:srgbClr val="4C4954"/>
                </a:solidFill>
              </a:rPr>
              <a:t> </a:t>
            </a:r>
            <a:r>
              <a:rPr sz="1400" b="0" dirty="0" err="1">
                <a:solidFill>
                  <a:srgbClr val="4C4954"/>
                </a:solidFill>
              </a:rPr>
              <a:t>realmente</a:t>
            </a:r>
            <a:r>
              <a:rPr sz="1400" b="0" dirty="0">
                <a:solidFill>
                  <a:srgbClr val="4C4954"/>
                </a:solidFill>
              </a:rPr>
              <a:t>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9C99A6"/>
                </a:solidFill>
                <a:latin typeface="Segoe UI"/>
              </a:rPr>
              <a:t>Autoestima, autoconcepto y bienestar   ·   D. Antoneac</a:t>
            </a:r>
          </a:p>
        </p:txBody>
      </p:sp>
      <p:sp>
        <p:nvSpPr>
          <p:cNvPr id="27" name="Oval 26"/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s-ES" sz="1050" dirty="0">
                <a:solidFill>
                  <a:srgbClr val="9C99A6"/>
                </a:solidFill>
                <a:latin typeface="Segoe UI"/>
              </a:rPr>
              <a:t>2</a:t>
            </a:r>
            <a:r>
              <a:rPr sz="1050" b="0" dirty="0">
                <a:solidFill>
                  <a:srgbClr val="9C99A6"/>
                </a:solidFill>
                <a:latin typeface="Segoe UI"/>
              </a:rPr>
              <a:t> / 1</a:t>
            </a:r>
            <a:r>
              <a:rPr lang="es-ES" sz="1050" b="0" dirty="0">
                <a:solidFill>
                  <a:srgbClr val="9C99A6"/>
                </a:solidFill>
                <a:latin typeface="Segoe UI"/>
              </a:rPr>
              <a:t>6</a:t>
            </a:r>
            <a:endParaRPr sz="1050" b="0" dirty="0">
              <a:solidFill>
                <a:srgbClr val="9C99A6"/>
              </a:solidFill>
              <a:latin typeface="Segoe UI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66000" y="2148840"/>
            <a:ext cx="166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9079C8"/>
                </a:solidFill>
              </a:rPr>
              <a:t>1890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6000" y="2670048"/>
            <a:ext cx="20000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dirty="0">
                <a:solidFill>
                  <a:srgbClr val="2E2A3A"/>
                </a:solidFill>
              </a:rPr>
              <a:t>William James</a:t>
            </a:r>
          </a:p>
        </p:txBody>
      </p:sp>
      <p:sp>
        <p:nvSpPr>
          <p:cNvPr id="31" name="Oval 30"/>
          <p:cNvSpPr/>
          <p:nvPr/>
        </p:nvSpPr>
        <p:spPr>
          <a:xfrm>
            <a:off x="1440552" y="3246120"/>
            <a:ext cx="310896" cy="310896"/>
          </a:xfrm>
          <a:prstGeom prst="ellipse">
            <a:avLst/>
          </a:prstGeom>
          <a:solidFill>
            <a:srgbClr val="907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2" name="TextBox 31"/>
          <p:cNvSpPr txBox="1"/>
          <p:nvPr/>
        </p:nvSpPr>
        <p:spPr>
          <a:xfrm>
            <a:off x="766000" y="3794760"/>
            <a:ext cx="1660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4C4954"/>
                </a:solidFill>
              </a:rPr>
              <a:t>El self como</a:t>
            </a:r>
          </a:p>
          <a:p>
            <a:pPr algn="ctr"/>
            <a:r>
              <a:rPr sz="1600" b="0">
                <a:solidFill>
                  <a:srgbClr val="4C4954"/>
                </a:solidFill>
              </a:rPr>
              <a:t>sujeto (I) y</a:t>
            </a:r>
          </a:p>
          <a:p>
            <a:pPr algn="ctr"/>
            <a:r>
              <a:rPr sz="1600" b="0">
                <a:solidFill>
                  <a:srgbClr val="4C4954"/>
                </a:solidFill>
              </a:rPr>
              <a:t>objeto (me).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66000" y="2148840"/>
            <a:ext cx="166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9079C8"/>
                </a:solidFill>
              </a:rPr>
              <a:t>1902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66000" y="2670048"/>
            <a:ext cx="166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E2A3A"/>
                </a:solidFill>
              </a:rPr>
              <a:t>Cooley</a:t>
            </a:r>
          </a:p>
        </p:txBody>
      </p:sp>
      <p:sp>
        <p:nvSpPr>
          <p:cNvPr id="35" name="Oval 34"/>
          <p:cNvSpPr/>
          <p:nvPr/>
        </p:nvSpPr>
        <p:spPr>
          <a:xfrm>
            <a:off x="3240552" y="3304938"/>
            <a:ext cx="310896" cy="310896"/>
          </a:xfrm>
          <a:prstGeom prst="ellipse">
            <a:avLst/>
          </a:prstGeom>
          <a:solidFill>
            <a:srgbClr val="907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dirty="0"/>
          </a:p>
        </p:txBody>
      </p:sp>
      <p:sp>
        <p:nvSpPr>
          <p:cNvPr id="36" name="TextBox 35"/>
          <p:cNvSpPr txBox="1"/>
          <p:nvPr/>
        </p:nvSpPr>
        <p:spPr>
          <a:xfrm>
            <a:off x="2499870" y="3766876"/>
            <a:ext cx="179742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dirty="0">
                <a:solidFill>
                  <a:srgbClr val="4C4954"/>
                </a:solidFill>
              </a:rPr>
              <a:t>El </a:t>
            </a:r>
            <a:r>
              <a:rPr sz="1600" b="0" dirty="0" err="1">
                <a:solidFill>
                  <a:srgbClr val="4C4954"/>
                </a:solidFill>
              </a:rPr>
              <a:t>yo-espejo</a:t>
            </a:r>
            <a:r>
              <a:rPr sz="1600" b="0" dirty="0">
                <a:solidFill>
                  <a:srgbClr val="4C4954"/>
                </a:solidFill>
              </a:rPr>
              <a:t>:</a:t>
            </a:r>
          </a:p>
          <a:p>
            <a:pPr algn="ctr"/>
            <a:r>
              <a:rPr sz="1600" b="0" dirty="0" err="1">
                <a:solidFill>
                  <a:srgbClr val="4C4954"/>
                </a:solidFill>
              </a:rPr>
              <a:t>nos</a:t>
            </a:r>
            <a:r>
              <a:rPr sz="1600" b="0" dirty="0">
                <a:solidFill>
                  <a:srgbClr val="4C4954"/>
                </a:solidFill>
              </a:rPr>
              <a:t> </a:t>
            </a:r>
            <a:r>
              <a:rPr sz="1600" b="0" dirty="0" err="1">
                <a:solidFill>
                  <a:srgbClr val="4C4954"/>
                </a:solidFill>
              </a:rPr>
              <a:t>vemos</a:t>
            </a:r>
            <a:r>
              <a:rPr sz="1600" b="0" dirty="0">
                <a:solidFill>
                  <a:srgbClr val="4C4954"/>
                </a:solidFill>
              </a:rPr>
              <a:t> </a:t>
            </a:r>
            <a:r>
              <a:rPr sz="1600" b="0" dirty="0" err="1">
                <a:solidFill>
                  <a:srgbClr val="4C4954"/>
                </a:solidFill>
              </a:rPr>
              <a:t>como</a:t>
            </a:r>
            <a:endParaRPr sz="1600" b="0" dirty="0">
              <a:solidFill>
                <a:srgbClr val="4C4954"/>
              </a:solidFill>
            </a:endParaRPr>
          </a:p>
          <a:p>
            <a:pPr algn="ctr"/>
            <a:r>
              <a:rPr sz="1600" b="0" dirty="0" err="1">
                <a:solidFill>
                  <a:srgbClr val="4C4954"/>
                </a:solidFill>
              </a:rPr>
              <a:t>nos</a:t>
            </a:r>
            <a:r>
              <a:rPr sz="1600" b="0" dirty="0">
                <a:solidFill>
                  <a:srgbClr val="4C4954"/>
                </a:solidFill>
              </a:rPr>
              <a:t> </a:t>
            </a:r>
            <a:r>
              <a:rPr sz="1600" b="0" dirty="0" err="1">
                <a:solidFill>
                  <a:srgbClr val="4C4954"/>
                </a:solidFill>
              </a:rPr>
              <a:t>ven</a:t>
            </a:r>
            <a:r>
              <a:rPr sz="1600" b="0" dirty="0">
                <a:solidFill>
                  <a:srgbClr val="4C4954"/>
                </a:solidFill>
              </a:rPr>
              <a:t> </a:t>
            </a:r>
            <a:r>
              <a:rPr sz="1600" b="0" dirty="0" err="1">
                <a:solidFill>
                  <a:srgbClr val="4C4954"/>
                </a:solidFill>
              </a:rPr>
              <a:t>los</a:t>
            </a:r>
            <a:r>
              <a:rPr sz="1600" b="0" dirty="0">
                <a:solidFill>
                  <a:srgbClr val="4C4954"/>
                </a:solidFill>
              </a:rPr>
              <a:t> dem</a:t>
            </a:r>
            <a:r>
              <a:rPr lang="es-ES" sz="1600" b="0" dirty="0">
                <a:solidFill>
                  <a:srgbClr val="4C4954"/>
                </a:solidFill>
              </a:rPr>
              <a:t>á</a:t>
            </a:r>
            <a:r>
              <a:rPr sz="1600" b="0" dirty="0">
                <a:solidFill>
                  <a:srgbClr val="4C4954"/>
                </a:solidFill>
              </a:rPr>
              <a:t>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66000" y="2148840"/>
            <a:ext cx="166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9079C8"/>
                </a:solidFill>
              </a:rPr>
              <a:t>1934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66000" y="2670048"/>
            <a:ext cx="166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E2A3A"/>
                </a:solidFill>
              </a:rPr>
              <a:t>G.H. Mead</a:t>
            </a:r>
          </a:p>
        </p:txBody>
      </p:sp>
      <p:sp>
        <p:nvSpPr>
          <p:cNvPr id="39" name="Oval 38"/>
          <p:cNvSpPr/>
          <p:nvPr/>
        </p:nvSpPr>
        <p:spPr>
          <a:xfrm>
            <a:off x="5040552" y="3246120"/>
            <a:ext cx="310896" cy="310896"/>
          </a:xfrm>
          <a:prstGeom prst="ellipse">
            <a:avLst/>
          </a:prstGeom>
          <a:solidFill>
            <a:srgbClr val="907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0" name="TextBox 39"/>
          <p:cNvSpPr txBox="1"/>
          <p:nvPr/>
        </p:nvSpPr>
        <p:spPr>
          <a:xfrm>
            <a:off x="4366000" y="3794760"/>
            <a:ext cx="1660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dirty="0">
                <a:solidFill>
                  <a:srgbClr val="4C4954"/>
                </a:solidFill>
              </a:rPr>
              <a:t>El self emerge</a:t>
            </a:r>
          </a:p>
          <a:p>
            <a:pPr algn="ctr"/>
            <a:r>
              <a:rPr sz="1600" b="0" dirty="0" err="1">
                <a:solidFill>
                  <a:srgbClr val="4C4954"/>
                </a:solidFill>
              </a:rPr>
              <a:t>en</a:t>
            </a:r>
            <a:r>
              <a:rPr sz="1600" b="0" dirty="0">
                <a:solidFill>
                  <a:srgbClr val="4C4954"/>
                </a:solidFill>
              </a:rPr>
              <a:t> la </a:t>
            </a:r>
            <a:r>
              <a:rPr sz="1600" b="0" dirty="0" err="1">
                <a:solidFill>
                  <a:srgbClr val="4C4954"/>
                </a:solidFill>
              </a:rPr>
              <a:t>interacci</a:t>
            </a:r>
            <a:r>
              <a:rPr lang="es-ES" sz="1600" b="0" dirty="0" err="1">
                <a:solidFill>
                  <a:srgbClr val="4C4954"/>
                </a:solidFill>
              </a:rPr>
              <a:t>ó</a:t>
            </a:r>
            <a:r>
              <a:rPr sz="1600" b="0" dirty="0">
                <a:solidFill>
                  <a:srgbClr val="4C4954"/>
                </a:solidFill>
              </a:rPr>
              <a:t>n</a:t>
            </a:r>
          </a:p>
          <a:p>
            <a:pPr algn="ctr"/>
            <a:r>
              <a:rPr sz="1600" b="0" dirty="0">
                <a:solidFill>
                  <a:srgbClr val="4C4954"/>
                </a:solidFill>
              </a:rPr>
              <a:t>social.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66000" y="2148840"/>
            <a:ext cx="166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9079C8"/>
                </a:solidFill>
              </a:rPr>
              <a:t>1965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66000" y="2670048"/>
            <a:ext cx="166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E2A3A"/>
                </a:solidFill>
              </a:rPr>
              <a:t>Rosenberg</a:t>
            </a:r>
          </a:p>
        </p:txBody>
      </p:sp>
      <p:sp>
        <p:nvSpPr>
          <p:cNvPr id="43" name="Oval 42"/>
          <p:cNvSpPr/>
          <p:nvPr/>
        </p:nvSpPr>
        <p:spPr>
          <a:xfrm>
            <a:off x="6840552" y="3246120"/>
            <a:ext cx="310896" cy="310896"/>
          </a:xfrm>
          <a:prstGeom prst="ellipse">
            <a:avLst/>
          </a:prstGeom>
          <a:solidFill>
            <a:srgbClr val="907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4" name="TextBox 43"/>
          <p:cNvSpPr txBox="1"/>
          <p:nvPr/>
        </p:nvSpPr>
        <p:spPr>
          <a:xfrm>
            <a:off x="6166000" y="3794760"/>
            <a:ext cx="16600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dirty="0">
                <a:solidFill>
                  <a:srgbClr val="4C4954"/>
                </a:solidFill>
              </a:rPr>
              <a:t>Escala RSES:</a:t>
            </a:r>
          </a:p>
          <a:p>
            <a:pPr algn="ctr"/>
            <a:r>
              <a:rPr sz="1600" b="0" dirty="0" err="1">
                <a:solidFill>
                  <a:srgbClr val="4C4954"/>
                </a:solidFill>
              </a:rPr>
              <a:t>est</a:t>
            </a:r>
            <a:r>
              <a:rPr lang="es-ES" sz="1600" b="0" dirty="0">
                <a:solidFill>
                  <a:srgbClr val="4C4954"/>
                </a:solidFill>
              </a:rPr>
              <a:t>á</a:t>
            </a:r>
            <a:r>
              <a:rPr sz="1600" b="0" dirty="0" err="1">
                <a:solidFill>
                  <a:srgbClr val="4C4954"/>
                </a:solidFill>
              </a:rPr>
              <a:t>ndar</a:t>
            </a:r>
            <a:r>
              <a:rPr sz="1600" b="0" dirty="0">
                <a:solidFill>
                  <a:srgbClr val="4C4954"/>
                </a:solidFill>
              </a:rPr>
              <a:t> de la</a:t>
            </a:r>
          </a:p>
          <a:p>
            <a:pPr algn="ctr"/>
            <a:r>
              <a:rPr sz="1600" b="0" dirty="0" err="1">
                <a:solidFill>
                  <a:srgbClr val="4C4954"/>
                </a:solidFill>
              </a:rPr>
              <a:t>autoestima</a:t>
            </a:r>
            <a:r>
              <a:rPr sz="1600" b="0" dirty="0">
                <a:solidFill>
                  <a:srgbClr val="4C4954"/>
                </a:solidFill>
              </a:rPr>
              <a:t> global.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966000" y="2148840"/>
            <a:ext cx="166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9079C8"/>
                </a:solidFill>
              </a:rPr>
              <a:t>1976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66000" y="2670048"/>
            <a:ext cx="166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E2A3A"/>
                </a:solidFill>
              </a:rPr>
              <a:t>Shavelson</a:t>
            </a:r>
          </a:p>
        </p:txBody>
      </p:sp>
      <p:sp>
        <p:nvSpPr>
          <p:cNvPr id="47" name="Oval 46"/>
          <p:cNvSpPr/>
          <p:nvPr/>
        </p:nvSpPr>
        <p:spPr>
          <a:xfrm>
            <a:off x="8640552" y="3246120"/>
            <a:ext cx="310896" cy="310896"/>
          </a:xfrm>
          <a:prstGeom prst="ellipse">
            <a:avLst/>
          </a:prstGeom>
          <a:solidFill>
            <a:srgbClr val="907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8" name="TextBox 47"/>
          <p:cNvSpPr txBox="1"/>
          <p:nvPr/>
        </p:nvSpPr>
        <p:spPr>
          <a:xfrm>
            <a:off x="7966000" y="3794760"/>
            <a:ext cx="179871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dirty="0" err="1">
                <a:solidFill>
                  <a:srgbClr val="4C4954"/>
                </a:solidFill>
              </a:rPr>
              <a:t>Autoconcepto</a:t>
            </a:r>
            <a:endParaRPr sz="1600" b="0" dirty="0">
              <a:solidFill>
                <a:srgbClr val="4C4954"/>
              </a:solidFill>
            </a:endParaRPr>
          </a:p>
          <a:p>
            <a:pPr algn="ctr"/>
            <a:r>
              <a:rPr sz="1600" b="0" dirty="0">
                <a:solidFill>
                  <a:srgbClr val="4C4954"/>
                </a:solidFill>
              </a:rPr>
              <a:t>multidimensional</a:t>
            </a:r>
          </a:p>
          <a:p>
            <a:pPr algn="ctr"/>
            <a:r>
              <a:rPr sz="1600" b="0" dirty="0">
                <a:solidFill>
                  <a:srgbClr val="4C4954"/>
                </a:solidFill>
              </a:rPr>
              <a:t>y </a:t>
            </a:r>
            <a:r>
              <a:rPr sz="1600" b="0" dirty="0" err="1">
                <a:solidFill>
                  <a:srgbClr val="4C4954"/>
                </a:solidFill>
              </a:rPr>
              <a:t>jer</a:t>
            </a:r>
            <a:r>
              <a:rPr lang="es-ES" sz="1600" b="0" dirty="0">
                <a:solidFill>
                  <a:srgbClr val="4C4954"/>
                </a:solidFill>
              </a:rPr>
              <a:t>á</a:t>
            </a:r>
            <a:r>
              <a:rPr sz="1600" b="0" dirty="0" err="1">
                <a:solidFill>
                  <a:srgbClr val="4C4954"/>
                </a:solidFill>
              </a:rPr>
              <a:t>rquico</a:t>
            </a:r>
            <a:r>
              <a:rPr sz="1600" b="0" dirty="0">
                <a:solidFill>
                  <a:srgbClr val="4C4954"/>
                </a:solidFill>
              </a:rPr>
              <a:t>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766000" y="2148840"/>
            <a:ext cx="166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9079C8"/>
                </a:solidFill>
              </a:rPr>
              <a:t>2003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766000" y="2670048"/>
            <a:ext cx="166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E2A3A"/>
                </a:solidFill>
              </a:rPr>
              <a:t>Baumeister</a:t>
            </a:r>
          </a:p>
        </p:txBody>
      </p:sp>
      <p:sp>
        <p:nvSpPr>
          <p:cNvPr id="51" name="Oval 50"/>
          <p:cNvSpPr/>
          <p:nvPr/>
        </p:nvSpPr>
        <p:spPr>
          <a:xfrm>
            <a:off x="10440552" y="3246120"/>
            <a:ext cx="310896" cy="310896"/>
          </a:xfrm>
          <a:prstGeom prst="ellipse">
            <a:avLst/>
          </a:prstGeom>
          <a:solidFill>
            <a:srgbClr val="907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2" name="TextBox 51"/>
          <p:cNvSpPr txBox="1"/>
          <p:nvPr/>
        </p:nvSpPr>
        <p:spPr>
          <a:xfrm>
            <a:off x="9766000" y="3794760"/>
            <a:ext cx="16600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dirty="0">
                <a:solidFill>
                  <a:srgbClr val="4C4954"/>
                </a:solidFill>
              </a:rPr>
              <a:t>La </a:t>
            </a:r>
            <a:r>
              <a:rPr sz="1600" b="0" dirty="0" err="1">
                <a:solidFill>
                  <a:srgbClr val="4C4954"/>
                </a:solidFill>
              </a:rPr>
              <a:t>alta</a:t>
            </a:r>
            <a:r>
              <a:rPr sz="1600" b="0" dirty="0">
                <a:solidFill>
                  <a:srgbClr val="4C4954"/>
                </a:solidFill>
              </a:rPr>
              <a:t> </a:t>
            </a:r>
            <a:r>
              <a:rPr sz="1600" b="0" dirty="0" err="1">
                <a:solidFill>
                  <a:srgbClr val="4C4954"/>
                </a:solidFill>
              </a:rPr>
              <a:t>autoestima</a:t>
            </a:r>
            <a:endParaRPr sz="1600" b="0" dirty="0">
              <a:solidFill>
                <a:srgbClr val="4C4954"/>
              </a:solidFill>
            </a:endParaRPr>
          </a:p>
          <a:p>
            <a:pPr algn="ctr"/>
            <a:r>
              <a:rPr sz="1600" b="0" dirty="0">
                <a:solidFill>
                  <a:srgbClr val="4C4954"/>
                </a:solidFill>
              </a:rPr>
              <a:t>no causa </a:t>
            </a:r>
            <a:r>
              <a:rPr sz="1600" b="0" dirty="0" err="1">
                <a:solidFill>
                  <a:srgbClr val="4C4954"/>
                </a:solidFill>
              </a:rPr>
              <a:t>todo</a:t>
            </a:r>
            <a:r>
              <a:rPr sz="1600" b="0" dirty="0">
                <a:solidFill>
                  <a:srgbClr val="4C4954"/>
                </a:solidFill>
              </a:rPr>
              <a:t>:</a:t>
            </a:r>
          </a:p>
          <a:p>
            <a:pPr algn="ctr"/>
            <a:r>
              <a:rPr sz="1600" b="0" dirty="0" err="1">
                <a:solidFill>
                  <a:srgbClr val="4C4954"/>
                </a:solidFill>
              </a:rPr>
              <a:t>pide</a:t>
            </a:r>
            <a:r>
              <a:rPr sz="1600" b="0" dirty="0">
                <a:solidFill>
                  <a:srgbClr val="4C4954"/>
                </a:solidFill>
              </a:rPr>
              <a:t> m</a:t>
            </a:r>
            <a:r>
              <a:rPr lang="es-ES" sz="1600" dirty="0">
                <a:solidFill>
                  <a:srgbClr val="4C4954"/>
                </a:solidFill>
              </a:rPr>
              <a:t>á</a:t>
            </a:r>
            <a:r>
              <a:rPr sz="1600" b="0" dirty="0">
                <a:solidFill>
                  <a:srgbClr val="4C4954"/>
                </a:solidFill>
              </a:rPr>
              <a:t>s rigor.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9808" y="56692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 spc="140">
                <a:solidFill>
                  <a:srgbClr val="9079C8"/>
                </a:solidFill>
                <a:latin typeface="Segoe UI Semibold"/>
              </a:rPr>
              <a:t>MARCO TEÓRICO · QUÉ MEDIMOS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0">
                <a:solidFill>
                  <a:srgbClr val="2E2A3A"/>
                </a:solidFill>
                <a:latin typeface="Segoe UI Semibold"/>
              </a:rPr>
              <a:t>Qué medimos exactamente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49808" y="1783080"/>
            <a:ext cx="3419856" cy="416052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24127" y="2112264"/>
            <a:ext cx="146304" cy="146304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98448" y="2033275"/>
            <a:ext cx="2871216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900" b="1" dirty="0" err="1">
                <a:solidFill>
                  <a:srgbClr val="2E2A3A"/>
                </a:solidFill>
                <a:latin typeface="Segoe UI Semibold"/>
              </a:rPr>
              <a:t>Autoestima</a:t>
            </a:r>
            <a:endParaRPr sz="1900" b="1" dirty="0">
              <a:solidFill>
                <a:srgbClr val="2E2A3A"/>
              </a:solidFill>
              <a:latin typeface="Segoe UI Semibold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97279" y="2633472"/>
            <a:ext cx="2871216" cy="1645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</a:pPr>
            <a:r>
              <a:rPr lang="es-ES" sz="1600" b="0" dirty="0">
                <a:solidFill>
                  <a:srgbClr val="4C4954"/>
                </a:solidFill>
                <a:latin typeface="Segoe UI"/>
              </a:rPr>
              <a:t>Evaluativa.</a:t>
            </a:r>
          </a:p>
          <a:p>
            <a:pPr algn="l">
              <a:lnSpc>
                <a:spcPct val="116000"/>
              </a:lnSpc>
            </a:pPr>
            <a:endParaRPr lang="es-ES" sz="1600" b="0" dirty="0">
              <a:solidFill>
                <a:srgbClr val="4C4954"/>
              </a:solidFill>
              <a:latin typeface="Segoe UI"/>
            </a:endParaRPr>
          </a:p>
          <a:p>
            <a:pPr algn="l">
              <a:lnSpc>
                <a:spcPct val="116000"/>
              </a:lnSpc>
            </a:pPr>
            <a:r>
              <a:rPr sz="1600" b="0" dirty="0" err="1">
                <a:solidFill>
                  <a:srgbClr val="4C4954"/>
                </a:solidFill>
                <a:latin typeface="Segoe UI"/>
              </a:rPr>
              <a:t>Juicio</a:t>
            </a:r>
            <a:r>
              <a:rPr sz="1600" b="0" dirty="0">
                <a:solidFill>
                  <a:srgbClr val="4C4954"/>
                </a:solidFill>
                <a:latin typeface="Segoe UI"/>
              </a:rPr>
              <a:t> global de </a:t>
            </a:r>
            <a:r>
              <a:rPr sz="1600" b="0" dirty="0" err="1">
                <a:solidFill>
                  <a:srgbClr val="4C4954"/>
                </a:solidFill>
                <a:latin typeface="Segoe UI"/>
              </a:rPr>
              <a:t>valía</a:t>
            </a:r>
            <a:r>
              <a:rPr sz="1600" b="0" dirty="0">
                <a:solidFill>
                  <a:srgbClr val="4C4954"/>
                </a:solidFill>
                <a:latin typeface="Segoe UI"/>
              </a:rPr>
              <a:t> personal</a:t>
            </a:r>
            <a:endParaRPr lang="es-ES" sz="1600" b="0" dirty="0">
              <a:solidFill>
                <a:srgbClr val="4C4954"/>
              </a:solidFill>
              <a:latin typeface="Segoe UI"/>
            </a:endParaRPr>
          </a:p>
          <a:p>
            <a:pPr algn="l">
              <a:lnSpc>
                <a:spcPct val="116000"/>
              </a:lnSpc>
            </a:pPr>
            <a:endParaRPr lang="es-ES" sz="1600" b="0" dirty="0">
              <a:solidFill>
                <a:srgbClr val="4C4954"/>
              </a:solidFill>
              <a:latin typeface="Segoe UI"/>
            </a:endParaRPr>
          </a:p>
          <a:p>
            <a:pPr algn="l">
              <a:lnSpc>
                <a:spcPct val="116000"/>
              </a:lnSpc>
            </a:pPr>
            <a:r>
              <a:rPr sz="160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00" b="0" dirty="0" err="1">
                <a:solidFill>
                  <a:srgbClr val="4C4954"/>
                </a:solidFill>
                <a:latin typeface="Segoe UI"/>
              </a:rPr>
              <a:t>Dimensión</a:t>
            </a:r>
            <a:r>
              <a:rPr sz="160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00" b="0" dirty="0" err="1">
                <a:solidFill>
                  <a:srgbClr val="4C4954"/>
                </a:solidFill>
                <a:latin typeface="Segoe UI"/>
              </a:rPr>
              <a:t>afectiva</a:t>
            </a:r>
            <a:r>
              <a:rPr sz="1600" b="0" dirty="0">
                <a:solidFill>
                  <a:srgbClr val="4C4954"/>
                </a:solidFill>
                <a:latin typeface="Segoe UI"/>
              </a:rPr>
              <a:t> del self.</a:t>
            </a:r>
            <a:endParaRPr lang="es-ES" sz="1600" b="0" dirty="0">
              <a:solidFill>
                <a:srgbClr val="4C4954"/>
              </a:solidFill>
              <a:latin typeface="Segoe UI"/>
            </a:endParaRPr>
          </a:p>
          <a:p>
            <a:pPr algn="l">
              <a:lnSpc>
                <a:spcPct val="116000"/>
              </a:lnSpc>
            </a:pPr>
            <a:endParaRPr lang="es-ES" sz="1600" dirty="0">
              <a:solidFill>
                <a:srgbClr val="4C4954"/>
              </a:solidFill>
              <a:latin typeface="Segoe UI"/>
            </a:endParaRPr>
          </a:p>
          <a:p>
            <a:pPr algn="l">
              <a:lnSpc>
                <a:spcPct val="116000"/>
              </a:lnSpc>
            </a:pPr>
            <a:r>
              <a:rPr lang="es-ES" sz="1600" b="0" dirty="0">
                <a:solidFill>
                  <a:srgbClr val="4C4954"/>
                </a:solidFill>
                <a:latin typeface="Segoe UI"/>
              </a:rPr>
              <a:t>¿Cuánto me valoro?</a:t>
            </a:r>
            <a:endParaRPr sz="1600" b="0" dirty="0">
              <a:solidFill>
                <a:srgbClr val="4C4954"/>
              </a:solidFill>
              <a:latin typeface="Segoe U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1024127" y="5312664"/>
            <a:ext cx="2871216" cy="566928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1" dirty="0">
                <a:solidFill>
                  <a:srgbClr val="FFFFFF"/>
                </a:solidFill>
                <a:latin typeface="Segoe UI Semibold"/>
              </a:rPr>
              <a:t>Rosenberg </a:t>
            </a:r>
            <a:r>
              <a:rPr sz="1600" b="1" dirty="0">
                <a:solidFill>
                  <a:srgbClr val="FFFFFF"/>
                </a:solidFill>
                <a:latin typeface="Segoe UI Semibold"/>
              </a:rPr>
              <a:t>Self-Esteem</a:t>
            </a:r>
            <a:r>
              <a:rPr sz="1400" b="1" dirty="0">
                <a:solidFill>
                  <a:srgbClr val="FFFFFF"/>
                </a:solidFill>
                <a:latin typeface="Segoe UI Semibold"/>
              </a:rPr>
              <a:t> Scale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71416" y="1783080"/>
            <a:ext cx="3419856" cy="416052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745736" y="2112264"/>
            <a:ext cx="146304" cy="146304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47488" y="2059540"/>
            <a:ext cx="2871216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900" b="1" dirty="0" err="1">
                <a:solidFill>
                  <a:srgbClr val="2E2A3A"/>
                </a:solidFill>
                <a:latin typeface="Segoe UI Semibold"/>
              </a:rPr>
              <a:t>Autoconcepto</a:t>
            </a:r>
            <a:endParaRPr sz="1900" b="1" dirty="0">
              <a:solidFill>
                <a:srgbClr val="2E2A3A"/>
              </a:solidFill>
              <a:latin typeface="Segoe UI Semibold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818888" y="2494172"/>
            <a:ext cx="2871216" cy="256031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</a:pPr>
            <a:r>
              <a:rPr lang="es-ES" sz="1600" b="0" dirty="0">
                <a:solidFill>
                  <a:srgbClr val="4C4954"/>
                </a:solidFill>
                <a:latin typeface="Segoe UI"/>
              </a:rPr>
              <a:t>Descriptivo y multidimensional</a:t>
            </a:r>
          </a:p>
          <a:p>
            <a:pPr algn="l">
              <a:lnSpc>
                <a:spcPct val="116000"/>
              </a:lnSpc>
            </a:pPr>
            <a:endParaRPr lang="es-ES" sz="1600" b="0" dirty="0">
              <a:solidFill>
                <a:srgbClr val="4C4954"/>
              </a:solidFill>
              <a:latin typeface="Segoe UI"/>
            </a:endParaRPr>
          </a:p>
          <a:p>
            <a:pPr algn="l">
              <a:lnSpc>
                <a:spcPct val="116000"/>
              </a:lnSpc>
            </a:pPr>
            <a:r>
              <a:rPr sz="1600" b="0" dirty="0" err="1">
                <a:solidFill>
                  <a:srgbClr val="4C4954"/>
                </a:solidFill>
                <a:latin typeface="Segoe UI"/>
              </a:rPr>
              <a:t>Descripción</a:t>
            </a:r>
            <a:r>
              <a:rPr sz="1600" b="0" dirty="0">
                <a:solidFill>
                  <a:srgbClr val="4C4954"/>
                </a:solidFill>
                <a:latin typeface="Segoe UI"/>
              </a:rPr>
              <a:t> del self </a:t>
            </a:r>
            <a:r>
              <a:rPr sz="1600" b="0" dirty="0" err="1">
                <a:solidFill>
                  <a:srgbClr val="4C4954"/>
                </a:solidFill>
                <a:latin typeface="Segoe UI"/>
              </a:rPr>
              <a:t>por</a:t>
            </a:r>
            <a:r>
              <a:rPr sz="160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00" b="0" dirty="0" err="1">
                <a:solidFill>
                  <a:srgbClr val="4C4954"/>
                </a:solidFill>
                <a:latin typeface="Segoe UI"/>
              </a:rPr>
              <a:t>dominios</a:t>
            </a:r>
            <a:r>
              <a:rPr sz="1600" b="0" dirty="0">
                <a:solidFill>
                  <a:srgbClr val="4C4954"/>
                </a:solidFill>
                <a:latin typeface="Segoe UI"/>
              </a:rPr>
              <a:t>: </a:t>
            </a:r>
            <a:r>
              <a:rPr sz="1600" b="0" dirty="0" err="1">
                <a:solidFill>
                  <a:srgbClr val="4C4954"/>
                </a:solidFill>
                <a:latin typeface="Segoe UI"/>
              </a:rPr>
              <a:t>académico</a:t>
            </a:r>
            <a:r>
              <a:rPr sz="1600" b="0" dirty="0">
                <a:solidFill>
                  <a:srgbClr val="4C4954"/>
                </a:solidFill>
                <a:latin typeface="Segoe UI"/>
              </a:rPr>
              <a:t>, social, </a:t>
            </a:r>
            <a:r>
              <a:rPr sz="1600" b="0" dirty="0" err="1">
                <a:solidFill>
                  <a:srgbClr val="4C4954"/>
                </a:solidFill>
                <a:latin typeface="Segoe UI"/>
              </a:rPr>
              <a:t>físico</a:t>
            </a:r>
            <a:r>
              <a:rPr sz="1600" b="0" dirty="0">
                <a:solidFill>
                  <a:srgbClr val="4C4954"/>
                </a:solidFill>
                <a:latin typeface="Segoe UI"/>
              </a:rPr>
              <a:t>, corporal.</a:t>
            </a:r>
            <a:endParaRPr lang="es-ES" sz="1600" b="0" dirty="0">
              <a:solidFill>
                <a:srgbClr val="4C4954"/>
              </a:solidFill>
              <a:latin typeface="Segoe UI"/>
            </a:endParaRPr>
          </a:p>
          <a:p>
            <a:pPr algn="l">
              <a:lnSpc>
                <a:spcPct val="116000"/>
              </a:lnSpc>
            </a:pPr>
            <a:endParaRPr lang="es-ES" sz="1600" dirty="0">
              <a:solidFill>
                <a:srgbClr val="4C4954"/>
              </a:solidFill>
              <a:latin typeface="Segoe UI"/>
            </a:endParaRPr>
          </a:p>
          <a:p>
            <a:pPr>
              <a:lnSpc>
                <a:spcPct val="116000"/>
              </a:lnSpc>
            </a:pPr>
            <a:r>
              <a:rPr lang="es-ES" sz="1600" dirty="0">
                <a:solidFill>
                  <a:srgbClr val="4C4954"/>
                </a:solidFill>
                <a:latin typeface="Segoe UI"/>
              </a:rPr>
              <a:t>¿Qué pienso de mí mismo?</a:t>
            </a:r>
            <a:endParaRPr sz="1600" b="0" dirty="0">
              <a:solidFill>
                <a:srgbClr val="4C4954"/>
              </a:solidFill>
              <a:latin typeface="Segoe UI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4818888" y="5312664"/>
            <a:ext cx="2871216" cy="566928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 Semibold"/>
              </a:rPr>
              <a:t>Self-Description Questionnaire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93024" y="1783080"/>
            <a:ext cx="3419856" cy="416052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 sz="1600"/>
          </a:p>
        </p:txBody>
      </p:sp>
      <p:sp>
        <p:nvSpPr>
          <p:cNvPr id="17" name="Rectangle 16"/>
          <p:cNvSpPr/>
          <p:nvPr/>
        </p:nvSpPr>
        <p:spPr>
          <a:xfrm>
            <a:off x="8467344" y="2112264"/>
            <a:ext cx="146304" cy="146304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77656" y="2052828"/>
            <a:ext cx="2871216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900" b="1" dirty="0">
                <a:solidFill>
                  <a:srgbClr val="2E2A3A"/>
                </a:solidFill>
                <a:latin typeface="Segoe UI Semibold"/>
              </a:rPr>
              <a:t>Bienestar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94776" y="2416302"/>
            <a:ext cx="2871216" cy="1645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</a:pPr>
            <a:r>
              <a:rPr sz="1600" b="0" dirty="0" err="1">
                <a:solidFill>
                  <a:srgbClr val="4C4954"/>
                </a:solidFill>
                <a:latin typeface="Segoe UI"/>
              </a:rPr>
              <a:t>Hedónico</a:t>
            </a:r>
            <a:r>
              <a:rPr sz="1600" b="0" dirty="0">
                <a:solidFill>
                  <a:srgbClr val="4C4954"/>
                </a:solidFill>
                <a:latin typeface="Segoe UI"/>
              </a:rPr>
              <a:t> (</a:t>
            </a:r>
            <a:r>
              <a:rPr sz="1600" b="0" dirty="0" err="1">
                <a:solidFill>
                  <a:srgbClr val="4C4954"/>
                </a:solidFill>
                <a:latin typeface="Segoe UI"/>
              </a:rPr>
              <a:t>satisfacción</a:t>
            </a:r>
            <a:r>
              <a:rPr sz="1600" b="0" dirty="0">
                <a:solidFill>
                  <a:srgbClr val="4C4954"/>
                </a:solidFill>
                <a:latin typeface="Segoe UI"/>
              </a:rPr>
              <a:t> y </a:t>
            </a:r>
            <a:r>
              <a:rPr sz="1600" b="0" dirty="0" err="1">
                <a:solidFill>
                  <a:srgbClr val="4C4954"/>
                </a:solidFill>
                <a:latin typeface="Segoe UI"/>
              </a:rPr>
              <a:t>afecto</a:t>
            </a:r>
            <a:r>
              <a:rPr sz="1600" b="0" dirty="0">
                <a:solidFill>
                  <a:srgbClr val="4C4954"/>
                </a:solidFill>
                <a:latin typeface="Segoe UI"/>
              </a:rPr>
              <a:t>)</a:t>
            </a:r>
            <a:endParaRPr lang="es-ES" sz="1600" b="0" dirty="0">
              <a:solidFill>
                <a:srgbClr val="4C4954"/>
              </a:solidFill>
              <a:latin typeface="Segoe UI"/>
            </a:endParaRPr>
          </a:p>
          <a:p>
            <a:pPr algn="l">
              <a:lnSpc>
                <a:spcPct val="116000"/>
              </a:lnSpc>
            </a:pPr>
            <a:r>
              <a:rPr sz="1600" b="0" dirty="0">
                <a:solidFill>
                  <a:srgbClr val="4C4954"/>
                </a:solidFill>
                <a:latin typeface="Segoe UI"/>
              </a:rPr>
              <a:t> </a:t>
            </a:r>
            <a:endParaRPr lang="es-ES" sz="1600" b="0" dirty="0">
              <a:solidFill>
                <a:srgbClr val="4C4954"/>
              </a:solidFill>
              <a:latin typeface="Segoe UI"/>
            </a:endParaRPr>
          </a:p>
          <a:p>
            <a:pPr algn="l">
              <a:lnSpc>
                <a:spcPct val="116000"/>
              </a:lnSpc>
            </a:pPr>
            <a:r>
              <a:rPr lang="es-ES" sz="1600" dirty="0">
                <a:solidFill>
                  <a:srgbClr val="4C4954"/>
                </a:solidFill>
                <a:latin typeface="Segoe UI"/>
              </a:rPr>
              <a:t>E</a:t>
            </a:r>
            <a:r>
              <a:rPr sz="1600" b="0" dirty="0" err="1">
                <a:solidFill>
                  <a:srgbClr val="4C4954"/>
                </a:solidFill>
                <a:latin typeface="Segoe UI"/>
              </a:rPr>
              <a:t>udaimónico</a:t>
            </a:r>
            <a:r>
              <a:rPr sz="1600" b="0" dirty="0">
                <a:solidFill>
                  <a:srgbClr val="4C4954"/>
                </a:solidFill>
                <a:latin typeface="Segoe UI"/>
              </a:rPr>
              <a:t> (</a:t>
            </a:r>
            <a:r>
              <a:rPr sz="1600" b="0" dirty="0" err="1">
                <a:solidFill>
                  <a:srgbClr val="4C4954"/>
                </a:solidFill>
                <a:latin typeface="Segoe UI"/>
              </a:rPr>
              <a:t>funcionamiento</a:t>
            </a:r>
            <a:r>
              <a:rPr lang="es-ES" sz="160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00" b="0" dirty="0" err="1">
                <a:solidFill>
                  <a:srgbClr val="4C4954"/>
                </a:solidFill>
                <a:latin typeface="Segoe UI"/>
              </a:rPr>
              <a:t>óptimo</a:t>
            </a:r>
            <a:r>
              <a:rPr sz="1600" b="0" dirty="0">
                <a:solidFill>
                  <a:srgbClr val="4C4954"/>
                </a:solidFill>
                <a:latin typeface="Segoe UI"/>
              </a:rPr>
              <a:t>)</a:t>
            </a:r>
            <a:endParaRPr lang="es-ES" sz="1600" b="0" dirty="0">
              <a:solidFill>
                <a:srgbClr val="4C4954"/>
              </a:solidFill>
              <a:latin typeface="Segoe UI"/>
            </a:endParaRPr>
          </a:p>
          <a:p>
            <a:pPr algn="l">
              <a:lnSpc>
                <a:spcPct val="116000"/>
              </a:lnSpc>
            </a:pPr>
            <a:endParaRPr lang="es-ES" sz="1600" dirty="0">
              <a:solidFill>
                <a:srgbClr val="4C4954"/>
              </a:solidFill>
              <a:latin typeface="Segoe UI"/>
            </a:endParaRPr>
          </a:p>
          <a:p>
            <a:pPr algn="l">
              <a:lnSpc>
                <a:spcPct val="116000"/>
              </a:lnSpc>
            </a:pPr>
            <a:r>
              <a:rPr lang="es-ES" sz="1600" b="0" dirty="0">
                <a:solidFill>
                  <a:srgbClr val="4C4954"/>
                </a:solidFill>
                <a:latin typeface="Segoe UI"/>
              </a:rPr>
              <a:t>Calidad de vida relacionada con la salud </a:t>
            </a:r>
          </a:p>
          <a:p>
            <a:pPr algn="l">
              <a:lnSpc>
                <a:spcPct val="116000"/>
              </a:lnSpc>
            </a:pPr>
            <a:endParaRPr lang="es-ES" sz="1600" dirty="0">
              <a:solidFill>
                <a:srgbClr val="4C4954"/>
              </a:solidFill>
              <a:latin typeface="Segoe UI"/>
            </a:endParaRPr>
          </a:p>
          <a:p>
            <a:pPr algn="l">
              <a:lnSpc>
                <a:spcPct val="116000"/>
              </a:lnSpc>
            </a:pPr>
            <a:r>
              <a:rPr lang="es-ES" sz="1600" b="0" dirty="0">
                <a:solidFill>
                  <a:srgbClr val="4C4954"/>
                </a:solidFill>
                <a:latin typeface="Segoe UI"/>
              </a:rPr>
              <a:t>Salud mental general</a:t>
            </a:r>
            <a:endParaRPr sz="1600" b="0" dirty="0">
              <a:solidFill>
                <a:srgbClr val="4C4954"/>
              </a:solidFill>
              <a:latin typeface="Segoe UI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8467344" y="5312664"/>
            <a:ext cx="2871216" cy="566928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 Semibold"/>
              </a:rPr>
              <a:t>HRQoL  +  salud mental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9C99A6"/>
                </a:solidFill>
                <a:latin typeface="Segoe UI"/>
              </a:rPr>
              <a:t>Autoestima, autoconcepto y bienestar   ·   D. Antoneac</a:t>
            </a:r>
          </a:p>
        </p:txBody>
      </p:sp>
      <p:sp>
        <p:nvSpPr>
          <p:cNvPr id="22" name="Oval 21"/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s-ES" sz="1050" dirty="0">
                <a:solidFill>
                  <a:srgbClr val="9C99A6"/>
                </a:solidFill>
                <a:latin typeface="Segoe UI"/>
              </a:rPr>
              <a:t>3</a:t>
            </a:r>
            <a:r>
              <a:rPr sz="1050" b="0" dirty="0">
                <a:solidFill>
                  <a:srgbClr val="9C99A6"/>
                </a:solidFill>
                <a:latin typeface="Segoe UI"/>
              </a:rPr>
              <a:t>/ 1</a:t>
            </a:r>
            <a:r>
              <a:rPr lang="es-ES" sz="1050" b="0" dirty="0">
                <a:solidFill>
                  <a:srgbClr val="9C99A6"/>
                </a:solidFill>
                <a:latin typeface="Segoe UI"/>
              </a:rPr>
              <a:t>6</a:t>
            </a:r>
            <a:endParaRPr sz="1050" b="0" dirty="0">
              <a:solidFill>
                <a:srgbClr val="9C99A6"/>
              </a:solidFill>
              <a:latin typeface="Segoe U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/>
      <p:bldP spid="19" grpId="0"/>
      <p:bldP spid="2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9808" y="56692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 spc="140">
                <a:solidFill>
                  <a:srgbClr val="9079C8"/>
                </a:solidFill>
                <a:latin typeface="Segoe UI Semibold"/>
              </a:rPr>
              <a:t>MARCO TEÓRICO · EL BIENESTAR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0" dirty="0">
                <a:solidFill>
                  <a:srgbClr val="2E2A3A"/>
                </a:solidFill>
                <a:latin typeface="Segoe UI Semibold"/>
              </a:rPr>
              <a:t>El </a:t>
            </a:r>
            <a:r>
              <a:rPr sz="3000" b="0" dirty="0" err="1">
                <a:solidFill>
                  <a:srgbClr val="2E2A3A"/>
                </a:solidFill>
                <a:latin typeface="Segoe UI Semibold"/>
              </a:rPr>
              <a:t>bienestar</a:t>
            </a:r>
            <a:r>
              <a:rPr sz="3000" b="0" dirty="0">
                <a:solidFill>
                  <a:srgbClr val="2E2A3A"/>
                </a:solidFill>
                <a:latin typeface="Segoe UI Semibold"/>
              </a:rPr>
              <a:t> </a:t>
            </a:r>
            <a:r>
              <a:rPr sz="3000" b="0" dirty="0" err="1">
                <a:solidFill>
                  <a:srgbClr val="2E2A3A"/>
                </a:solidFill>
                <a:latin typeface="Segoe UI Semibold"/>
              </a:rPr>
              <a:t>tiene</a:t>
            </a:r>
            <a:r>
              <a:rPr sz="3000" b="0" dirty="0">
                <a:solidFill>
                  <a:srgbClr val="2E2A3A"/>
                </a:solidFill>
                <a:latin typeface="Segoe UI Semibold"/>
              </a:rPr>
              <a:t> cuatro </a:t>
            </a:r>
            <a:r>
              <a:rPr sz="3000" b="0" dirty="0" err="1">
                <a:solidFill>
                  <a:srgbClr val="2E2A3A"/>
                </a:solidFill>
                <a:latin typeface="Segoe UI Semibold"/>
              </a:rPr>
              <a:t>caras</a:t>
            </a:r>
            <a:endParaRPr sz="3000" b="0" dirty="0">
              <a:solidFill>
                <a:srgbClr val="2E2A3A"/>
              </a:solidFill>
              <a:latin typeface="Segoe UI Semibold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49808" y="1783080"/>
            <a:ext cx="5285232" cy="210312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42415" y="2093976"/>
            <a:ext cx="146304" cy="146304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98448" y="2029967"/>
            <a:ext cx="4462272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b="1" dirty="0">
                <a:solidFill>
                  <a:srgbClr val="2E2A3A"/>
                </a:solidFill>
                <a:latin typeface="Segoe UI Semibold"/>
              </a:rPr>
              <a:t>Bienestar </a:t>
            </a:r>
            <a:r>
              <a:rPr b="1" dirty="0" err="1">
                <a:solidFill>
                  <a:srgbClr val="2E2A3A"/>
                </a:solidFill>
                <a:latin typeface="Segoe UI Semibold"/>
              </a:rPr>
              <a:t>subjetivo</a:t>
            </a:r>
            <a:r>
              <a:rPr b="1" dirty="0">
                <a:solidFill>
                  <a:srgbClr val="2E2A3A"/>
                </a:solidFill>
                <a:latin typeface="Segoe UI Semibold"/>
              </a:rPr>
              <a:t> · </a:t>
            </a:r>
            <a:r>
              <a:rPr b="1" dirty="0" err="1">
                <a:solidFill>
                  <a:srgbClr val="2E2A3A"/>
                </a:solidFill>
                <a:latin typeface="Segoe UI Semibold"/>
              </a:rPr>
              <a:t>hedónico</a:t>
            </a:r>
            <a:endParaRPr b="1" dirty="0">
              <a:solidFill>
                <a:srgbClr val="2E2A3A"/>
              </a:solidFill>
              <a:latin typeface="Segoe UI Semibold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42415" y="2560320"/>
            <a:ext cx="4700016" cy="10972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000"/>
              </a:lnSpc>
            </a:pPr>
            <a:r>
              <a:rPr b="0" dirty="0" err="1">
                <a:latin typeface="Segoe UI"/>
              </a:rPr>
              <a:t>Satisfacción</a:t>
            </a:r>
            <a:r>
              <a:rPr b="0" dirty="0">
                <a:latin typeface="Segoe UI"/>
              </a:rPr>
              <a:t> con la </a:t>
            </a:r>
            <a:r>
              <a:rPr b="0" dirty="0" err="1">
                <a:latin typeface="Segoe UI"/>
              </a:rPr>
              <a:t>vida</a:t>
            </a:r>
            <a:r>
              <a:rPr b="0" dirty="0">
                <a:latin typeface="Segoe UI"/>
              </a:rPr>
              <a:t> + </a:t>
            </a:r>
            <a:r>
              <a:rPr b="0" dirty="0" err="1">
                <a:latin typeface="Segoe UI"/>
              </a:rPr>
              <a:t>afecto</a:t>
            </a:r>
            <a:r>
              <a:rPr b="0" dirty="0">
                <a:latin typeface="Segoe UI"/>
              </a:rPr>
              <a:t> </a:t>
            </a:r>
            <a:r>
              <a:rPr b="0" dirty="0" err="1">
                <a:latin typeface="Segoe UI"/>
              </a:rPr>
              <a:t>positivo</a:t>
            </a:r>
            <a:r>
              <a:rPr b="0" dirty="0">
                <a:latin typeface="Segoe UI"/>
              </a:rPr>
              <a:t> − </a:t>
            </a:r>
            <a:r>
              <a:rPr b="0" dirty="0" err="1">
                <a:latin typeface="Segoe UI"/>
              </a:rPr>
              <a:t>afecto</a:t>
            </a:r>
            <a:r>
              <a:rPr b="0" dirty="0">
                <a:latin typeface="Segoe UI"/>
              </a:rPr>
              <a:t> </a:t>
            </a:r>
            <a:r>
              <a:rPr b="0" dirty="0" err="1">
                <a:latin typeface="Segoe UI"/>
              </a:rPr>
              <a:t>negativo</a:t>
            </a:r>
            <a:r>
              <a:rPr b="0" dirty="0">
                <a:latin typeface="Segoe UI"/>
              </a:rPr>
              <a:t> (Diener).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36792" y="1783080"/>
            <a:ext cx="5285232" cy="210312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629400" y="2093976"/>
            <a:ext cx="146304" cy="146304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85432" y="2029967"/>
            <a:ext cx="4462272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b="1" dirty="0">
                <a:solidFill>
                  <a:srgbClr val="2E2A3A"/>
                </a:solidFill>
                <a:latin typeface="Segoe UI Semibold"/>
              </a:rPr>
              <a:t>Bienestar </a:t>
            </a:r>
            <a:r>
              <a:rPr b="1" dirty="0" err="1">
                <a:solidFill>
                  <a:srgbClr val="2E2A3A"/>
                </a:solidFill>
                <a:latin typeface="Segoe UI Semibold"/>
              </a:rPr>
              <a:t>psicológico</a:t>
            </a:r>
            <a:r>
              <a:rPr b="1" dirty="0">
                <a:solidFill>
                  <a:srgbClr val="2E2A3A"/>
                </a:solidFill>
                <a:latin typeface="Segoe UI Semibold"/>
              </a:rPr>
              <a:t> · </a:t>
            </a:r>
            <a:r>
              <a:rPr b="1" dirty="0" err="1">
                <a:solidFill>
                  <a:srgbClr val="2E2A3A"/>
                </a:solidFill>
                <a:latin typeface="Segoe UI Semibold"/>
              </a:rPr>
              <a:t>eudaimónico</a:t>
            </a:r>
            <a:endParaRPr b="1" dirty="0">
              <a:solidFill>
                <a:srgbClr val="2E2A3A"/>
              </a:solidFill>
              <a:latin typeface="Segoe UI Semibold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628529" y="2452769"/>
            <a:ext cx="4976078" cy="111339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4000"/>
              </a:lnSpc>
            </a:pPr>
            <a:r>
              <a:rPr b="0" dirty="0" err="1">
                <a:latin typeface="Segoe UI" panose="020B0502040204020203" pitchFamily="34" charset="0"/>
                <a:cs typeface="Segoe UI" panose="020B0502040204020203" pitchFamily="34" charset="0"/>
              </a:rPr>
              <a:t>Funcionamiento</a:t>
            </a:r>
            <a:r>
              <a:rPr b="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b="0" dirty="0" err="1">
                <a:latin typeface="Segoe UI" panose="020B0502040204020203" pitchFamily="34" charset="0"/>
                <a:cs typeface="Segoe UI" panose="020B0502040204020203" pitchFamily="34" charset="0"/>
              </a:rPr>
              <a:t>óptimo</a:t>
            </a:r>
            <a:r>
              <a:rPr b="0" dirty="0">
                <a:latin typeface="Segoe UI" panose="020B0502040204020203" pitchFamily="34" charset="0"/>
                <a:cs typeface="Segoe UI" panose="020B0502040204020203" pitchFamily="34" charset="0"/>
              </a:rPr>
              <a:t> de la persona </a:t>
            </a:r>
            <a:r>
              <a:rPr b="0" dirty="0" err="1">
                <a:latin typeface="Segoe UI" panose="020B0502040204020203" pitchFamily="34" charset="0"/>
                <a:cs typeface="Segoe UI" panose="020B0502040204020203" pitchFamily="34" charset="0"/>
              </a:rPr>
              <a:t>en</a:t>
            </a:r>
            <a:r>
              <a:rPr b="0" dirty="0">
                <a:latin typeface="Segoe UI" panose="020B0502040204020203" pitchFamily="34" charset="0"/>
                <a:cs typeface="Segoe UI" panose="020B0502040204020203" pitchFamily="34" charset="0"/>
              </a:rPr>
              <a:t> seis </a:t>
            </a:r>
            <a:r>
              <a:rPr b="0" dirty="0" err="1">
                <a:latin typeface="Segoe UI" panose="020B0502040204020203" pitchFamily="34" charset="0"/>
                <a:cs typeface="Segoe UI" panose="020B0502040204020203" pitchFamily="34" charset="0"/>
              </a:rPr>
              <a:t>dimensiones</a:t>
            </a:r>
            <a:r>
              <a:rPr b="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s-ES" b="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s-ES" dirty="0">
                <a:latin typeface="Segoe UI" panose="020B0502040204020203" pitchFamily="34" charset="0"/>
                <a:cs typeface="Segoe UI" panose="020B0502040204020203" pitchFamily="34" charset="0"/>
              </a:rPr>
              <a:t>autonomía, dominio del entorno, crecimiento personal, relaciones positivas, propósito en la vida y autoaceptación </a:t>
            </a:r>
            <a:r>
              <a:rPr b="0" dirty="0">
                <a:latin typeface="Segoe UI" panose="020B0502040204020203" pitchFamily="34" charset="0"/>
                <a:cs typeface="Segoe UI" panose="020B0502040204020203" pitchFamily="34" charset="0"/>
              </a:rPr>
              <a:t>(Ryff).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4160520"/>
            <a:ext cx="5285232" cy="210312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042415" y="4471416"/>
            <a:ext cx="146304" cy="146304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298448" y="4407408"/>
            <a:ext cx="4462272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b="1" dirty="0">
                <a:solidFill>
                  <a:srgbClr val="2E2A3A"/>
                </a:solidFill>
                <a:latin typeface="Segoe UI Semibold"/>
              </a:rPr>
              <a:t>Calidad de </a:t>
            </a:r>
            <a:r>
              <a:rPr b="1" dirty="0" err="1">
                <a:solidFill>
                  <a:srgbClr val="2E2A3A"/>
                </a:solidFill>
                <a:latin typeface="Segoe UI Semibold"/>
              </a:rPr>
              <a:t>vida</a:t>
            </a:r>
            <a:r>
              <a:rPr b="1" dirty="0">
                <a:solidFill>
                  <a:srgbClr val="2E2A3A"/>
                </a:solidFill>
                <a:latin typeface="Segoe UI Semibold"/>
              </a:rPr>
              <a:t> y </a:t>
            </a:r>
            <a:r>
              <a:rPr b="1" dirty="0" err="1">
                <a:solidFill>
                  <a:srgbClr val="2E2A3A"/>
                </a:solidFill>
                <a:latin typeface="Segoe UI Semibold"/>
              </a:rPr>
              <a:t>salud</a:t>
            </a:r>
            <a:r>
              <a:rPr b="1" dirty="0">
                <a:solidFill>
                  <a:srgbClr val="2E2A3A"/>
                </a:solidFill>
                <a:latin typeface="Segoe UI Semibold"/>
              </a:rPr>
              <a:t> · </a:t>
            </a:r>
            <a:r>
              <a:rPr b="1" dirty="0" err="1">
                <a:solidFill>
                  <a:srgbClr val="2E2A3A"/>
                </a:solidFill>
                <a:latin typeface="Segoe UI Semibold"/>
              </a:rPr>
              <a:t>HRQoL</a:t>
            </a:r>
            <a:endParaRPr b="1" dirty="0">
              <a:solidFill>
                <a:srgbClr val="2E2A3A"/>
              </a:solidFill>
              <a:latin typeface="Segoe UI Semibold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42415" y="4937759"/>
            <a:ext cx="4700016" cy="10972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4000"/>
              </a:lnSpc>
            </a:pPr>
            <a:r>
              <a:rPr b="0" dirty="0">
                <a:latin typeface="Segoe UI"/>
              </a:rPr>
              <a:t>Impacto de la </a:t>
            </a:r>
            <a:r>
              <a:rPr b="0" dirty="0" err="1">
                <a:latin typeface="Segoe UI"/>
              </a:rPr>
              <a:t>enfermedad</a:t>
            </a:r>
            <a:r>
              <a:rPr b="0" dirty="0">
                <a:latin typeface="Segoe UI"/>
              </a:rPr>
              <a:t> </a:t>
            </a:r>
            <a:r>
              <a:rPr b="0" dirty="0" err="1">
                <a:latin typeface="Segoe UI"/>
              </a:rPr>
              <a:t>sobre</a:t>
            </a:r>
            <a:r>
              <a:rPr b="0" dirty="0">
                <a:latin typeface="Segoe UI"/>
              </a:rPr>
              <a:t> </a:t>
            </a:r>
            <a:r>
              <a:rPr b="0" dirty="0" err="1">
                <a:latin typeface="Segoe UI"/>
              </a:rPr>
              <a:t>el</a:t>
            </a:r>
            <a:r>
              <a:rPr b="0" dirty="0">
                <a:latin typeface="Segoe UI"/>
              </a:rPr>
              <a:t> </a:t>
            </a:r>
            <a:r>
              <a:rPr b="0" dirty="0" err="1">
                <a:latin typeface="Segoe UI"/>
              </a:rPr>
              <a:t>funcionamiento</a:t>
            </a:r>
            <a:r>
              <a:rPr b="0" dirty="0">
                <a:latin typeface="Segoe UI"/>
              </a:rPr>
              <a:t> </a:t>
            </a:r>
            <a:r>
              <a:rPr b="0" dirty="0" err="1">
                <a:latin typeface="Segoe UI"/>
              </a:rPr>
              <a:t>físico</a:t>
            </a:r>
            <a:r>
              <a:rPr b="0" dirty="0">
                <a:latin typeface="Segoe UI"/>
              </a:rPr>
              <a:t>, mental y social (WHOQOL).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36792" y="4160520"/>
            <a:ext cx="5285232" cy="210312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629400" y="4471416"/>
            <a:ext cx="146304" cy="146304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85432" y="4407408"/>
            <a:ext cx="4462272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b="1">
                <a:solidFill>
                  <a:srgbClr val="2E2A3A"/>
                </a:solidFill>
                <a:latin typeface="Segoe UI Semibold"/>
              </a:rPr>
              <a:t>Salud mental general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4937759"/>
            <a:ext cx="4700016" cy="10972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000"/>
              </a:lnSpc>
            </a:pPr>
            <a:r>
              <a:rPr lang="es-ES" dirty="0">
                <a:latin typeface="Segoe UI"/>
              </a:rPr>
              <a:t>Emociones positivas, funcionamiento psicológico y social </a:t>
            </a:r>
            <a:r>
              <a:rPr b="0" dirty="0">
                <a:latin typeface="Segoe UI"/>
              </a:rPr>
              <a:t>(Keyes).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9C99A6"/>
                </a:solidFill>
                <a:latin typeface="Segoe UI"/>
              </a:rPr>
              <a:t>Autoestima, autoconcepto y bienestar   ·   D. Antoneac</a:t>
            </a:r>
          </a:p>
        </p:txBody>
      </p:sp>
      <p:sp>
        <p:nvSpPr>
          <p:cNvPr id="23" name="Oval 22"/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s-ES" sz="1050" dirty="0">
                <a:solidFill>
                  <a:srgbClr val="9C99A6"/>
                </a:solidFill>
                <a:latin typeface="Segoe UI"/>
              </a:rPr>
              <a:t>4</a:t>
            </a:r>
            <a:r>
              <a:rPr sz="1050" b="0" dirty="0">
                <a:solidFill>
                  <a:srgbClr val="9C99A6"/>
                </a:solidFill>
                <a:latin typeface="Segoe UI"/>
              </a:rPr>
              <a:t>/ 1</a:t>
            </a:r>
            <a:r>
              <a:rPr lang="es-ES" sz="1050" b="0" dirty="0">
                <a:solidFill>
                  <a:srgbClr val="9C99A6"/>
                </a:solidFill>
                <a:latin typeface="Segoe UI"/>
              </a:rPr>
              <a:t>6</a:t>
            </a:r>
            <a:endParaRPr sz="1050" b="0" dirty="0">
              <a:solidFill>
                <a:srgbClr val="9C99A6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9808" y="56692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 spc="140">
                <a:solidFill>
                  <a:srgbClr val="9079C8"/>
                </a:solidFill>
                <a:latin typeface="Segoe UI Semibold"/>
              </a:rPr>
              <a:t>JUSTIFICACIÓN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0">
                <a:solidFill>
                  <a:srgbClr val="2E2A3A"/>
                </a:solidFill>
                <a:latin typeface="Segoe UI Semibold"/>
              </a:rPr>
              <a:t>Evidencia abundante… pero fragmentada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49808" y="1929384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24127" y="1847088"/>
            <a:ext cx="4800600" cy="1280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</a:pPr>
            <a:r>
              <a:rPr sz="1500" b="0">
                <a:solidFill>
                  <a:srgbClr val="4C4954"/>
                </a:solidFill>
                <a:latin typeface="Segoe UI"/>
              </a:rPr>
              <a:t>Es una de las literaturas </a:t>
            </a:r>
            <a:r>
              <a:rPr sz="1500" b="1">
                <a:solidFill>
                  <a:srgbClr val="2E2A3A"/>
                </a:solidFill>
                <a:latin typeface="Segoe UI Semibold"/>
              </a:rPr>
              <a:t>más voluminosas</a:t>
            </a:r>
            <a:r>
              <a:rPr sz="1500" b="0">
                <a:solidFill>
                  <a:srgbClr val="4C4954"/>
                </a:solidFill>
                <a:latin typeface="Segoe UI"/>
              </a:rPr>
              <a:t> de toda la psicología.</a:t>
            </a:r>
          </a:p>
        </p:txBody>
      </p:sp>
      <p:sp>
        <p:nvSpPr>
          <p:cNvPr id="8" name="Oval 7"/>
          <p:cNvSpPr/>
          <p:nvPr/>
        </p:nvSpPr>
        <p:spPr>
          <a:xfrm>
            <a:off x="749808" y="3255264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24127" y="3172968"/>
            <a:ext cx="4800600" cy="1280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</a:pPr>
            <a:r>
              <a:rPr sz="1500" b="0">
                <a:solidFill>
                  <a:srgbClr val="4C4954"/>
                </a:solidFill>
                <a:latin typeface="Segoe UI"/>
              </a:rPr>
              <a:t>La síntesis más próxima, </a:t>
            </a:r>
            <a:r>
              <a:rPr sz="1500" b="1">
                <a:solidFill>
                  <a:srgbClr val="2E2A3A"/>
                </a:solidFill>
                <a:latin typeface="Segoe UI Semibold"/>
              </a:rPr>
              <a:t>Zell &amp; Johansson (2025)</a:t>
            </a:r>
            <a:r>
              <a:rPr sz="1500" b="0">
                <a:solidFill>
                  <a:srgbClr val="4C4954"/>
                </a:solidFill>
                <a:latin typeface="Segoe UI"/>
              </a:rPr>
              <a:t>, agrega 40 meta-análisis: r = ,31 global (,42 salud mental; ,15 salud física)… pero en población general.</a:t>
            </a:r>
          </a:p>
        </p:txBody>
      </p:sp>
      <p:sp>
        <p:nvSpPr>
          <p:cNvPr id="10" name="Oval 9"/>
          <p:cNvSpPr/>
          <p:nvPr/>
        </p:nvSpPr>
        <p:spPr>
          <a:xfrm>
            <a:off x="749808" y="4581144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24127" y="4498848"/>
            <a:ext cx="4800600" cy="1280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</a:pPr>
            <a:r>
              <a:rPr sz="1500" b="0">
                <a:solidFill>
                  <a:srgbClr val="4C4954"/>
                </a:solidFill>
                <a:latin typeface="Segoe UI"/>
              </a:rPr>
              <a:t>Cada meta-análisis aborda una porción del problema: </a:t>
            </a:r>
            <a:r>
              <a:rPr sz="1500" b="1">
                <a:solidFill>
                  <a:srgbClr val="2E2A3A"/>
                </a:solidFill>
                <a:latin typeface="Segoe UI Semibold"/>
              </a:rPr>
              <a:t>visión fragmentada</a:t>
            </a:r>
            <a:r>
              <a:rPr sz="1500" b="0">
                <a:solidFill>
                  <a:srgbClr val="4C4954"/>
                </a:solidFill>
                <a:latin typeface="Segoe UI"/>
              </a:rPr>
              <a:t> y difícil de transferir a la clínica.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783080"/>
            <a:ext cx="5303520" cy="416052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537960" y="2057400"/>
            <a:ext cx="457200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3970">
            <a:solidFill>
              <a:srgbClr val="907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50" b="1">
                <a:solidFill>
                  <a:srgbClr val="6E57B0"/>
                </a:solidFill>
                <a:latin typeface="Segoe UI Semibold"/>
              </a:rPr>
              <a:t>El hueco que cubre este TFM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788920"/>
            <a:ext cx="4480559" cy="2926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</a:pPr>
            <a:r>
              <a:rPr sz="1500" b="0">
                <a:solidFill>
                  <a:srgbClr val="4C4954"/>
                </a:solidFill>
                <a:latin typeface="Segoe UI"/>
              </a:rPr>
              <a:t>①  Restrinjo a </a:t>
            </a:r>
            <a:r>
              <a:rPr sz="1500" b="1">
                <a:solidFill>
                  <a:srgbClr val="2E2A3A"/>
                </a:solidFill>
                <a:latin typeface="Segoe UI Semibold"/>
              </a:rPr>
              <a:t>población clínica y de la salud</a:t>
            </a:r>
            <a:r>
              <a:rPr sz="1500" b="0">
                <a:solidFill>
                  <a:srgbClr val="4C4954"/>
                </a:solidFill>
                <a:latin typeface="Segoe UI"/>
              </a:rPr>
              <a:t> (≥ 75 %).</a:t>
            </a:r>
          </a:p>
          <a:p>
            <a:pPr algn="l">
              <a:lnSpc>
                <a:spcPct val="116000"/>
              </a:lnSpc>
              <a:spcBef>
                <a:spcPts val="1200"/>
              </a:spcBef>
            </a:pPr>
            <a:r>
              <a:rPr sz="1500" b="0">
                <a:solidFill>
                  <a:srgbClr val="4C4954"/>
                </a:solidFill>
                <a:latin typeface="Segoe UI"/>
              </a:rPr>
              <a:t>②  Integro </a:t>
            </a:r>
            <a:r>
              <a:rPr sz="1500" b="1">
                <a:solidFill>
                  <a:srgbClr val="2E2A3A"/>
                </a:solidFill>
                <a:latin typeface="Segoe UI Semibold"/>
              </a:rPr>
              <a:t>autoestima y autoconcepto</a:t>
            </a:r>
            <a:r>
              <a:rPr sz="1500" b="0">
                <a:solidFill>
                  <a:srgbClr val="4C4954"/>
                </a:solidFill>
                <a:latin typeface="Segoe UI"/>
              </a:rPr>
              <a:t> —incluida la imagen corporal— como dos caras del mismo objeto.</a:t>
            </a:r>
          </a:p>
          <a:p>
            <a:pPr algn="l">
              <a:lnSpc>
                <a:spcPct val="116000"/>
              </a:lnSpc>
              <a:spcBef>
                <a:spcPts val="1200"/>
              </a:spcBef>
            </a:pPr>
            <a:r>
              <a:rPr sz="1350" b="0">
                <a:solidFill>
                  <a:srgbClr val="9C99A6"/>
                </a:solidFill>
                <a:latin typeface="Segoe UI"/>
              </a:rPr>
              <a:t>Las intervenciones se diseñan sobre constructos específicos, no sobre un único agregado global.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9C99A6"/>
                </a:solidFill>
                <a:latin typeface="Segoe UI"/>
              </a:rPr>
              <a:t>Autoestima, autoconcepto y bienestar   ·   D. Antoneac</a:t>
            </a:r>
          </a:p>
        </p:txBody>
      </p:sp>
      <p:sp>
        <p:nvSpPr>
          <p:cNvPr id="16" name="Oval 15"/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s-ES" sz="1050" dirty="0">
                <a:solidFill>
                  <a:srgbClr val="9C99A6"/>
                </a:solidFill>
                <a:latin typeface="Segoe UI"/>
              </a:rPr>
              <a:t>5</a:t>
            </a:r>
            <a:r>
              <a:rPr sz="1050" b="0" dirty="0">
                <a:solidFill>
                  <a:srgbClr val="9C99A6"/>
                </a:solidFill>
                <a:latin typeface="Segoe UI"/>
              </a:rPr>
              <a:t> / 1</a:t>
            </a:r>
            <a:r>
              <a:rPr lang="es-ES" sz="1050" b="0" dirty="0">
                <a:solidFill>
                  <a:srgbClr val="9C99A6"/>
                </a:solidFill>
                <a:latin typeface="Segoe UI"/>
              </a:rPr>
              <a:t>6</a:t>
            </a:r>
            <a:endParaRPr sz="1050" b="0" dirty="0">
              <a:solidFill>
                <a:srgbClr val="9C99A6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9808" y="56692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 spc="140">
                <a:solidFill>
                  <a:srgbClr val="9079C8"/>
                </a:solidFill>
                <a:latin typeface="Segoe UI Semibold"/>
              </a:rPr>
              <a:t>OBJETIVOS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0">
                <a:solidFill>
                  <a:srgbClr val="2E2A3A"/>
                </a:solidFill>
                <a:latin typeface="Segoe UI Semibold"/>
              </a:rPr>
              <a:t>Qué me propongo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49808" y="1691640"/>
            <a:ext cx="10725912" cy="1078992"/>
          </a:xfrm>
          <a:prstGeom prst="roundRect">
            <a:avLst>
              <a:gd name="adj" fmla="val 6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49808" y="1691640"/>
            <a:ext cx="91440" cy="1078992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15568" y="1883664"/>
            <a:ext cx="999439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</a:pPr>
            <a:r>
              <a:rPr sz="1700" b="1">
                <a:solidFill>
                  <a:srgbClr val="2E2A3A"/>
                </a:solidFill>
                <a:latin typeface="Segoe UI Semibold"/>
              </a:rPr>
              <a:t>Objetivo general.  </a:t>
            </a:r>
            <a:r>
              <a:rPr sz="1700" b="0">
                <a:solidFill>
                  <a:srgbClr val="4C4954"/>
                </a:solidFill>
                <a:latin typeface="Segoe UI"/>
              </a:rPr>
              <a:t>Sintetizar, mediante una revisión paraguas (PRISMA 2020 y PRIOR), la evidencia meta-analítica sobre autoestima y/o autoconcepto y bienestar en psicología clínica y de la salud (2016–2026).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227832"/>
            <a:ext cx="603504" cy="60350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3063240"/>
            <a:ext cx="4416552" cy="1417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6000"/>
              </a:lnSpc>
            </a:pPr>
            <a:r>
              <a:rPr sz="1650" b="0">
                <a:solidFill>
                  <a:srgbClr val="4C4954"/>
                </a:solidFill>
                <a:latin typeface="Segoe UI"/>
              </a:rPr>
              <a:t>Identificar y describir los meta-análisis del periodo en poblaciones clínicas o de salud.</a:t>
            </a:r>
          </a:p>
        </p:txBody>
      </p:sp>
      <p:sp>
        <p:nvSpPr>
          <p:cNvPr id="11" name="Oval 10"/>
          <p:cNvSpPr/>
          <p:nvPr/>
        </p:nvSpPr>
        <p:spPr>
          <a:xfrm>
            <a:off x="6336792" y="3227832"/>
            <a:ext cx="603504" cy="60350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59752" y="3063240"/>
            <a:ext cx="4416552" cy="1417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6000"/>
              </a:lnSpc>
            </a:pPr>
            <a:r>
              <a:rPr sz="1650" b="0">
                <a:solidFill>
                  <a:srgbClr val="4C4954"/>
                </a:solidFill>
                <a:latin typeface="Segoe UI"/>
              </a:rPr>
              <a:t>Sintetizar los tamaños del efecto: consistencias y discrepancias por constructo, outcome y población.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4782312"/>
            <a:ext cx="603504" cy="60350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72768" y="4617720"/>
            <a:ext cx="4416552" cy="1417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6000"/>
              </a:lnSpc>
            </a:pPr>
            <a:r>
              <a:rPr sz="1650" b="0">
                <a:solidFill>
                  <a:srgbClr val="4C4954"/>
                </a:solidFill>
                <a:latin typeface="Segoe UI"/>
              </a:rPr>
              <a:t>Evaluar la calidad metodológica (AMSTAR-2) y el solapamiento entre revisiones (CCA).</a:t>
            </a:r>
          </a:p>
        </p:txBody>
      </p:sp>
      <p:sp>
        <p:nvSpPr>
          <p:cNvPr id="15" name="Oval 14"/>
          <p:cNvSpPr/>
          <p:nvPr/>
        </p:nvSpPr>
        <p:spPr>
          <a:xfrm>
            <a:off x="6336792" y="4782312"/>
            <a:ext cx="603504" cy="60350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59752" y="4617720"/>
            <a:ext cx="4416552" cy="1417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6000"/>
              </a:lnSpc>
            </a:pPr>
            <a:r>
              <a:rPr sz="1650" b="0">
                <a:solidFill>
                  <a:srgbClr val="4C4954"/>
                </a:solidFill>
                <a:latin typeface="Segoe UI"/>
              </a:rPr>
              <a:t>Identificar lagunas en la evidencia y proponer líneas de investigación futura.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9C99A6"/>
                </a:solidFill>
                <a:latin typeface="Segoe UI"/>
              </a:rPr>
              <a:t>Autoestima, autoconcepto y bienestar   ·   D. Antoneac</a:t>
            </a:r>
          </a:p>
        </p:txBody>
      </p:sp>
      <p:sp>
        <p:nvSpPr>
          <p:cNvPr id="18" name="Oval 17"/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s-ES" sz="1050" dirty="0">
                <a:solidFill>
                  <a:srgbClr val="9C99A6"/>
                </a:solidFill>
                <a:latin typeface="Segoe UI"/>
              </a:rPr>
              <a:t>6</a:t>
            </a:r>
            <a:r>
              <a:rPr sz="1050" b="0" dirty="0">
                <a:solidFill>
                  <a:srgbClr val="9C99A6"/>
                </a:solidFill>
                <a:latin typeface="Segoe UI"/>
              </a:rPr>
              <a:t> / 1</a:t>
            </a:r>
            <a:r>
              <a:rPr lang="es-ES" sz="1050" b="0" dirty="0">
                <a:solidFill>
                  <a:srgbClr val="9C99A6"/>
                </a:solidFill>
                <a:latin typeface="Segoe UI"/>
              </a:rPr>
              <a:t>6</a:t>
            </a:r>
            <a:endParaRPr sz="1050" b="0" dirty="0">
              <a:solidFill>
                <a:srgbClr val="9C99A6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9808" y="56692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 spc="140">
                <a:solidFill>
                  <a:srgbClr val="9079C8"/>
                </a:solidFill>
                <a:latin typeface="Segoe UI Semibold"/>
              </a:rPr>
              <a:t>MÉTODO · DISEÑO Y PREGUNTA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0">
                <a:solidFill>
                  <a:srgbClr val="2E2A3A"/>
                </a:solidFill>
                <a:latin typeface="Segoe UI Semibold"/>
              </a:rPr>
              <a:t>Una revisión de revisiones (PECO)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49808" y="2167127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24127" y="2084831"/>
            <a:ext cx="4434840" cy="11887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</a:pPr>
            <a:r>
              <a:rPr sz="1700" b="1">
                <a:solidFill>
                  <a:srgbClr val="2E2A3A"/>
                </a:solidFill>
                <a:latin typeface="Segoe UI Semibold"/>
              </a:rPr>
              <a:t>Diseño:</a:t>
            </a:r>
            <a:r>
              <a:rPr sz="1700" b="0">
                <a:solidFill>
                  <a:srgbClr val="4C4954"/>
                </a:solidFill>
                <a:latin typeface="Segoe UI"/>
              </a:rPr>
              <a:t> umbrella review. La unidad de análisis es el meta-análisis, no el estudio primario.</a:t>
            </a:r>
          </a:p>
        </p:txBody>
      </p:sp>
      <p:sp>
        <p:nvSpPr>
          <p:cNvPr id="8" name="Oval 7"/>
          <p:cNvSpPr/>
          <p:nvPr/>
        </p:nvSpPr>
        <p:spPr>
          <a:xfrm>
            <a:off x="749808" y="3401568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24127" y="3319272"/>
            <a:ext cx="4434840" cy="11887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</a:pPr>
            <a:r>
              <a:rPr sz="1700" b="1">
                <a:solidFill>
                  <a:srgbClr val="2E2A3A"/>
                </a:solidFill>
                <a:latin typeface="Segoe UI Semibold"/>
              </a:rPr>
              <a:t>Reporte:</a:t>
            </a:r>
            <a:r>
              <a:rPr sz="1700" b="0">
                <a:solidFill>
                  <a:srgbClr val="4C4954"/>
                </a:solidFill>
                <a:latin typeface="Segoe UI"/>
              </a:rPr>
              <a:t> PRISMA 2020 y PRIOR, guías específicas para revisiones de revisiones.</a:t>
            </a:r>
          </a:p>
        </p:txBody>
      </p:sp>
      <p:sp>
        <p:nvSpPr>
          <p:cNvPr id="10" name="Oval 9"/>
          <p:cNvSpPr/>
          <p:nvPr/>
        </p:nvSpPr>
        <p:spPr>
          <a:xfrm>
            <a:off x="749808" y="4636008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24127" y="4553712"/>
            <a:ext cx="4434840" cy="11887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</a:pPr>
            <a:r>
              <a:rPr sz="1700" b="1">
                <a:solidFill>
                  <a:srgbClr val="2E2A3A"/>
                </a:solidFill>
                <a:latin typeface="Segoe UI Semibold"/>
              </a:rPr>
              <a:t>Pregunta:</a:t>
            </a:r>
            <a:r>
              <a:rPr sz="1700" b="0">
                <a:solidFill>
                  <a:srgbClr val="4C4954"/>
                </a:solidFill>
                <a:latin typeface="Segoe UI"/>
              </a:rPr>
              <a:t> formulada en formato PECO  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97880" y="1783080"/>
            <a:ext cx="5577840" cy="425196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63640" y="2148840"/>
            <a:ext cx="1645920" cy="88011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9079C8"/>
                </a:solidFill>
                <a:latin typeface="Segoe UI Semibold"/>
              </a:rPr>
              <a:t>P</a:t>
            </a:r>
          </a:p>
          <a:p>
            <a:pPr algn="l">
              <a:spcBef>
                <a:spcPts val="200"/>
              </a:spcBef>
            </a:pPr>
            <a:r>
              <a:rPr sz="1350" b="1">
                <a:solidFill>
                  <a:srgbClr val="9079C8"/>
                </a:solidFill>
                <a:latin typeface="Segoe UI Semibold"/>
              </a:rPr>
              <a:t>Población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2148840"/>
            <a:ext cx="3291839" cy="88011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4000"/>
              </a:lnSpc>
            </a:pPr>
            <a:r>
              <a:rPr sz="1500" b="0">
                <a:solidFill>
                  <a:srgbClr val="4C4954"/>
                </a:solidFill>
                <a:latin typeface="Segoe UI"/>
              </a:rPr>
              <a:t>Contexto clínico o de salud: diagnóstico, enfermedad o riesgo. Umbral ≥ 75 %.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3028950"/>
            <a:ext cx="1645920" cy="88011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9079C8"/>
                </a:solidFill>
                <a:latin typeface="Segoe UI Semibold"/>
              </a:rPr>
              <a:t>E</a:t>
            </a:r>
          </a:p>
          <a:p>
            <a:pPr algn="l">
              <a:spcBef>
                <a:spcPts val="200"/>
              </a:spcBef>
            </a:pPr>
            <a:r>
              <a:rPr sz="1350" b="1">
                <a:solidFill>
                  <a:srgbClr val="9079C8"/>
                </a:solidFill>
                <a:latin typeface="Segoe UI Semibold"/>
              </a:rPr>
              <a:t>Exposición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3028950"/>
            <a:ext cx="3291839" cy="88011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4000"/>
              </a:lnSpc>
            </a:pPr>
            <a:r>
              <a:rPr sz="1500" b="0">
                <a:solidFill>
                  <a:srgbClr val="4C4954"/>
                </a:solidFill>
                <a:latin typeface="Segoe UI"/>
              </a:rPr>
              <a:t>Autoestima y/o autoconcepto, incluida la imagen corporal, con instrumentos validados.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3909060"/>
            <a:ext cx="1645920" cy="88011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9079C8"/>
                </a:solidFill>
                <a:latin typeface="Segoe UI Semibold"/>
              </a:rPr>
              <a:t>C</a:t>
            </a:r>
          </a:p>
          <a:p>
            <a:pPr algn="l">
              <a:spcBef>
                <a:spcPts val="200"/>
              </a:spcBef>
            </a:pPr>
            <a:r>
              <a:rPr sz="1350" b="1">
                <a:solidFill>
                  <a:srgbClr val="9079C8"/>
                </a:solidFill>
                <a:latin typeface="Segoe UI Semibold"/>
              </a:rPr>
              <a:t>Comparador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3909060"/>
            <a:ext cx="3291839" cy="88011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4000"/>
              </a:lnSpc>
            </a:pPr>
            <a:r>
              <a:rPr sz="1500" b="0">
                <a:solidFill>
                  <a:srgbClr val="4C4954"/>
                </a:solidFill>
                <a:latin typeface="Segoe UI"/>
              </a:rPr>
              <a:t>Flexible: implícito (correlacional) o grupo control (intervención).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4789170"/>
            <a:ext cx="1645920" cy="88011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9079C8"/>
                </a:solidFill>
                <a:latin typeface="Segoe UI Semibold"/>
              </a:rPr>
              <a:t>O</a:t>
            </a:r>
          </a:p>
          <a:p>
            <a:pPr algn="l">
              <a:spcBef>
                <a:spcPts val="200"/>
              </a:spcBef>
            </a:pPr>
            <a:r>
              <a:rPr sz="1350" b="1">
                <a:solidFill>
                  <a:srgbClr val="9079C8"/>
                </a:solidFill>
                <a:latin typeface="Segoe UI Semibold"/>
              </a:rPr>
              <a:t>Outcome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4789170"/>
            <a:ext cx="3291839" cy="88011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4000"/>
              </a:lnSpc>
            </a:pPr>
            <a:r>
              <a:rPr sz="1500" b="0">
                <a:solidFill>
                  <a:srgbClr val="4C4954"/>
                </a:solidFill>
                <a:latin typeface="Segoe UI"/>
              </a:rPr>
              <a:t>Bienestar subjetivo, psicológico, HRQoL o salud mental general.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9C99A6"/>
                </a:solidFill>
                <a:latin typeface="Segoe UI"/>
              </a:rPr>
              <a:t>Autoestima, autoconcepto y bienestar   ·   D. Antoneac</a:t>
            </a:r>
          </a:p>
        </p:txBody>
      </p:sp>
      <p:sp>
        <p:nvSpPr>
          <p:cNvPr id="22" name="Oval 21"/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s-ES" sz="1050" dirty="0">
                <a:solidFill>
                  <a:srgbClr val="9C99A6"/>
                </a:solidFill>
                <a:latin typeface="Segoe UI"/>
              </a:rPr>
              <a:t>7</a:t>
            </a:r>
            <a:r>
              <a:rPr sz="1050" b="0" dirty="0">
                <a:solidFill>
                  <a:srgbClr val="9C99A6"/>
                </a:solidFill>
                <a:latin typeface="Segoe UI"/>
              </a:rPr>
              <a:t> / 1</a:t>
            </a:r>
            <a:r>
              <a:rPr lang="es-ES" sz="1050" b="0" dirty="0">
                <a:solidFill>
                  <a:srgbClr val="9C99A6"/>
                </a:solidFill>
                <a:latin typeface="Segoe UI"/>
              </a:rPr>
              <a:t>6</a:t>
            </a:r>
            <a:endParaRPr sz="1050" b="0" dirty="0">
              <a:solidFill>
                <a:srgbClr val="9C99A6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9808" y="56692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 spc="140">
                <a:solidFill>
                  <a:srgbClr val="9079C8"/>
                </a:solidFill>
                <a:latin typeface="Segoe UI Semibold"/>
              </a:rPr>
              <a:t>MÉTODO · BÚSQUEDA Y SELECCIÓN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0">
                <a:solidFill>
                  <a:srgbClr val="2E2A3A"/>
                </a:solidFill>
                <a:latin typeface="Segoe UI Semibold"/>
              </a:rPr>
              <a:t>Dónde y cómo busqué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49808" y="1783080"/>
            <a:ext cx="5212080" cy="420624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60704" y="2148840"/>
            <a:ext cx="137160" cy="137160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98448" y="2075688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650" b="1">
                <a:solidFill>
                  <a:srgbClr val="2E2A3A"/>
                </a:solidFill>
                <a:latin typeface="Segoe UI Semibold"/>
              </a:rPr>
              <a:t>4 bases primarias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" y="2624328"/>
            <a:ext cx="4590288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4C4954"/>
                </a:solidFill>
                <a:latin typeface="Segoe UI"/>
              </a:rPr>
              <a:t>PubMed/MEDLINE · APA PsycInfo · Scopus · Web of Science.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60704" y="3538728"/>
            <a:ext cx="137160" cy="137160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98448" y="3465576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650" b="1">
                <a:solidFill>
                  <a:srgbClr val="2E2A3A"/>
                </a:solidFill>
                <a:latin typeface="Segoe UI Semibold"/>
              </a:rPr>
              <a:t>+ 5 fuentes de literatura gris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" y="4014215"/>
            <a:ext cx="4590288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4C4954"/>
                </a:solidFill>
                <a:latin typeface="Segoe UI"/>
              </a:rPr>
              <a:t>PROSPERO · OSF · Google Scholar · TESEO · ProQuest Dissertations.</a:t>
            </a:r>
          </a:p>
          <a:p>
            <a:pPr algn="l">
              <a:spcBef>
                <a:spcPts val="500"/>
              </a:spcBef>
            </a:pPr>
            <a:r>
              <a:rPr sz="1350" b="0" i="1">
                <a:solidFill>
                  <a:srgbClr val="9C99A6"/>
                </a:solidFill>
                <a:latin typeface="Segoe UI"/>
              </a:rPr>
              <a:t>Reduce el sesgo de publicación.</a:t>
            </a:r>
          </a:p>
        </p:txBody>
      </p:sp>
      <p:sp>
        <p:nvSpPr>
          <p:cNvPr id="13" name="Oval 12"/>
          <p:cNvSpPr/>
          <p:nvPr/>
        </p:nvSpPr>
        <p:spPr>
          <a:xfrm>
            <a:off x="6172200" y="1984248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46520" y="1901952"/>
            <a:ext cx="5029200" cy="1371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</a:pPr>
            <a:r>
              <a:rPr sz="1650" b="1">
                <a:solidFill>
                  <a:srgbClr val="2E2A3A"/>
                </a:solidFill>
                <a:latin typeface="Segoe UI Semibold"/>
              </a:rPr>
              <a:t>Estrategia:</a:t>
            </a:r>
            <a:r>
              <a:rPr sz="1650" b="0">
                <a:solidFill>
                  <a:srgbClr val="4C4954"/>
                </a:solidFill>
                <a:latin typeface="Segoe UI"/>
              </a:rPr>
              <a:t> 3 bloques unidos por AND (exposición × outcome × diseño) y vocabulario controlado (MeSH, APA Thesaurus).</a:t>
            </a:r>
          </a:p>
        </p:txBody>
      </p:sp>
      <p:sp>
        <p:nvSpPr>
          <p:cNvPr id="15" name="Oval 14"/>
          <p:cNvSpPr/>
          <p:nvPr/>
        </p:nvSpPr>
        <p:spPr>
          <a:xfrm>
            <a:off x="6172200" y="3401568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46520" y="3319272"/>
            <a:ext cx="5029200" cy="1371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</a:pPr>
            <a:r>
              <a:rPr sz="1650" b="1">
                <a:solidFill>
                  <a:srgbClr val="2E2A3A"/>
                </a:solidFill>
                <a:latin typeface="Segoe UI Semibold"/>
              </a:rPr>
              <a:t>Gestión:</a:t>
            </a:r>
            <a:r>
              <a:rPr sz="1650" b="0">
                <a:solidFill>
                  <a:srgbClr val="4C4954"/>
                </a:solidFill>
                <a:latin typeface="Segoe UI"/>
              </a:rPr>
              <a:t> todos los registros en Rayyan, con motivo de exclusión documentado.</a:t>
            </a:r>
          </a:p>
        </p:txBody>
      </p:sp>
      <p:sp>
        <p:nvSpPr>
          <p:cNvPr id="17" name="Oval 16"/>
          <p:cNvSpPr/>
          <p:nvPr/>
        </p:nvSpPr>
        <p:spPr>
          <a:xfrm>
            <a:off x="6172200" y="4658868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12992" y="4617720"/>
            <a:ext cx="5029200" cy="1371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</a:pPr>
            <a:r>
              <a:rPr sz="1650" b="1" dirty="0" err="1">
                <a:solidFill>
                  <a:srgbClr val="2E2A3A"/>
                </a:solidFill>
                <a:latin typeface="Segoe UI Semibold"/>
              </a:rPr>
              <a:t>Transparencia</a:t>
            </a:r>
            <a:r>
              <a:rPr sz="1650" b="1" dirty="0">
                <a:solidFill>
                  <a:srgbClr val="2E2A3A"/>
                </a:solidFill>
                <a:latin typeface="Segoe UI Semibold"/>
              </a:rPr>
              <a:t>: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cribado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y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extracción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por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revisora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única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→ se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reconoce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como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limitación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principal.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9C99A6"/>
                </a:solidFill>
                <a:latin typeface="Segoe UI"/>
              </a:rPr>
              <a:t>Autoestima, autoconcepto y bienestar   ·   D. Antoneac</a:t>
            </a:r>
          </a:p>
        </p:txBody>
      </p:sp>
      <p:sp>
        <p:nvSpPr>
          <p:cNvPr id="20" name="Oval 19"/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s-ES" sz="1050" dirty="0">
                <a:solidFill>
                  <a:srgbClr val="9C99A6"/>
                </a:solidFill>
                <a:latin typeface="Segoe UI"/>
              </a:rPr>
              <a:t>8</a:t>
            </a:r>
            <a:r>
              <a:rPr sz="1050" b="0" dirty="0">
                <a:solidFill>
                  <a:srgbClr val="9C99A6"/>
                </a:solidFill>
                <a:latin typeface="Segoe UI"/>
              </a:rPr>
              <a:t> / 1</a:t>
            </a:r>
            <a:r>
              <a:rPr lang="es-ES" sz="1050" b="0" dirty="0">
                <a:solidFill>
                  <a:srgbClr val="9C99A6"/>
                </a:solidFill>
                <a:latin typeface="Segoe UI"/>
              </a:rPr>
              <a:t>6</a:t>
            </a:r>
            <a:endParaRPr sz="1050" b="0" dirty="0">
              <a:solidFill>
                <a:srgbClr val="9C99A6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12843" y="521208"/>
            <a:ext cx="438134" cy="18288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 sz="3200"/>
          </a:p>
        </p:txBody>
      </p:sp>
      <p:sp>
        <p:nvSpPr>
          <p:cNvPr id="3" name="TextBox 2"/>
          <p:cNvSpPr txBox="1"/>
          <p:nvPr/>
        </p:nvSpPr>
        <p:spPr>
          <a:xfrm>
            <a:off x="1168097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b="1" spc="140" dirty="0">
                <a:solidFill>
                  <a:srgbClr val="9079C8"/>
                </a:solidFill>
                <a:latin typeface="Segoe UI Semibold"/>
              </a:rPr>
              <a:t>RESULTADOS · EL CORPUS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0" dirty="0">
                <a:solidFill>
                  <a:srgbClr val="2E2A3A"/>
                </a:solidFill>
                <a:latin typeface="Segoe UI Semibold"/>
              </a:rPr>
              <a:t>13 meta-</a:t>
            </a:r>
            <a:r>
              <a:rPr sz="3000" b="0" dirty="0" err="1">
                <a:solidFill>
                  <a:srgbClr val="2E2A3A"/>
                </a:solidFill>
                <a:latin typeface="Segoe UI Semibold"/>
              </a:rPr>
              <a:t>análisis</a:t>
            </a:r>
            <a:endParaRPr sz="3000" b="0" dirty="0">
              <a:solidFill>
                <a:srgbClr val="2E2A3A"/>
              </a:solidFill>
              <a:latin typeface="Segoe UI Semibold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49808" y="1783080"/>
            <a:ext cx="3419856" cy="1417320"/>
          </a:xfrm>
          <a:prstGeom prst="roundRect">
            <a:avLst>
              <a:gd name="adj" fmla="val 6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2011680"/>
            <a:ext cx="3419856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3600" b="1">
                <a:solidFill>
                  <a:srgbClr val="9079C8"/>
                </a:solidFill>
                <a:latin typeface="Georgia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761488"/>
            <a:ext cx="3419856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250" b="0">
                <a:solidFill>
                  <a:srgbClr val="4C4954"/>
                </a:solidFill>
                <a:latin typeface="Segoe UI"/>
              </a:rPr>
              <a:t>meta-análisis incluidos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71416" y="1783080"/>
            <a:ext cx="3419856" cy="1417320"/>
          </a:xfrm>
          <a:prstGeom prst="roundRect">
            <a:avLst>
              <a:gd name="adj" fmla="val 6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71416" y="2011680"/>
            <a:ext cx="3419856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3600" b="1">
                <a:solidFill>
                  <a:srgbClr val="9079C8"/>
                </a:solidFill>
                <a:latin typeface="Georgia"/>
              </a:rPr>
              <a:t>~415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71416" y="2761488"/>
            <a:ext cx="3419856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250" b="0">
                <a:solidFill>
                  <a:srgbClr val="4C4954"/>
                </a:solidFill>
                <a:latin typeface="Segoe UI"/>
              </a:rPr>
              <a:t>estudios primarios agregados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93024" y="1783080"/>
            <a:ext cx="3419856" cy="1417320"/>
          </a:xfrm>
          <a:prstGeom prst="roundRect">
            <a:avLst>
              <a:gd name="adj" fmla="val 6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93024" y="2011680"/>
            <a:ext cx="3419856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3600" b="1">
                <a:solidFill>
                  <a:srgbClr val="9079C8"/>
                </a:solidFill>
                <a:latin typeface="Georgia"/>
              </a:rPr>
              <a:t>7 – 114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93024" y="2761488"/>
            <a:ext cx="3419856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250" b="0">
                <a:solidFill>
                  <a:srgbClr val="4C4954"/>
                </a:solidFill>
                <a:latin typeface="Segoe UI"/>
              </a:rPr>
              <a:t>rango de k (mediana 19)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52044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50" b="1" spc="120">
                <a:solidFill>
                  <a:srgbClr val="9079C8"/>
                </a:solidFill>
                <a:latin typeface="Segoe UI Semibold"/>
              </a:rPr>
              <a:t>POBLACIONES CUBIERTAS  (2018–2026)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3922776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0">
                <a:solidFill>
                  <a:srgbClr val="4C4954"/>
                </a:solidFill>
                <a:latin typeface="Segoe UI"/>
              </a:rPr>
              <a:t>Trastornos psiquiátricos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11880" y="3950208"/>
            <a:ext cx="3886200" cy="201168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607807" y="3922776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50" b="1">
                <a:solidFill>
                  <a:srgbClr val="9079C8"/>
                </a:solidFill>
                <a:latin typeface="Segoe UI Semibold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4306824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0">
                <a:solidFill>
                  <a:srgbClr val="4C4954"/>
                </a:solidFill>
                <a:latin typeface="Segoe UI"/>
              </a:rPr>
              <a:t>Obesidad infantojuvenil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11880" y="4334256"/>
            <a:ext cx="2331720" cy="201168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3328" y="4306824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50" b="1">
                <a:solidFill>
                  <a:srgbClr val="9079C8"/>
                </a:solidFill>
                <a:latin typeface="Segoe UI Semibol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4690872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0">
                <a:solidFill>
                  <a:srgbClr val="4C4954"/>
                </a:solidFill>
                <a:latin typeface="Segoe UI"/>
              </a:rPr>
              <a:t>Salud reproductiva / trans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11880" y="4718304"/>
            <a:ext cx="1554480" cy="201168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276088" y="469087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50" b="1">
                <a:solidFill>
                  <a:srgbClr val="9079C8"/>
                </a:solidFill>
                <a:latin typeface="Segoe UI Semibold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507492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0">
                <a:solidFill>
                  <a:srgbClr val="4C4954"/>
                </a:solidFill>
                <a:latin typeface="Segoe UI"/>
              </a:rPr>
              <a:t>Salud orofacial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11880" y="5102352"/>
            <a:ext cx="777240" cy="201168"/>
          </a:xfrm>
          <a:prstGeom prst="roundRect">
            <a:avLst>
              <a:gd name="adj" fmla="val 50000"/>
            </a:avLst>
          </a:prstGeom>
          <a:solidFill>
            <a:srgbClr val="CBB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498848" y="50749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50" b="1">
                <a:solidFill>
                  <a:srgbClr val="9079C8"/>
                </a:solidFill>
                <a:latin typeface="Segoe UI Semibold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" y="5458968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0">
                <a:solidFill>
                  <a:srgbClr val="4C4954"/>
                </a:solidFill>
                <a:latin typeface="Segoe UI"/>
              </a:rPr>
              <a:t>Víctimas de violencia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11880" y="5486400"/>
            <a:ext cx="777240" cy="201168"/>
          </a:xfrm>
          <a:prstGeom prst="roundRect">
            <a:avLst>
              <a:gd name="adj" fmla="val 50000"/>
            </a:avLst>
          </a:prstGeom>
          <a:solidFill>
            <a:srgbClr val="CBB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498848" y="5458968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50" b="1">
                <a:solidFill>
                  <a:srgbClr val="9079C8"/>
                </a:solidFill>
                <a:latin typeface="Segoe UI Semibold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" y="5843016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0">
                <a:solidFill>
                  <a:srgbClr val="4C4954"/>
                </a:solidFill>
                <a:latin typeface="Segoe UI"/>
              </a:rPr>
              <a:t>Baja autoestima clínica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611880" y="5870448"/>
            <a:ext cx="777240" cy="201168"/>
          </a:xfrm>
          <a:prstGeom prst="roundRect">
            <a:avLst>
              <a:gd name="adj" fmla="val 50000"/>
            </a:avLst>
          </a:prstGeom>
          <a:solidFill>
            <a:srgbClr val="CBB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498848" y="5843016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50" b="1">
                <a:solidFill>
                  <a:srgbClr val="9079C8"/>
                </a:solidFill>
                <a:latin typeface="Segoe UI Semibold"/>
              </a:rP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9C99A6"/>
                </a:solidFill>
                <a:latin typeface="Segoe UI"/>
              </a:rPr>
              <a:t>Autoestima, autoconcepto y bienestar   ·   D. Antoneac</a:t>
            </a:r>
          </a:p>
        </p:txBody>
      </p:sp>
      <p:sp>
        <p:nvSpPr>
          <p:cNvPr id="35" name="Oval 34"/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s-ES" sz="1050" dirty="0">
                <a:solidFill>
                  <a:srgbClr val="9C99A6"/>
                </a:solidFill>
                <a:latin typeface="Segoe UI"/>
              </a:rPr>
              <a:t>9</a:t>
            </a:r>
            <a:r>
              <a:rPr sz="1050" b="0" dirty="0">
                <a:solidFill>
                  <a:srgbClr val="9C99A6"/>
                </a:solidFill>
                <a:latin typeface="Segoe UI"/>
              </a:rPr>
              <a:t>/ 1</a:t>
            </a:r>
            <a:r>
              <a:rPr lang="es-ES" sz="1050" b="0" dirty="0">
                <a:solidFill>
                  <a:srgbClr val="9C99A6"/>
                </a:solidFill>
                <a:latin typeface="Segoe UI"/>
              </a:rPr>
              <a:t>6</a:t>
            </a:r>
            <a:endParaRPr sz="1050" b="0" dirty="0">
              <a:solidFill>
                <a:srgbClr val="9C99A6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9808" y="56692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 spc="140">
                <a:solidFill>
                  <a:srgbClr val="9079C8"/>
                </a:solidFill>
                <a:latin typeface="Segoe UI Semibold"/>
              </a:rPr>
              <a:t>RESULTADOS · CALIDAD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0">
                <a:solidFill>
                  <a:srgbClr val="2E2A3A"/>
                </a:solidFill>
                <a:latin typeface="Segoe UI Semibold"/>
              </a:rPr>
              <a:t>La calidad del corpus pide cautela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8" y="2039112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>
                <a:solidFill>
                  <a:srgbClr val="2E2A3A"/>
                </a:solidFill>
                <a:latin typeface="Segoe UI Semibold"/>
              </a:rPr>
              <a:t>Alta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360" y="2057400"/>
            <a:ext cx="566928" cy="27432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575304" y="2039112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0">
                <a:solidFill>
                  <a:srgbClr val="4C4954"/>
                </a:solidFill>
                <a:latin typeface="Segoe UI"/>
              </a:rPr>
              <a:t>1   8 %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697479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>
                <a:solidFill>
                  <a:srgbClr val="2E2A3A"/>
                </a:solidFill>
                <a:latin typeface="Segoe UI Semibold"/>
              </a:rPr>
              <a:t>Moderada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20924" y="2697479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s-ES" sz="1350" b="0" dirty="0">
                <a:latin typeface="Segoe UI"/>
              </a:rPr>
              <a:t>0</a:t>
            </a:r>
            <a:endParaRPr sz="1350" b="0" dirty="0">
              <a:latin typeface="Segoe U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49808" y="3355847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>
                <a:solidFill>
                  <a:srgbClr val="2E2A3A"/>
                </a:solidFill>
                <a:latin typeface="Segoe UI Semibold"/>
              </a:rPr>
              <a:t>Baja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80360" y="3374135"/>
            <a:ext cx="3401568" cy="27432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9943" y="3355847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0">
                <a:solidFill>
                  <a:srgbClr val="4C4954"/>
                </a:solidFill>
                <a:latin typeface="Segoe UI"/>
              </a:rPr>
              <a:t>6   46 %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4014215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>
                <a:solidFill>
                  <a:srgbClr val="2E2A3A"/>
                </a:solidFill>
                <a:latin typeface="Segoe UI Semibold"/>
              </a:rPr>
              <a:t>Críticamente baja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80360" y="4032503"/>
            <a:ext cx="3401568" cy="274320"/>
          </a:xfrm>
          <a:prstGeom prst="roundRect">
            <a:avLst>
              <a:gd name="adj" fmla="val 50000"/>
            </a:avLst>
          </a:prstGeom>
          <a:solidFill>
            <a:srgbClr val="C98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9943" y="4014215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0">
                <a:solidFill>
                  <a:srgbClr val="4C4954"/>
                </a:solidFill>
                <a:latin typeface="Segoe UI"/>
              </a:rPr>
              <a:t>6   46 %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49640" y="1874519"/>
            <a:ext cx="2926080" cy="3017520"/>
          </a:xfrm>
          <a:prstGeom prst="roundRect">
            <a:avLst>
              <a:gd name="adj" fmla="val 6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49640" y="2240280"/>
            <a:ext cx="292608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3300" b="1">
                <a:solidFill>
                  <a:srgbClr val="FFFFFF"/>
                </a:solidFill>
                <a:latin typeface="Georgia"/>
              </a:rPr>
              <a:t>12 de 13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60" y="3108960"/>
            <a:ext cx="237744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2000"/>
              </a:lnSpc>
            </a:pPr>
            <a:r>
              <a:rPr sz="1350" b="0">
                <a:solidFill>
                  <a:srgbClr val="FFFFFF"/>
                </a:solidFill>
                <a:latin typeface="Segoe UI"/>
              </a:rPr>
              <a:t>con calidad Baja o Críticamente baja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15400" y="3977639"/>
            <a:ext cx="2194560" cy="10972"/>
          </a:xfrm>
          <a:prstGeom prst="rect">
            <a:avLst/>
          </a:prstGeom>
          <a:solidFill>
            <a:srgbClr val="C9B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823960" y="416052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250" b="1">
                <a:solidFill>
                  <a:srgbClr val="EDE9F8"/>
                </a:solidFill>
                <a:latin typeface="Segoe UI Semibold"/>
              </a:rPr>
              <a:t>CCA = 1,4 %  ·  solapamiento leve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8" y="5257800"/>
            <a:ext cx="7315200" cy="777240"/>
          </a:xfrm>
          <a:prstGeom prst="roundRect">
            <a:avLst>
              <a:gd name="adj" fmla="val 8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49808" y="5257800"/>
            <a:ext cx="82296" cy="777240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42415" y="5413248"/>
            <a:ext cx="685800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000"/>
              </a:lnSpc>
            </a:pPr>
            <a:r>
              <a:rPr sz="1350" b="0">
                <a:solidFill>
                  <a:srgbClr val="4C4954"/>
                </a:solidFill>
                <a:latin typeface="Segoe UI"/>
              </a:rPr>
              <a:t>Las conclusiones requieren cautela: el patrón general se sostiene, pero las magnitudes pueden estar sobreestimadas.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9C99A6"/>
                </a:solidFill>
                <a:latin typeface="Segoe UI"/>
              </a:rPr>
              <a:t>Autoestima, autoconcepto y bienestar   ·   D. Antoneac</a:t>
            </a:r>
          </a:p>
        </p:txBody>
      </p:sp>
      <p:sp>
        <p:nvSpPr>
          <p:cNvPr id="26" name="Oval 25"/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 dirty="0">
                <a:solidFill>
                  <a:srgbClr val="9C99A6"/>
                </a:solidFill>
                <a:latin typeface="Segoe UI"/>
              </a:rPr>
              <a:t>1</a:t>
            </a:r>
            <a:r>
              <a:rPr lang="es-ES" sz="1050" b="0" dirty="0">
                <a:solidFill>
                  <a:srgbClr val="9C99A6"/>
                </a:solidFill>
                <a:latin typeface="Segoe UI"/>
              </a:rPr>
              <a:t>0</a:t>
            </a:r>
            <a:r>
              <a:rPr sz="1050" b="0" dirty="0">
                <a:solidFill>
                  <a:srgbClr val="9C99A6"/>
                </a:solidFill>
                <a:latin typeface="Segoe UI"/>
              </a:rPr>
              <a:t>/ 1</a:t>
            </a:r>
            <a:r>
              <a:rPr lang="es-ES" sz="1050" b="0" dirty="0">
                <a:solidFill>
                  <a:srgbClr val="9C99A6"/>
                </a:solidFill>
                <a:latin typeface="Segoe UI"/>
              </a:rPr>
              <a:t>6</a:t>
            </a:r>
            <a:endParaRPr sz="1050" b="0" dirty="0">
              <a:solidFill>
                <a:srgbClr val="9C99A6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9808" y="56692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 spc="140">
                <a:solidFill>
                  <a:srgbClr val="9079C8"/>
                </a:solidFill>
                <a:latin typeface="Segoe UI Semibold"/>
              </a:rPr>
              <a:t>RESULTADOS · SÍNTESIS POR BLOQUES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0">
                <a:solidFill>
                  <a:srgbClr val="2E2A3A"/>
                </a:solidFill>
                <a:latin typeface="Segoe UI Semibold"/>
              </a:rPr>
              <a:t>Cinco bloques temáticos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49808" y="1783080"/>
            <a:ext cx="3419856" cy="219456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542032" y="1965960"/>
            <a:ext cx="1444752" cy="310896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Segoe UI Semibold"/>
              </a:rPr>
              <a:t>★ Hallazgo más robusto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984248"/>
            <a:ext cx="168249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1" spc="100">
                <a:solidFill>
                  <a:srgbClr val="9079C8"/>
                </a:solidFill>
                <a:latin typeface="Segoe UI Semibold"/>
              </a:rPr>
              <a:t>BLOQUE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286000"/>
            <a:ext cx="2907792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4000"/>
              </a:lnSpc>
            </a:pPr>
            <a:r>
              <a:rPr sz="1400" b="1">
                <a:solidFill>
                  <a:srgbClr val="2E2A3A"/>
                </a:solidFill>
                <a:latin typeface="Segoe UI Semibold"/>
              </a:rPr>
              <a:t>Autoestima y salud mental clínica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862072"/>
            <a:ext cx="290779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C4954"/>
                </a:solidFill>
                <a:latin typeface="Segoe UI"/>
              </a:rPr>
              <a:t>Baja autoestima ↔ ideación y conducta suicida (Buecker, 2025). COMET y TCC-Fennell.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566159"/>
            <a:ext cx="2907792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1" dirty="0">
                <a:solidFill>
                  <a:srgbClr val="9079C8"/>
                </a:solidFill>
                <a:latin typeface="Segoe UI Semibold"/>
              </a:rPr>
              <a:t>r −,26 a −,44 · k 114 · AMSTAR-2 Alta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71416" y="1783080"/>
            <a:ext cx="3419856" cy="2194560"/>
          </a:xfrm>
          <a:prstGeom prst="roundRect">
            <a:avLst>
              <a:gd name="adj" fmla="val 5000"/>
            </a:avLst>
          </a:prstGeom>
          <a:solidFill>
            <a:srgbClr val="E4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27448" y="1984248"/>
            <a:ext cx="296265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1" spc="100">
                <a:solidFill>
                  <a:srgbClr val="6E86A8"/>
                </a:solidFill>
                <a:latin typeface="Segoe UI Semibold"/>
              </a:rPr>
              <a:t>BLOQUE 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2286000"/>
            <a:ext cx="2907792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4000"/>
              </a:lnSpc>
            </a:pPr>
            <a:r>
              <a:rPr sz="1400" b="1">
                <a:solidFill>
                  <a:srgbClr val="2E2A3A"/>
                </a:solidFill>
                <a:latin typeface="Segoe UI Semibold"/>
              </a:rPr>
              <a:t>Autoestima y salud somática / CdV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7448" y="2862072"/>
            <a:ext cx="290779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C4954"/>
                </a:solidFill>
                <a:latin typeface="Segoe UI"/>
              </a:rPr>
              <a:t>Intervención psicológica en SOP y tratamiento de la deformidad dentofacial.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7448" y="3566159"/>
            <a:ext cx="2907792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6E86A8"/>
                </a:solidFill>
                <a:latin typeface="Segoe UI Semibold"/>
              </a:rPr>
              <a:t>Mejoras en imagen, depresión y CdV (certeza baja).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93024" y="1783080"/>
            <a:ext cx="3419856" cy="2194560"/>
          </a:xfrm>
          <a:prstGeom prst="roundRect">
            <a:avLst>
              <a:gd name="adj" fmla="val 5000"/>
            </a:avLst>
          </a:prstGeom>
          <a:solidFill>
            <a:srgbClr val="F3E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49056" y="1984248"/>
            <a:ext cx="296265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1" spc="100">
                <a:solidFill>
                  <a:srgbClr val="B49A6A"/>
                </a:solidFill>
                <a:latin typeface="Segoe UI Semibold"/>
              </a:rPr>
              <a:t>BLOQUE 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49056" y="2286000"/>
            <a:ext cx="2907792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4000"/>
              </a:lnSpc>
            </a:pPr>
            <a:r>
              <a:rPr sz="1400" b="1">
                <a:solidFill>
                  <a:srgbClr val="2E2A3A"/>
                </a:solidFill>
                <a:latin typeface="Segoe UI Semibold"/>
              </a:rPr>
              <a:t>Obesidad pediátrica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49056" y="2862072"/>
            <a:ext cx="290779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C4954"/>
                </a:solidFill>
                <a:latin typeface="Segoe UI"/>
              </a:rPr>
              <a:t>La actividad física estructurada mejora a la vez autoestima, imagen corporal y ánimo.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9056" y="3566159"/>
            <a:ext cx="2907792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B49A6A"/>
                </a:solidFill>
                <a:latin typeface="Segoe UI Semibold"/>
              </a:rPr>
              <a:t>SMD ≈ 0,34 autoestima · 0,47 imagen.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8" y="4160520"/>
            <a:ext cx="3419856" cy="2194560"/>
          </a:xfrm>
          <a:prstGeom prst="roundRect">
            <a:avLst>
              <a:gd name="adj" fmla="val 5000"/>
            </a:avLst>
          </a:prstGeom>
          <a:solidFill>
            <a:srgbClr val="F6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05840" y="4361688"/>
            <a:ext cx="296265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1" spc="100">
                <a:solidFill>
                  <a:srgbClr val="C98998"/>
                </a:solidFill>
                <a:latin typeface="Segoe UI Semibold"/>
              </a:rPr>
              <a:t>BLOQUE 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663440"/>
            <a:ext cx="2907792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4000"/>
              </a:lnSpc>
            </a:pPr>
            <a:r>
              <a:rPr sz="1400" b="1">
                <a:solidFill>
                  <a:srgbClr val="2E2A3A"/>
                </a:solidFill>
                <a:latin typeface="Segoe UI Semibold"/>
              </a:rPr>
              <a:t>Imagen corporal en trastornos clínicos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5239512"/>
            <a:ext cx="290779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C4954"/>
                </a:solidFill>
                <a:latin typeface="Segoe UI"/>
              </a:rPr>
              <a:t>Exposición corporal (TCA/TDC) y atención de afirmación de género (TGD).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599"/>
            <a:ext cx="2907792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C98998"/>
                </a:solidFill>
                <a:latin typeface="Segoe UI Semibold"/>
              </a:rPr>
              <a:t>g −,46 a −,99 en body dissatisfaction.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71416" y="4160520"/>
            <a:ext cx="3419856" cy="2194560"/>
          </a:xfrm>
          <a:prstGeom prst="roundRect">
            <a:avLst>
              <a:gd name="adj" fmla="val 5000"/>
            </a:avLst>
          </a:prstGeom>
          <a:solidFill>
            <a:srgbClr val="D8EC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727448" y="4361688"/>
            <a:ext cx="296265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1" spc="100" dirty="0">
                <a:solidFill>
                  <a:srgbClr val="81C193"/>
                </a:solidFill>
                <a:latin typeface="Segoe UI Semibold"/>
              </a:rPr>
              <a:t>BLOQUE 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27448" y="4663440"/>
            <a:ext cx="2907792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4000"/>
              </a:lnSpc>
            </a:pPr>
            <a:r>
              <a:rPr sz="1400" b="1">
                <a:solidFill>
                  <a:srgbClr val="2E2A3A"/>
                </a:solidFill>
                <a:latin typeface="Segoe UI Semibold"/>
              </a:rPr>
              <a:t>Autoestima como mecanismo mediador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27448" y="5239512"/>
            <a:ext cx="290779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150" b="0" dirty="0">
                <a:solidFill>
                  <a:srgbClr val="4C4954"/>
                </a:solidFill>
                <a:latin typeface="Segoe UI"/>
              </a:rPr>
              <a:t>MASEM (k=82): media la </a:t>
            </a:r>
            <a:r>
              <a:rPr sz="1150" b="0" dirty="0" err="1">
                <a:solidFill>
                  <a:srgbClr val="4C4954"/>
                </a:solidFill>
                <a:latin typeface="Segoe UI"/>
              </a:rPr>
              <a:t>relación</a:t>
            </a:r>
            <a:r>
              <a:rPr sz="11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150" b="0" dirty="0" err="1">
                <a:solidFill>
                  <a:srgbClr val="4C4954"/>
                </a:solidFill>
                <a:latin typeface="Segoe UI"/>
              </a:rPr>
              <a:t>estigma</a:t>
            </a:r>
            <a:r>
              <a:rPr sz="11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150" b="0" dirty="0" err="1">
                <a:solidFill>
                  <a:srgbClr val="4C4954"/>
                </a:solidFill>
                <a:latin typeface="Segoe UI"/>
              </a:rPr>
              <a:t>internalizado</a:t>
            </a:r>
            <a:r>
              <a:rPr sz="1150" b="0" dirty="0">
                <a:solidFill>
                  <a:srgbClr val="4C4954"/>
                </a:solidFill>
                <a:latin typeface="Segoe UI"/>
              </a:rPr>
              <a:t> → </a:t>
            </a:r>
            <a:r>
              <a:rPr sz="1150" b="0" dirty="0" err="1">
                <a:solidFill>
                  <a:srgbClr val="4C4954"/>
                </a:solidFill>
                <a:latin typeface="Segoe UI"/>
              </a:rPr>
              <a:t>calidad</a:t>
            </a:r>
            <a:r>
              <a:rPr sz="1150" b="0" dirty="0">
                <a:solidFill>
                  <a:srgbClr val="4C4954"/>
                </a:solidFill>
                <a:latin typeface="Segoe UI"/>
              </a:rPr>
              <a:t> de </a:t>
            </a:r>
            <a:r>
              <a:rPr sz="1150" b="0" dirty="0" err="1">
                <a:solidFill>
                  <a:srgbClr val="4C4954"/>
                </a:solidFill>
                <a:latin typeface="Segoe UI"/>
              </a:rPr>
              <a:t>vida</a:t>
            </a:r>
            <a:r>
              <a:rPr sz="1150" b="0" dirty="0">
                <a:solidFill>
                  <a:srgbClr val="4C4954"/>
                </a:solidFill>
                <a:latin typeface="Segoe UI"/>
              </a:rPr>
              <a:t>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58868" y="5943599"/>
            <a:ext cx="2907792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1" dirty="0" err="1">
                <a:solidFill>
                  <a:srgbClr val="81C193"/>
                </a:solidFill>
                <a:latin typeface="Segoe UI Semibold"/>
              </a:rPr>
              <a:t>Efecto</a:t>
            </a:r>
            <a:r>
              <a:rPr sz="1100" b="1" dirty="0">
                <a:solidFill>
                  <a:srgbClr val="81C193"/>
                </a:solidFill>
                <a:latin typeface="Segoe UI Semibold"/>
              </a:rPr>
              <a:t> </a:t>
            </a:r>
            <a:r>
              <a:rPr sz="1100" b="1" dirty="0" err="1">
                <a:solidFill>
                  <a:srgbClr val="81C193"/>
                </a:solidFill>
                <a:latin typeface="Segoe UI Semibold"/>
              </a:rPr>
              <a:t>indirecto</a:t>
            </a:r>
            <a:r>
              <a:rPr sz="1100" b="1" dirty="0">
                <a:solidFill>
                  <a:srgbClr val="81C193"/>
                </a:solidFill>
                <a:latin typeface="Segoe UI Semibold"/>
              </a:rPr>
              <a:t> β = −,189</a:t>
            </a:r>
            <a:r>
              <a:rPr lang="es-ES" sz="1100" b="1" dirty="0">
                <a:solidFill>
                  <a:srgbClr val="9079C8"/>
                </a:solidFill>
                <a:latin typeface="Segoe UI Semibold"/>
              </a:rPr>
              <a:t>.</a:t>
            </a:r>
            <a:endParaRPr sz="1100" b="1" dirty="0">
              <a:solidFill>
                <a:srgbClr val="9079C8"/>
              </a:solidFill>
              <a:latin typeface="Segoe UI Semibold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8193024" y="4160520"/>
            <a:ext cx="3419856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467344" y="4617720"/>
            <a:ext cx="2871216" cy="1371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</a:pPr>
            <a:r>
              <a:rPr sz="1300" b="1">
                <a:solidFill>
                  <a:srgbClr val="2E2A3A"/>
                </a:solidFill>
                <a:latin typeface="Segoe UI Semibold"/>
              </a:rPr>
              <a:t>Transversal: </a:t>
            </a:r>
            <a:r>
              <a:rPr sz="1300" b="0">
                <a:solidFill>
                  <a:srgbClr val="4C4954"/>
                </a:solidFill>
                <a:latin typeface="Segoe UI"/>
              </a:rPr>
              <a:t>la dirección de los efectos es consistente entre bloques pese a poblaciones y métricas distintas.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9C99A6"/>
                </a:solidFill>
                <a:latin typeface="Segoe UI"/>
              </a:rPr>
              <a:t>Autoestima, autoconcepto y bienestar   ·   D. Antoneac</a:t>
            </a:r>
          </a:p>
        </p:txBody>
      </p:sp>
      <p:sp>
        <p:nvSpPr>
          <p:cNvPr id="35" name="Oval 34"/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 dirty="0">
                <a:solidFill>
                  <a:srgbClr val="9C99A6"/>
                </a:solidFill>
                <a:latin typeface="Segoe UI"/>
              </a:rPr>
              <a:t>1</a:t>
            </a:r>
            <a:r>
              <a:rPr lang="es-ES" sz="1050" b="0" dirty="0">
                <a:solidFill>
                  <a:srgbClr val="9C99A6"/>
                </a:solidFill>
                <a:latin typeface="Segoe UI"/>
              </a:rPr>
              <a:t>1</a:t>
            </a:r>
            <a:r>
              <a:rPr sz="1050" b="0" dirty="0">
                <a:solidFill>
                  <a:srgbClr val="9C99A6"/>
                </a:solidFill>
                <a:latin typeface="Segoe UI"/>
              </a:rPr>
              <a:t> / 1</a:t>
            </a:r>
            <a:r>
              <a:rPr lang="es-ES" sz="1050" b="0" dirty="0">
                <a:solidFill>
                  <a:srgbClr val="9C99A6"/>
                </a:solidFill>
                <a:latin typeface="Segoe UI"/>
              </a:rPr>
              <a:t>6</a:t>
            </a:r>
            <a:endParaRPr sz="1050" b="0" dirty="0">
              <a:solidFill>
                <a:srgbClr val="9C99A6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 spc="140" dirty="0">
                <a:solidFill>
                  <a:srgbClr val="9079C8"/>
                </a:solidFill>
                <a:latin typeface="Segoe UI Semibold"/>
              </a:rPr>
              <a:t>DISCUSIÓN · MENSAJES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0" dirty="0" err="1">
                <a:solidFill>
                  <a:srgbClr val="2E2A3A"/>
                </a:solidFill>
                <a:latin typeface="Segoe UI Semibold"/>
              </a:rPr>
              <a:t>Conclusiones</a:t>
            </a:r>
            <a:endParaRPr sz="3000" b="0" dirty="0">
              <a:solidFill>
                <a:srgbClr val="2E2A3A"/>
              </a:solidFill>
              <a:latin typeface="Segoe UI Semibold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49808" y="1783080"/>
            <a:ext cx="5285232" cy="1783080"/>
          </a:xfrm>
          <a:prstGeom prst="roundRect">
            <a:avLst>
              <a:gd name="adj" fmla="val 6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24127" y="2093976"/>
            <a:ext cx="566928" cy="566928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200" b="1" dirty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73936" y="2039112"/>
            <a:ext cx="3986784" cy="1325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6000"/>
              </a:lnSpc>
            </a:pPr>
            <a:r>
              <a:rPr sz="1650" b="0" dirty="0">
                <a:solidFill>
                  <a:srgbClr val="4C4954"/>
                </a:solidFill>
                <a:latin typeface="Segoe UI"/>
              </a:rPr>
              <a:t>La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autoestima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predice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la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salud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mental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clínica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(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moderado-fuerte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), con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su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máximo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en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la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suicidalidad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36792" y="1783080"/>
            <a:ext cx="5285232" cy="1783080"/>
          </a:xfrm>
          <a:prstGeom prst="roundRect">
            <a:avLst>
              <a:gd name="adj" fmla="val 6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611112" y="2093976"/>
            <a:ext cx="566928" cy="566928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60920" y="2039112"/>
            <a:ext cx="3986784" cy="1325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6000"/>
              </a:lnSpc>
            </a:pPr>
            <a:r>
              <a:rPr sz="1650" b="0">
                <a:solidFill>
                  <a:srgbClr val="4C4954"/>
                </a:solidFill>
                <a:latin typeface="Segoe UI"/>
              </a:rPr>
              <a:t>Las intervenciones sobre la autoestima funcionan (g 0,20–0,50) y arrastran mejoras en la depresión comórbida.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3840480"/>
            <a:ext cx="5285232" cy="1783080"/>
          </a:xfrm>
          <a:prstGeom prst="roundRect">
            <a:avLst>
              <a:gd name="adj" fmla="val 6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024127" y="4151376"/>
            <a:ext cx="566928" cy="566928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200" b="1" dirty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73936" y="4096512"/>
            <a:ext cx="3986784" cy="1325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6000"/>
              </a:lnSpc>
            </a:pPr>
            <a:r>
              <a:rPr sz="1650" b="0" dirty="0">
                <a:solidFill>
                  <a:srgbClr val="4C4954"/>
                </a:solidFill>
                <a:latin typeface="Segoe UI"/>
              </a:rPr>
              <a:t>Cuerpo, imagen y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autoestima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van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juntos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; la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obesidad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pediátrica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es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el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ejemplo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más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maduro.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36792" y="3840480"/>
            <a:ext cx="5285232" cy="1783080"/>
          </a:xfrm>
          <a:prstGeom prst="roundRect">
            <a:avLst>
              <a:gd name="adj" fmla="val 6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611112" y="4151376"/>
            <a:ext cx="566928" cy="566928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60920" y="4096512"/>
            <a:ext cx="3986784" cy="1325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6000"/>
              </a:lnSpc>
            </a:pPr>
            <a:r>
              <a:rPr sz="1650" b="0" dirty="0">
                <a:solidFill>
                  <a:srgbClr val="4C4954"/>
                </a:solidFill>
                <a:latin typeface="Segoe UI"/>
              </a:rPr>
              <a:t>La imagen corporal es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modificable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con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intervenciones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específicas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en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poblaciones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clínicas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5806440"/>
            <a:ext cx="1042416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0" i="1">
                <a:solidFill>
                  <a:srgbClr val="9C99A6"/>
                </a:solidFill>
                <a:latin typeface="Segoe UI"/>
              </a:rPr>
              <a:t>Coherente con Zell &amp; Johansson (2025) para salud mental (r ≈ ,42), pero con foco y matiz clínico.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 dirty="0" err="1">
                <a:solidFill>
                  <a:srgbClr val="9C99A6"/>
                </a:solidFill>
                <a:latin typeface="Segoe UI"/>
              </a:rPr>
              <a:t>Autoestima</a:t>
            </a:r>
            <a:r>
              <a:rPr sz="1050" b="0" dirty="0">
                <a:solidFill>
                  <a:srgbClr val="9C99A6"/>
                </a:solidFill>
                <a:latin typeface="Segoe UI"/>
              </a:rPr>
              <a:t>, </a:t>
            </a:r>
            <a:r>
              <a:rPr sz="1050" b="0" dirty="0" err="1">
                <a:solidFill>
                  <a:srgbClr val="9C99A6"/>
                </a:solidFill>
                <a:latin typeface="Segoe UI"/>
              </a:rPr>
              <a:t>autoconcepto</a:t>
            </a:r>
            <a:r>
              <a:rPr sz="1050" b="0" dirty="0">
                <a:solidFill>
                  <a:srgbClr val="9C99A6"/>
                </a:solidFill>
                <a:latin typeface="Segoe UI"/>
              </a:rPr>
              <a:t> y </a:t>
            </a:r>
            <a:r>
              <a:rPr sz="1050" b="0" dirty="0" err="1">
                <a:solidFill>
                  <a:srgbClr val="9C99A6"/>
                </a:solidFill>
                <a:latin typeface="Segoe UI"/>
              </a:rPr>
              <a:t>bienestar</a:t>
            </a:r>
            <a:r>
              <a:rPr sz="1050" b="0" dirty="0">
                <a:solidFill>
                  <a:srgbClr val="9C99A6"/>
                </a:solidFill>
                <a:latin typeface="Segoe UI"/>
              </a:rPr>
              <a:t>   ·   D. Antoneac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 dirty="0">
                <a:solidFill>
                  <a:srgbClr val="9C99A6"/>
                </a:solidFill>
                <a:latin typeface="Segoe UI"/>
              </a:rPr>
              <a:t>1</a:t>
            </a:r>
            <a:r>
              <a:rPr lang="es-ES" sz="1050" b="0" dirty="0">
                <a:solidFill>
                  <a:srgbClr val="9C99A6"/>
                </a:solidFill>
                <a:latin typeface="Segoe UI"/>
              </a:rPr>
              <a:t>2</a:t>
            </a:r>
            <a:r>
              <a:rPr sz="1050" b="0" dirty="0">
                <a:solidFill>
                  <a:srgbClr val="9C99A6"/>
                </a:solidFill>
                <a:latin typeface="Segoe UI"/>
              </a:rPr>
              <a:t> / 1</a:t>
            </a:r>
            <a:r>
              <a:rPr lang="es-ES" sz="1050" b="0" dirty="0">
                <a:solidFill>
                  <a:srgbClr val="9C99A6"/>
                </a:solidFill>
                <a:latin typeface="Segoe UI"/>
              </a:rPr>
              <a:t>6</a:t>
            </a:r>
            <a:endParaRPr sz="1050" b="0" dirty="0">
              <a:solidFill>
                <a:srgbClr val="9C99A6"/>
              </a:solidFill>
              <a:latin typeface="Segoe UI"/>
            </a:endParaRPr>
          </a:p>
        </p:txBody>
      </p:sp>
      <p:sp>
        <p:nvSpPr>
          <p:cNvPr id="22" name="Rounded Rectangle 1">
            <a:extLst>
              <a:ext uri="{FF2B5EF4-FFF2-40B4-BE49-F238E27FC236}">
                <a16:creationId xmlns:a16="http://schemas.microsoft.com/office/drawing/2014/main" id="{3CD8A53B-BDA9-818A-45A5-E6950855AB3C}"/>
              </a:ext>
            </a:extLst>
          </p:cNvPr>
          <p:cNvSpPr/>
          <p:nvPr/>
        </p:nvSpPr>
        <p:spPr>
          <a:xfrm>
            <a:off x="749808" y="56692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3" name="Oval 34">
            <a:extLst>
              <a:ext uri="{FF2B5EF4-FFF2-40B4-BE49-F238E27FC236}">
                <a16:creationId xmlns:a16="http://schemas.microsoft.com/office/drawing/2014/main" id="{CFC21AAE-3A51-B48F-E51A-1FD98532C3B5}"/>
              </a:ext>
            </a:extLst>
          </p:cNvPr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9808" y="56692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 spc="140" dirty="0">
                <a:solidFill>
                  <a:srgbClr val="9079C8"/>
                </a:solidFill>
                <a:latin typeface="Segoe UI Semibold"/>
              </a:rPr>
              <a:t>DISCUSIÓN · IMPLICACIONES CLÍNICAS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0">
                <a:solidFill>
                  <a:srgbClr val="2E2A3A"/>
                </a:solidFill>
                <a:latin typeface="Segoe UI Semibold"/>
              </a:rPr>
              <a:t>Tres implicaciones para la práctica clínica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49808" y="1783080"/>
            <a:ext cx="3419856" cy="416052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24127" y="2057400"/>
            <a:ext cx="2871216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1">
                <a:solidFill>
                  <a:srgbClr val="9079C8"/>
                </a:solidFill>
                <a:latin typeface="Georgia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1024127" y="2834639"/>
            <a:ext cx="137160" cy="137160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61872" y="2761488"/>
            <a:ext cx="2688336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6000"/>
              </a:lnSpc>
            </a:pPr>
            <a:r>
              <a:rPr sz="1450" b="1">
                <a:solidFill>
                  <a:srgbClr val="2E2A3A"/>
                </a:solidFill>
                <a:latin typeface="Segoe UI Semibold"/>
              </a:rPr>
              <a:t>Diana de intervención valiosa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7" y="3474720"/>
            <a:ext cx="2871216" cy="21945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</a:pPr>
            <a:r>
              <a:rPr sz="1350" b="0">
                <a:solidFill>
                  <a:srgbClr val="4C4954"/>
                </a:solidFill>
                <a:latin typeface="Segoe UI"/>
              </a:rPr>
              <a:t>La autoestima se modifica con psicoterapia (COMET, TCC de Fennell, protocolos para TCA), con beneficio modesto pero consistente.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71416" y="1783080"/>
            <a:ext cx="3419856" cy="416052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45736" y="2057400"/>
            <a:ext cx="2871216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1">
                <a:solidFill>
                  <a:srgbClr val="9079C8"/>
                </a:solidFill>
                <a:latin typeface="Georgia"/>
              </a:rPr>
              <a:t>02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45736" y="2834639"/>
            <a:ext cx="137160" cy="137160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83480" y="2761488"/>
            <a:ext cx="2688336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6000"/>
              </a:lnSpc>
            </a:pPr>
            <a:r>
              <a:rPr sz="1450" b="1">
                <a:solidFill>
                  <a:srgbClr val="2E2A3A"/>
                </a:solidFill>
                <a:latin typeface="Segoe UI Semibold"/>
              </a:rPr>
              <a:t>Integrar cuerpo, imagen y autoestima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45736" y="3474720"/>
            <a:ext cx="2871216" cy="21945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</a:pPr>
            <a:r>
              <a:rPr sz="1350" b="0">
                <a:solidFill>
                  <a:srgbClr val="4C4954"/>
                </a:solidFill>
                <a:latin typeface="Segoe UI"/>
              </a:rPr>
              <a:t>En salud física y condiciones que afectan al cuerpo, imagen y autoestima son dianas, no solo desenlaces secundarios.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93024" y="1783080"/>
            <a:ext cx="3419856" cy="416052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67344" y="2057400"/>
            <a:ext cx="2871216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1">
                <a:solidFill>
                  <a:srgbClr val="9079C8"/>
                </a:solidFill>
                <a:latin typeface="Georgia"/>
              </a:rPr>
              <a:t>03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67344" y="2834639"/>
            <a:ext cx="137160" cy="137160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705088" y="2761488"/>
            <a:ext cx="2688336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6000"/>
              </a:lnSpc>
            </a:pPr>
            <a:r>
              <a:rPr sz="1450" b="1">
                <a:solidFill>
                  <a:srgbClr val="2E2A3A"/>
                </a:solidFill>
                <a:latin typeface="Segoe UI Semibold"/>
              </a:rPr>
              <a:t>Cribado en prevención del suicidio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67344" y="3474720"/>
            <a:ext cx="2871216" cy="21945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</a:pPr>
            <a:r>
              <a:rPr sz="1350" b="0">
                <a:solidFill>
                  <a:srgbClr val="4C4954"/>
                </a:solidFill>
                <a:latin typeface="Segoe UI"/>
              </a:rPr>
              <a:t>Medir la autoestima (RSES) e intervenir sobre ella refuerza los programas de prevención en poblaciones de riesgo.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9C99A6"/>
                </a:solidFill>
                <a:latin typeface="Segoe UI"/>
              </a:rPr>
              <a:t>Autoestima, autoconcepto y bienestar   ·   D. Antoneac</a:t>
            </a:r>
          </a:p>
        </p:txBody>
      </p:sp>
      <p:sp>
        <p:nvSpPr>
          <p:cNvPr id="22" name="Oval 21"/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 dirty="0">
                <a:solidFill>
                  <a:srgbClr val="9C99A6"/>
                </a:solidFill>
                <a:latin typeface="Segoe UI"/>
              </a:rPr>
              <a:t>1</a:t>
            </a:r>
            <a:r>
              <a:rPr lang="es-ES" sz="1050" b="0" dirty="0">
                <a:solidFill>
                  <a:srgbClr val="9C99A6"/>
                </a:solidFill>
                <a:latin typeface="Segoe UI"/>
              </a:rPr>
              <a:t>3 </a:t>
            </a:r>
            <a:r>
              <a:rPr sz="1050" b="0" dirty="0">
                <a:solidFill>
                  <a:srgbClr val="9C99A6"/>
                </a:solidFill>
                <a:latin typeface="Segoe UI"/>
              </a:rPr>
              <a:t>/ 1</a:t>
            </a:r>
            <a:r>
              <a:rPr lang="es-ES" sz="1050" b="0" dirty="0">
                <a:solidFill>
                  <a:srgbClr val="9C99A6"/>
                </a:solidFill>
                <a:latin typeface="Segoe UI"/>
              </a:rPr>
              <a:t>6</a:t>
            </a:r>
            <a:endParaRPr sz="1050" b="0" dirty="0">
              <a:solidFill>
                <a:srgbClr val="9C99A6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9808" y="56692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 spc="140">
                <a:solidFill>
                  <a:srgbClr val="9079C8"/>
                </a:solidFill>
                <a:latin typeface="Segoe UI Semibold"/>
              </a:rPr>
              <a:t>LIMITACIONES · Y LÍNEAS FUTURAS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0">
                <a:solidFill>
                  <a:srgbClr val="2E2A3A"/>
                </a:solidFill>
                <a:latin typeface="Segoe UI Semibold"/>
              </a:rPr>
              <a:t>Lo que hay que tener en cuenta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49808" y="1783080"/>
            <a:ext cx="3419856" cy="420624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 dirty="0"/>
          </a:p>
        </p:txBody>
      </p:sp>
      <p:sp>
        <p:nvSpPr>
          <p:cNvPr id="7" name="Rectangle 6"/>
          <p:cNvSpPr/>
          <p:nvPr/>
        </p:nvSpPr>
        <p:spPr>
          <a:xfrm>
            <a:off x="1024127" y="2112264"/>
            <a:ext cx="146304" cy="146304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80160" y="2039112"/>
            <a:ext cx="2642616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s-ES" sz="1550" b="1" dirty="0">
                <a:solidFill>
                  <a:srgbClr val="2E2A3A"/>
                </a:solidFill>
                <a:latin typeface="Segoe UI Semibold"/>
              </a:rPr>
              <a:t>Limitaciones d</a:t>
            </a:r>
            <a:r>
              <a:rPr sz="1550" b="1" dirty="0">
                <a:solidFill>
                  <a:srgbClr val="2E2A3A"/>
                </a:solidFill>
                <a:latin typeface="Segoe UI Semibold"/>
              </a:rPr>
              <a:t>e la </a:t>
            </a:r>
            <a:r>
              <a:rPr sz="1550" b="1" dirty="0" err="1">
                <a:solidFill>
                  <a:srgbClr val="2E2A3A"/>
                </a:solidFill>
                <a:latin typeface="Segoe UI Semibold"/>
              </a:rPr>
              <a:t>evidencia</a:t>
            </a:r>
            <a:endParaRPr sz="1550" b="1" dirty="0">
              <a:solidFill>
                <a:srgbClr val="2E2A3A"/>
              </a:solidFill>
              <a:latin typeface="Segoe UI Semibold"/>
            </a:endParaRPr>
          </a:p>
        </p:txBody>
      </p:sp>
      <p:sp>
        <p:nvSpPr>
          <p:cNvPr id="9" name="Oval 8"/>
          <p:cNvSpPr/>
          <p:nvPr/>
        </p:nvSpPr>
        <p:spPr>
          <a:xfrm>
            <a:off x="1042415" y="2761487"/>
            <a:ext cx="91440" cy="91440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80160" y="2679191"/>
            <a:ext cx="263347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4C4954"/>
                </a:solidFill>
                <a:latin typeface="Segoe UI"/>
              </a:rPr>
              <a:t>12 de 13 con AMSTAR-2 baja o crítica</a:t>
            </a:r>
          </a:p>
        </p:txBody>
      </p:sp>
      <p:sp>
        <p:nvSpPr>
          <p:cNvPr id="11" name="Oval 10"/>
          <p:cNvSpPr/>
          <p:nvPr/>
        </p:nvSpPr>
        <p:spPr>
          <a:xfrm>
            <a:off x="1042415" y="3493007"/>
            <a:ext cx="91440" cy="91440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80160" y="3410711"/>
            <a:ext cx="263347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4C4954"/>
                </a:solidFill>
                <a:latin typeface="Segoe UI"/>
              </a:rPr>
              <a:t>Heterogeneidad de instrumentos y métricas</a:t>
            </a:r>
          </a:p>
        </p:txBody>
      </p:sp>
      <p:sp>
        <p:nvSpPr>
          <p:cNvPr id="13" name="Oval 12"/>
          <p:cNvSpPr/>
          <p:nvPr/>
        </p:nvSpPr>
        <p:spPr>
          <a:xfrm>
            <a:off x="1042415" y="4224527"/>
            <a:ext cx="91440" cy="91440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80160" y="4142231"/>
            <a:ext cx="263347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4C4954"/>
                </a:solidFill>
                <a:latin typeface="Segoe UI"/>
              </a:rPr>
              <a:t>Cobertura desigual: a veces 1 revisión por bloque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71416" y="1783080"/>
            <a:ext cx="3419856" cy="420624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745736" y="2112264"/>
            <a:ext cx="146304" cy="146304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1768" y="2039112"/>
            <a:ext cx="2642616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s-ES" sz="1550" b="1" dirty="0" err="1">
                <a:solidFill>
                  <a:srgbClr val="2E2A3A"/>
                </a:solidFill>
                <a:latin typeface="Segoe UI Semibold"/>
              </a:rPr>
              <a:t>Limitacciones</a:t>
            </a:r>
            <a:r>
              <a:rPr lang="es-ES" sz="1550" b="1" dirty="0">
                <a:solidFill>
                  <a:srgbClr val="2E2A3A"/>
                </a:solidFill>
                <a:latin typeface="Segoe UI Semibold"/>
              </a:rPr>
              <a:t> d</a:t>
            </a:r>
            <a:r>
              <a:rPr sz="1550" b="1" dirty="0" err="1">
                <a:solidFill>
                  <a:srgbClr val="2E2A3A"/>
                </a:solidFill>
                <a:latin typeface="Segoe UI Semibold"/>
              </a:rPr>
              <a:t>el</a:t>
            </a:r>
            <a:r>
              <a:rPr sz="1550" b="1" dirty="0">
                <a:solidFill>
                  <a:srgbClr val="2E2A3A"/>
                </a:solidFill>
                <a:latin typeface="Segoe UI Semibold"/>
              </a:rPr>
              <a:t> </a:t>
            </a:r>
            <a:r>
              <a:rPr sz="1550" b="1" dirty="0" err="1">
                <a:solidFill>
                  <a:srgbClr val="2E2A3A"/>
                </a:solidFill>
                <a:latin typeface="Segoe UI Semibold"/>
              </a:rPr>
              <a:t>proceso</a:t>
            </a:r>
            <a:endParaRPr sz="1550" b="1" dirty="0">
              <a:solidFill>
                <a:srgbClr val="2E2A3A"/>
              </a:solidFill>
              <a:latin typeface="Segoe UI Semibold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4764024" y="2761487"/>
            <a:ext cx="91440" cy="91440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01768" y="2679191"/>
            <a:ext cx="263347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4C4954"/>
                </a:solidFill>
                <a:latin typeface="Segoe UI"/>
              </a:rPr>
              <a:t>Revisora única en todo el proceso</a:t>
            </a:r>
          </a:p>
        </p:txBody>
      </p:sp>
      <p:sp>
        <p:nvSpPr>
          <p:cNvPr id="20" name="Oval 19"/>
          <p:cNvSpPr/>
          <p:nvPr/>
        </p:nvSpPr>
        <p:spPr>
          <a:xfrm>
            <a:off x="4764024" y="3493007"/>
            <a:ext cx="91440" cy="91440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01768" y="3410711"/>
            <a:ext cx="263347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4C4954"/>
                </a:solidFill>
                <a:latin typeface="Segoe UI"/>
              </a:rPr>
              <a:t>Idiomas inglés / español</a:t>
            </a:r>
          </a:p>
        </p:txBody>
      </p:sp>
      <p:sp>
        <p:nvSpPr>
          <p:cNvPr id="22" name="Oval 21"/>
          <p:cNvSpPr/>
          <p:nvPr/>
        </p:nvSpPr>
        <p:spPr>
          <a:xfrm>
            <a:off x="4764024" y="4224527"/>
            <a:ext cx="91440" cy="91440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01768" y="4142231"/>
            <a:ext cx="263347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4C4954"/>
                </a:solidFill>
                <a:latin typeface="Segoe UI"/>
              </a:rPr>
              <a:t>Ventana temporal 2016–2026</a:t>
            </a:r>
          </a:p>
        </p:txBody>
      </p:sp>
      <p:sp>
        <p:nvSpPr>
          <p:cNvPr id="24" name="Oval 23"/>
          <p:cNvSpPr/>
          <p:nvPr/>
        </p:nvSpPr>
        <p:spPr>
          <a:xfrm>
            <a:off x="4764024" y="4956047"/>
            <a:ext cx="91440" cy="91440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01768" y="4873751"/>
            <a:ext cx="263347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4C4954"/>
                </a:solidFill>
                <a:latin typeface="Segoe UI"/>
              </a:rPr>
              <a:t>Sin gradación formal GRADE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93024" y="1783080"/>
            <a:ext cx="3419856" cy="420624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467344" y="2112264"/>
            <a:ext cx="146304" cy="146304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723376" y="2039112"/>
            <a:ext cx="2642616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50" b="1">
                <a:solidFill>
                  <a:srgbClr val="2E2A3A"/>
                </a:solidFill>
                <a:latin typeface="Segoe UI Semibold"/>
              </a:rPr>
              <a:t>Líneas futuras</a:t>
            </a:r>
          </a:p>
        </p:txBody>
      </p:sp>
      <p:sp>
        <p:nvSpPr>
          <p:cNvPr id="29" name="Oval 28"/>
          <p:cNvSpPr/>
          <p:nvPr/>
        </p:nvSpPr>
        <p:spPr>
          <a:xfrm>
            <a:off x="8485632" y="2761487"/>
            <a:ext cx="91440" cy="91440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723376" y="2679191"/>
            <a:ext cx="263347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4C4954"/>
                </a:solidFill>
                <a:latin typeface="Segoe UI"/>
              </a:rPr>
              <a:t>Meta-análisis prerregistrados y mejor reportados</a:t>
            </a:r>
          </a:p>
        </p:txBody>
      </p:sp>
      <p:sp>
        <p:nvSpPr>
          <p:cNvPr id="31" name="Oval 30"/>
          <p:cNvSpPr/>
          <p:nvPr/>
        </p:nvSpPr>
        <p:spPr>
          <a:xfrm>
            <a:off x="8485632" y="3493007"/>
            <a:ext cx="91440" cy="91440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723376" y="3410711"/>
            <a:ext cx="263347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4C4954"/>
                </a:solidFill>
                <a:latin typeface="Segoe UI"/>
              </a:rPr>
              <a:t>Estudios longitudinales (causalidad)</a:t>
            </a:r>
          </a:p>
        </p:txBody>
      </p:sp>
      <p:sp>
        <p:nvSpPr>
          <p:cNvPr id="33" name="Oval 32"/>
          <p:cNvSpPr/>
          <p:nvPr/>
        </p:nvSpPr>
        <p:spPr>
          <a:xfrm>
            <a:off x="8485632" y="4224527"/>
            <a:ext cx="91440" cy="91440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723376" y="4142231"/>
            <a:ext cx="263347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4C4954"/>
                </a:solidFill>
                <a:latin typeface="Segoe UI"/>
              </a:rPr>
              <a:t>Autoconcepto multidimensional</a:t>
            </a:r>
          </a:p>
        </p:txBody>
      </p:sp>
      <p:sp>
        <p:nvSpPr>
          <p:cNvPr id="35" name="Oval 34"/>
          <p:cNvSpPr/>
          <p:nvPr/>
        </p:nvSpPr>
        <p:spPr>
          <a:xfrm>
            <a:off x="8485632" y="4956047"/>
            <a:ext cx="91440" cy="91440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723376" y="4873751"/>
            <a:ext cx="263347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4C4954"/>
                </a:solidFill>
                <a:latin typeface="Segoe UI"/>
              </a:rPr>
              <a:t>Personas mayores y contextos no occidentales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9C99A6"/>
                </a:solidFill>
                <a:latin typeface="Segoe UI"/>
              </a:rPr>
              <a:t>Autoestima, autoconcepto y bienestar   ·   D. Antoneac</a:t>
            </a:r>
          </a:p>
        </p:txBody>
      </p:sp>
      <p:sp>
        <p:nvSpPr>
          <p:cNvPr id="38" name="Oval 37"/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 dirty="0">
                <a:solidFill>
                  <a:srgbClr val="9C99A6"/>
                </a:solidFill>
                <a:latin typeface="Segoe UI"/>
              </a:rPr>
              <a:t>1</a:t>
            </a:r>
            <a:r>
              <a:rPr lang="es-ES" sz="1050" b="0" dirty="0">
                <a:solidFill>
                  <a:srgbClr val="9C99A6"/>
                </a:solidFill>
                <a:latin typeface="Segoe UI"/>
              </a:rPr>
              <a:t>4</a:t>
            </a:r>
            <a:r>
              <a:rPr sz="1050" b="0" dirty="0">
                <a:solidFill>
                  <a:srgbClr val="9C99A6"/>
                </a:solidFill>
                <a:latin typeface="Segoe UI"/>
              </a:rPr>
              <a:t> / 1</a:t>
            </a:r>
            <a:r>
              <a:rPr lang="es-ES" sz="1050" b="0" dirty="0">
                <a:solidFill>
                  <a:srgbClr val="9C99A6"/>
                </a:solidFill>
                <a:latin typeface="Segoe UI"/>
              </a:rPr>
              <a:t>6</a:t>
            </a:r>
            <a:endParaRPr sz="1050" b="0" dirty="0">
              <a:solidFill>
                <a:srgbClr val="9C99A6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9808" y="56692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 spc="140">
                <a:solidFill>
                  <a:srgbClr val="9079C8"/>
                </a:solidFill>
                <a:latin typeface="Segoe UI Semibold"/>
              </a:rPr>
              <a:t>CONCLUSIONES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0">
                <a:solidFill>
                  <a:srgbClr val="2E2A3A"/>
                </a:solidFill>
                <a:latin typeface="Segoe UI Semibold"/>
              </a:rPr>
              <a:t>En una frase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8" y="1645920"/>
            <a:ext cx="10698480" cy="1371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2E2A3A"/>
                </a:solidFill>
                <a:latin typeface="Segoe UI"/>
              </a:rPr>
              <a:t>Con la cautela que impone la calidad del corpus, la evidencia apoya que la </a:t>
            </a:r>
            <a:r>
              <a:rPr sz="2000" b="1">
                <a:solidFill>
                  <a:srgbClr val="6E57B0"/>
                </a:solidFill>
                <a:latin typeface="Segoe UI Semibold"/>
              </a:rPr>
              <a:t>autoestima y el autoconcepto no son desenlaces secundarios, sino objetivos de intervención valiosos</a:t>
            </a:r>
            <a:r>
              <a:rPr sz="2000" b="0">
                <a:solidFill>
                  <a:srgbClr val="2E2A3A"/>
                </a:solidFill>
                <a:latin typeface="Segoe UI"/>
              </a:rPr>
              <a:t> en psicología clínica y de la salud.</a:t>
            </a:r>
          </a:p>
        </p:txBody>
      </p:sp>
      <p:sp>
        <p:nvSpPr>
          <p:cNvPr id="7" name="Oval 6"/>
          <p:cNvSpPr/>
          <p:nvPr/>
        </p:nvSpPr>
        <p:spPr>
          <a:xfrm>
            <a:off x="768096" y="3849624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42415" y="3767328"/>
            <a:ext cx="493776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4C4954"/>
                </a:solidFill>
                <a:latin typeface="Segoe UI"/>
              </a:rPr>
              <a:t>Baja autoestima ↔ suicidalidad: el hallazgo más robusto.</a:t>
            </a:r>
          </a:p>
        </p:txBody>
      </p:sp>
      <p:sp>
        <p:nvSpPr>
          <p:cNvPr id="9" name="Oval 8"/>
          <p:cNvSpPr/>
          <p:nvPr/>
        </p:nvSpPr>
        <p:spPr>
          <a:xfrm>
            <a:off x="768096" y="4690872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42415" y="4608576"/>
            <a:ext cx="493776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4C4954"/>
                </a:solidFill>
                <a:latin typeface="Segoe UI"/>
              </a:rPr>
              <a:t>Las intervenciones sobre la autoestima son eficaces.</a:t>
            </a:r>
          </a:p>
        </p:txBody>
      </p:sp>
      <p:sp>
        <p:nvSpPr>
          <p:cNvPr id="11" name="Oval 10"/>
          <p:cNvSpPr/>
          <p:nvPr/>
        </p:nvSpPr>
        <p:spPr>
          <a:xfrm>
            <a:off x="768096" y="5532120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42415" y="5449824"/>
            <a:ext cx="493776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4C4954"/>
                </a:solidFill>
                <a:latin typeface="Segoe UI"/>
              </a:rPr>
              <a:t>La actividad física mejora autoestima e imagen en obesidad infantojuvenil.</a:t>
            </a:r>
          </a:p>
        </p:txBody>
      </p:sp>
      <p:sp>
        <p:nvSpPr>
          <p:cNvPr id="13" name="Oval 12"/>
          <p:cNvSpPr/>
          <p:nvPr/>
        </p:nvSpPr>
        <p:spPr>
          <a:xfrm>
            <a:off x="6355080" y="3849624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29400" y="3767328"/>
            <a:ext cx="484632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4C4954"/>
                </a:solidFill>
                <a:latin typeface="Segoe UI"/>
              </a:rPr>
              <a:t>La imagen corporal es modificable en poblaciones clínicas.</a:t>
            </a:r>
          </a:p>
        </p:txBody>
      </p:sp>
      <p:sp>
        <p:nvSpPr>
          <p:cNvPr id="15" name="Oval 14"/>
          <p:cNvSpPr/>
          <p:nvPr/>
        </p:nvSpPr>
        <p:spPr>
          <a:xfrm>
            <a:off x="6355080" y="4690872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29400" y="4608576"/>
            <a:ext cx="484632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4C4954"/>
                </a:solidFill>
                <a:latin typeface="Segoe UI"/>
              </a:rPr>
              <a:t>La autoestima media la relación estigma → calidad de vida.</a:t>
            </a:r>
          </a:p>
        </p:txBody>
      </p:sp>
      <p:sp>
        <p:nvSpPr>
          <p:cNvPr id="17" name="Oval 16"/>
          <p:cNvSpPr/>
          <p:nvPr/>
        </p:nvSpPr>
        <p:spPr>
          <a:xfrm>
            <a:off x="6355080" y="5532120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29400" y="5449824"/>
            <a:ext cx="484632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1500" b="1">
                <a:solidFill>
                  <a:srgbClr val="2E2A3A"/>
                </a:solidFill>
                <a:latin typeface="Segoe UI Semibold"/>
              </a:rPr>
              <a:t>Justifica integrar estos constructos en los protocolos de tratamiento.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9C99A6"/>
                </a:solidFill>
                <a:latin typeface="Segoe UI"/>
              </a:rPr>
              <a:t>Autoestima, autoconcepto y bienestar   ·   D. Antoneac</a:t>
            </a:r>
          </a:p>
        </p:txBody>
      </p:sp>
      <p:sp>
        <p:nvSpPr>
          <p:cNvPr id="20" name="Oval 19"/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 dirty="0">
                <a:solidFill>
                  <a:srgbClr val="9C99A6"/>
                </a:solidFill>
                <a:latin typeface="Segoe UI"/>
              </a:rPr>
              <a:t>1</a:t>
            </a:r>
            <a:r>
              <a:rPr lang="es-ES" sz="1050" b="0" dirty="0">
                <a:solidFill>
                  <a:srgbClr val="9C99A6"/>
                </a:solidFill>
                <a:latin typeface="Segoe UI"/>
              </a:rPr>
              <a:t>5</a:t>
            </a:r>
            <a:r>
              <a:rPr sz="1050" b="0" dirty="0">
                <a:solidFill>
                  <a:srgbClr val="9C99A6"/>
                </a:solidFill>
                <a:latin typeface="Segoe UI"/>
              </a:rPr>
              <a:t> / 1</a:t>
            </a:r>
            <a:r>
              <a:rPr lang="es-ES" sz="1050" b="0" dirty="0">
                <a:solidFill>
                  <a:srgbClr val="9C99A6"/>
                </a:solidFill>
                <a:latin typeface="Segoe UI"/>
              </a:rPr>
              <a:t>6</a:t>
            </a:r>
            <a:endParaRPr sz="1050" b="0" dirty="0">
              <a:solidFill>
                <a:srgbClr val="9C99A6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796528" y="3307080"/>
            <a:ext cx="4206240" cy="4206240"/>
          </a:xfrm>
          <a:prstGeom prst="ellipse">
            <a:avLst/>
          </a:prstGeom>
          <a:solidFill>
            <a:srgbClr val="9079C8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59536" y="2331720"/>
            <a:ext cx="1188720" cy="77724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606040"/>
            <a:ext cx="9144000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4100" b="0">
                <a:solidFill>
                  <a:srgbClr val="2E2A3A"/>
                </a:solidFill>
                <a:latin typeface="Georgia"/>
              </a:rPr>
              <a:t>Gracias por su atención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70332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800" b="0">
                <a:solidFill>
                  <a:srgbClr val="4C4954"/>
                </a:solidFill>
                <a:latin typeface="Segoe UI"/>
              </a:rPr>
              <a:t>Quedo a su disposición para sus preguntas.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3891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50" b="0">
                <a:solidFill>
                  <a:srgbClr val="9C99A6"/>
                </a:solidFill>
                <a:latin typeface="Segoe UI"/>
              </a:rPr>
              <a:t>Denisa Antoneac   ·   Tutora: Raquel Rodríguez Carvajal   ·   Universidad Autónoma de Madrid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6000" y="528066"/>
            <a:ext cx="374902" cy="176022"/>
          </a:xfrm>
          <a:prstGeom prst="roundRect">
            <a:avLst/>
          </a:prstGeom>
          <a:solidFill>
            <a:srgbClr val="907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9079C8"/>
                </a:solidFill>
              </a:rPr>
              <a:t>INDICE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>
                <a:solidFill>
                  <a:srgbClr val="2E2A3A"/>
                </a:solidFill>
              </a:rPr>
              <a:t>Estructura de la presentacion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620000"/>
            <a:ext cx="38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9079C8"/>
                </a:solidFill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9808" y="1620000"/>
            <a:ext cx="48800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2A3A"/>
                </a:solidFill>
              </a:rPr>
              <a:t>Marco Teorico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9808" y="1940000"/>
            <a:ext cx="488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C4954"/>
                </a:solidFill>
              </a:rPr>
              <a:t>El self, autoestima, autoconcepto y bienestar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350000"/>
            <a:ext cx="38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9079C8"/>
                </a:solidFill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9808" y="2350000"/>
            <a:ext cx="48800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2A3A"/>
                </a:solidFill>
              </a:rPr>
              <a:t>Justificacion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69808" y="2670000"/>
            <a:ext cx="488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C4954"/>
                </a:solidFill>
              </a:rPr>
              <a:t>Por que este trabajo y que anade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080000"/>
            <a:ext cx="38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9079C8"/>
                </a:solidFill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9808" y="3080000"/>
            <a:ext cx="48800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2A3A"/>
                </a:solidFill>
              </a:rPr>
              <a:t>Objetivos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9808" y="3400000"/>
            <a:ext cx="488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C4954"/>
                </a:solidFill>
              </a:rPr>
              <a:t>General y cuatro especificos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0000" y="1620000"/>
            <a:ext cx="38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9079C8"/>
                </a:solidFill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20000" y="1620000"/>
            <a:ext cx="48800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2A3A"/>
                </a:solidFill>
              </a:rPr>
              <a:t>Metodo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20000" y="1940000"/>
            <a:ext cx="488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C4954"/>
                </a:solidFill>
              </a:rPr>
              <a:t>Diseno PECO, busqueda y seleccion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0000" y="2350000"/>
            <a:ext cx="38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9079C8"/>
                </a:solidFill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0000" y="2350000"/>
            <a:ext cx="48800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2A3A"/>
                </a:solidFill>
              </a:rPr>
              <a:t>Resultados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20000" y="2670000"/>
            <a:ext cx="488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C4954"/>
                </a:solidFill>
              </a:rPr>
              <a:t>Corpus, calidad AMSTAR-2 y sintesis por bloques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00000" y="3080000"/>
            <a:ext cx="38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9079C8"/>
                </a:solidFill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20000" y="3080000"/>
            <a:ext cx="48800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2A3A"/>
                </a:solidFill>
              </a:rPr>
              <a:t>Discusion y Conclusiones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20000" y="3400000"/>
            <a:ext cx="488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C4954"/>
                </a:solidFill>
              </a:rPr>
              <a:t>Implicaciones clinicas, limitaciones y lineas futuras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00000" y="1620000"/>
            <a:ext cx="13716" cy="2190000"/>
          </a:xfrm>
          <a:prstGeom prst="rect">
            <a:avLst/>
          </a:prstGeom>
          <a:solidFill>
            <a:srgbClr val="DFD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C99A6"/>
                </a:solidFill>
              </a:rPr>
              <a:t>Autoestima, autoconcepto y bienestar   -   D. Antoneac</a:t>
            </a:r>
          </a:p>
        </p:txBody>
      </p:sp>
      <p:sp>
        <p:nvSpPr>
          <p:cNvPr id="26" name="Oval 25"/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C99A6"/>
                </a:solidFill>
              </a:rPr>
              <a:t>2</a:t>
            </a:r>
            <a:r>
              <a:rPr sz="1000" b="0">
                <a:solidFill>
                  <a:srgbClr val="9C99A6"/>
                </a:solidFill>
              </a:rPr>
              <a:t> /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1382</TotalTime>
  <Words>1675</Words>
  <Application>Microsoft Office PowerPoint</Application>
  <PresentationFormat>Panorámica</PresentationFormat>
  <Paragraphs>266</Paragraphs>
  <Slides>16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3" baseType="lpstr">
      <vt:lpstr>Aptos</vt:lpstr>
      <vt:lpstr>Aptos Display</vt:lpstr>
      <vt:lpstr>Arial</vt:lpstr>
      <vt:lpstr>Georgia</vt:lpstr>
      <vt:lpstr>Segoe UI</vt:lpstr>
      <vt:lpstr>Segoe UI Semibold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ANTONEAC Denisa</dc:creator>
  <cp:lastModifiedBy>Denisa Antoneac</cp:lastModifiedBy>
  <cp:revision>4</cp:revision>
  <dcterms:created xsi:type="dcterms:W3CDTF">2026-06-15T14:36:44Z</dcterms:created>
  <dcterms:modified xsi:type="dcterms:W3CDTF">2026-06-21T22:05:56Z</dcterms:modified>
</cp:coreProperties>
</file>