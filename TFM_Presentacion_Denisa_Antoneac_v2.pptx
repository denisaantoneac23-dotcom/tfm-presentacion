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BF8"/>
    <a:srgbClr val="9079C8"/>
    <a:srgbClr val="81C193"/>
    <a:srgbClr val="C7E3CF"/>
    <a:srgbClr val="A0D0AE"/>
    <a:srgbClr val="E4EFF4"/>
    <a:srgbClr val="CADFE8"/>
    <a:srgbClr val="BCD7E2"/>
    <a:srgbClr val="B6D4E0"/>
    <a:srgbClr val="D8E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D5FDF-A3D5-5F34-253B-734012A66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A55F8A-3D4B-80E0-7718-4ECFCDE0B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8C577A-864F-AC43-BDD1-52AFEBC6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DC1B6-95CC-60D3-A142-4FDBFAF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50E08-3C46-1724-5F22-C3DE7B0B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14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8D51F-8745-5989-BADE-3E4FBB30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4A640-DD3D-090A-2EB0-364CB401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BA0E76-586F-8FB7-C9AA-F989F2B1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0ACF6-C4CC-6460-3D90-8233E506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038B6-5708-C572-A5A9-B6AC1A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2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982ED-4B4C-A476-B91E-C82581E9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BA329D-A43B-AD8A-36C2-BD7684D30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9425-A3C8-7BCC-D501-2AD50DB3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65390F-1438-8197-775E-76AB58D7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CA2E1-5004-5636-21D7-79ED35C4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93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D77A1-36B7-A121-D13A-E627111D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B2431-6B63-2BE0-9B63-C26356992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D68665-D3F7-9AF2-8095-12F99EAC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CA533C-0511-2B14-8547-FAA9DBCE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0C1B29-F60A-C2BE-7B4F-A9A6FC3A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7D3B77-1CA6-2A64-6E96-1E2BD9A0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40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5E797-7FA1-BDC0-AE68-8BFFF4E1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B5079D-4E3A-2A62-A403-619D1122F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FF5908-0730-5A83-32BE-A014DAE82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16D5A5-A890-7712-F985-52338E516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373603-84EE-A022-ABBD-71827EEDC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87520F-33C1-D95B-F6D4-016E83CF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294278-2708-A57A-ADCF-C56F2F07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1B8572-FAC5-ED55-FA47-0192185C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866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31848-2829-9F9C-4676-B91EF2B6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07F3EA-F2EB-5A72-DC49-BBA9CA94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5C662C-B7D1-1154-D4DD-03F9B730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AA1152-E2A2-D0A1-8D77-10D88160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8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496F8E-B21D-6734-BC2B-2BD6A1EF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40D74F-1B16-887D-AC8A-B5B0222C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62B128-6B4E-0175-7E28-F5AB437E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94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4523-99D4-E3A9-DB10-029E7722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1BB3B-5EA6-32F5-ACF5-9A964564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08B475-D975-07CD-A756-AF03957E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315CBD-ECB6-7D1C-6C0F-88C58504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AC05C1-E72E-E384-7404-9D1F6207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553829-3C0B-DBBC-FB00-636758EE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94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00C01-A378-5453-6040-5C13741E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CF92E1-5FCE-E1BE-D1E3-EA229B976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F23B9A-EA5D-96D2-9A26-FE2A3A2BE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F945A4-DBC0-ACB4-0D5E-BE52EDA3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B0453F-A267-8E74-5F68-47A626B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35F6AC-C32E-1B10-F0BD-A2996788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6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769E0-FCBE-DC4B-92C3-6E950D6B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36BAC5-50BC-75DA-311C-EB1C3364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DF2E8-79CB-4C9D-D79F-86112591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389E-1137-DD3F-3610-AC819FBA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B71AB-3E09-67F9-1E91-22F7A53A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91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3CB471-ABEE-6608-7FCE-AD9286ED2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1ADE6B-D5E8-033F-1B04-1836749A5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578A2-BA9E-01DE-0EA2-AB99A17F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EE6C3A-825A-7E10-6C40-2554902C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F803E2-6D62-1B8D-44C8-ADC477F6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9204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3C3D77-555A-403D-A2D8-308E8522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029EA2-CF81-A317-245B-51281819C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4CB46B-B5AF-0FB0-F172-F5DB1D238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47015-7F4A-4C41-B618-B3138CAFA7DE}" type="datetimeFigureOut">
              <a:rPr lang="es-ES" smtClean="0"/>
              <a:t>20/06/2026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DA2A7-6390-3AC1-D929-A2EBD06D5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23703-E6CA-FBAF-9956-C073E18AE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73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1248" y="1051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60">
                <a:solidFill>
                  <a:srgbClr val="9C99A6"/>
                </a:solidFill>
                <a:latin typeface="Segoe UI Semibold"/>
              </a:rPr>
              <a:t>UNIVERSIDAD AUTÓNOMA DE MADRID   ·   FACULTAD DE PSICOLOGÍA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4040" y="1699260"/>
            <a:ext cx="768096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4300" b="0" dirty="0" err="1">
                <a:solidFill>
                  <a:srgbClr val="2E2A3A"/>
                </a:solidFill>
                <a:latin typeface="Georgia"/>
              </a:rPr>
              <a:t>Cómo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afectan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la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autoestima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300" b="0" dirty="0">
                <a:solidFill>
                  <a:srgbClr val="2E2A3A"/>
                </a:solidFill>
                <a:latin typeface="Georgia"/>
              </a:rPr>
              <a:t>     </a:t>
            </a:r>
            <a:r>
              <a:rPr lang="es-ES" sz="4300" dirty="0">
                <a:solidFill>
                  <a:srgbClr val="2E2A3A"/>
                </a:solidFill>
                <a:latin typeface="Georgia"/>
              </a:rPr>
              <a:t>y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el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autoconcepto</a:t>
            </a:r>
            <a:r>
              <a:rPr sz="4300" b="0" dirty="0">
                <a:solidFill>
                  <a:srgbClr val="2E2A3A"/>
                </a:solidFill>
                <a:latin typeface="Georgia"/>
              </a:rPr>
              <a:t> al </a:t>
            </a:r>
            <a:r>
              <a:rPr sz="4300" b="0" dirty="0" err="1">
                <a:solidFill>
                  <a:srgbClr val="2E2A3A"/>
                </a:solidFill>
                <a:latin typeface="Georgia"/>
              </a:rPr>
              <a:t>bienestar</a:t>
            </a:r>
            <a:endParaRPr sz="4300" b="0" dirty="0">
              <a:solidFill>
                <a:srgbClr val="2E2A3A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5200" y="3382518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2400" b="0" dirty="0">
                <a:solidFill>
                  <a:srgbClr val="4C4954"/>
                </a:solidFill>
                <a:latin typeface="Segoe UI"/>
              </a:rPr>
              <a:t>Una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revisión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paraguas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de meta-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análisis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lang="es-ES" sz="2400" b="0" dirty="0">
                <a:solidFill>
                  <a:srgbClr val="4C4954"/>
                </a:solidFill>
                <a:latin typeface="Segoe UI"/>
              </a:rPr>
              <a:t>   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psicología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y de la </a:t>
            </a:r>
            <a:r>
              <a:rPr sz="240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2400" b="0" dirty="0">
                <a:solidFill>
                  <a:srgbClr val="4C4954"/>
                </a:solidFill>
                <a:latin typeface="Segoe UI"/>
              </a:rPr>
              <a:t> (2016–2026)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4494276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4759549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40" dirty="0">
                <a:solidFill>
                  <a:srgbClr val="9C99A6"/>
                </a:solidFill>
                <a:latin typeface="Segoe UI Semibold"/>
              </a:rPr>
              <a:t>AUTORA</a:t>
            </a:r>
            <a:endParaRPr sz="1200" b="1" spc="140" dirty="0">
              <a:solidFill>
                <a:srgbClr val="9C99A6"/>
              </a:solidFill>
              <a:latin typeface="Segoe UI Semibold"/>
            </a:endParaRP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Denisa Antoneac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1200" y="4761527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40" dirty="0">
                <a:solidFill>
                  <a:srgbClr val="9C99A6"/>
                </a:solidFill>
                <a:latin typeface="Segoe UI Semibold"/>
              </a:rPr>
              <a:t>TUTORA ACADÉMICA</a:t>
            </a: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Raquel Rodríguez Carvajal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140" y="5461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 err="1">
                <a:solidFill>
                  <a:srgbClr val="6E57B0"/>
                </a:solidFill>
                <a:latin typeface="Segoe UI Semibold"/>
              </a:rPr>
              <a:t>Revisión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</a:t>
            </a:r>
            <a:r>
              <a:rPr sz="1400" b="1" dirty="0" err="1">
                <a:solidFill>
                  <a:srgbClr val="6E57B0"/>
                </a:solidFill>
                <a:latin typeface="Segoe UI Semibold"/>
              </a:rPr>
              <a:t>sistemática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· Umbrella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" y="6198675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dirty="0" err="1">
                <a:solidFill>
                  <a:srgbClr val="9C99A6"/>
                </a:solidFill>
                <a:latin typeface="Segoe UI"/>
              </a:rPr>
              <a:t>Máster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Universitario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Psicología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General Sanitaria ·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Convocatoria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junio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2026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D57788-F4BD-73FB-9C96-D2A669879588}"/>
              </a:ext>
            </a:extLst>
          </p:cNvPr>
          <p:cNvSpPr/>
          <p:nvPr/>
        </p:nvSpPr>
        <p:spPr>
          <a:xfrm>
            <a:off x="8851265" y="2921000"/>
            <a:ext cx="3302000" cy="3302000"/>
          </a:xfrm>
          <a:prstGeom prst="ellipse">
            <a:avLst/>
          </a:prstGeom>
          <a:solidFill>
            <a:srgbClr val="B07EBD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B831CC8-6A79-6883-B834-0ACB2D7A9156}"/>
              </a:ext>
            </a:extLst>
          </p:cNvPr>
          <p:cNvSpPr/>
          <p:nvPr/>
        </p:nvSpPr>
        <p:spPr>
          <a:xfrm>
            <a:off x="6903992" y="2804377"/>
            <a:ext cx="3347902" cy="3291623"/>
          </a:xfrm>
          <a:prstGeom prst="ellipse">
            <a:avLst/>
          </a:prstGeom>
          <a:solidFill>
            <a:srgbClr val="D17A98">
              <a:alpha val="1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8216AD5-0047-938A-A66C-CD7DDAEA5CEB}"/>
              </a:ext>
            </a:extLst>
          </p:cNvPr>
          <p:cNvSpPr/>
          <p:nvPr/>
        </p:nvSpPr>
        <p:spPr>
          <a:xfrm>
            <a:off x="7874000" y="762000"/>
            <a:ext cx="3810000" cy="3810000"/>
          </a:xfrm>
          <a:prstGeom prst="ellipse">
            <a:avLst/>
          </a:prstGeom>
          <a:solidFill>
            <a:srgbClr val="9F8FD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UN SIGLO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 siglo de estudio del 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88720" y="3410712"/>
            <a:ext cx="9509760" cy="27432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3" name="Rounded Rectangle 22"/>
          <p:cNvSpPr/>
          <p:nvPr/>
        </p:nvSpPr>
        <p:spPr>
          <a:xfrm>
            <a:off x="896888" y="52120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749808" y="521208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5" y="5350000"/>
            <a:ext cx="10177272" cy="5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2E2A3A"/>
                </a:solidFill>
              </a:rPr>
              <a:t>Falacias jingle / jangle</a:t>
            </a:r>
          </a:p>
          <a:p>
            <a:pPr algn="l"/>
            <a:r>
              <a:rPr sz="900" b="0">
                <a:solidFill>
                  <a:srgbClr val="4C4954"/>
                </a:solidFill>
              </a:rPr>
              <a:t>Jingle: mismo nombre, constructos distintos.   Jangle: mismo constructo, nombres distintos.   El instrumento elegido define que se mide realmente.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7" name="Oval 26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2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0119" y="2148840"/>
            <a:ext cx="15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079C8"/>
                </a:solidFill>
              </a:rPr>
              <a:t>1890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19" y="2670048"/>
            <a:ext cx="15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2A3A"/>
                </a:solidFill>
              </a:rPr>
              <a:t>William James</a:t>
            </a:r>
          </a:p>
        </p:txBody>
      </p:sp>
      <p:sp>
        <p:nvSpPr>
          <p:cNvPr id="31" name="Oval 30"/>
          <p:cNvSpPr/>
          <p:nvPr/>
        </p:nvSpPr>
        <p:spPr>
          <a:xfrm>
            <a:off x="1554671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19" y="3794760"/>
            <a:ext cx="156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C4954"/>
                </a:solidFill>
              </a:rPr>
              <a:t>El self como sujeto (I)</a:t>
            </a:r>
          </a:p>
          <a:p>
            <a:pPr algn="ctr"/>
            <a:r>
              <a:rPr sz="900" b="0">
                <a:solidFill>
                  <a:srgbClr val="4C4954"/>
                </a:solidFill>
              </a:rPr>
              <a:t>y objeto (me).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2239" y="2148840"/>
            <a:ext cx="15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079C8"/>
                </a:solidFill>
              </a:rPr>
              <a:t>1902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82239" y="2670048"/>
            <a:ext cx="15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2A3A"/>
                </a:solidFill>
              </a:rPr>
              <a:t>Cooley</a:t>
            </a:r>
          </a:p>
        </p:txBody>
      </p:sp>
      <p:sp>
        <p:nvSpPr>
          <p:cNvPr id="35" name="Oval 34"/>
          <p:cNvSpPr/>
          <p:nvPr/>
        </p:nvSpPr>
        <p:spPr>
          <a:xfrm>
            <a:off x="3576791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82239" y="3794760"/>
            <a:ext cx="156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C4954"/>
                </a:solidFill>
              </a:rPr>
              <a:t>El yo-espejo: nos vemos</a:t>
            </a:r>
          </a:p>
          <a:p>
            <a:pPr algn="ctr"/>
            <a:r>
              <a:rPr sz="900" b="0">
                <a:solidFill>
                  <a:srgbClr val="4C4954"/>
                </a:solidFill>
              </a:rPr>
              <a:t>como creemos que nos</a:t>
            </a:r>
          </a:p>
          <a:p>
            <a:pPr algn="ctr"/>
            <a:r>
              <a:rPr sz="900" b="0">
                <a:solidFill>
                  <a:srgbClr val="4C4954"/>
                </a:solidFill>
              </a:rPr>
              <a:t>ven los demas.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04359" y="2148840"/>
            <a:ext cx="15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079C8"/>
                </a:solidFill>
              </a:rPr>
              <a:t>1934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04359" y="2670048"/>
            <a:ext cx="15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2A3A"/>
                </a:solidFill>
              </a:rPr>
              <a:t>G. H. Mead</a:t>
            </a:r>
          </a:p>
        </p:txBody>
      </p:sp>
      <p:sp>
        <p:nvSpPr>
          <p:cNvPr id="39" name="Oval 38"/>
          <p:cNvSpPr/>
          <p:nvPr/>
        </p:nvSpPr>
        <p:spPr>
          <a:xfrm>
            <a:off x="5598911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04359" y="3794760"/>
            <a:ext cx="156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C4954"/>
                </a:solidFill>
              </a:rPr>
              <a:t>El self emerge</a:t>
            </a:r>
          </a:p>
          <a:p>
            <a:pPr algn="ctr"/>
            <a:r>
              <a:rPr sz="900" b="0">
                <a:solidFill>
                  <a:srgbClr val="4C4954"/>
                </a:solidFill>
              </a:rPr>
              <a:t>en la interaccion</a:t>
            </a:r>
          </a:p>
          <a:p>
            <a:pPr algn="ctr"/>
            <a:r>
              <a:rPr sz="900" b="0">
                <a:solidFill>
                  <a:srgbClr val="4C4954"/>
                </a:solidFill>
              </a:rPr>
              <a:t>social.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6479" y="2148840"/>
            <a:ext cx="15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079C8"/>
                </a:solidFill>
              </a:rPr>
              <a:t>1965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6479" y="2670048"/>
            <a:ext cx="15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2A3A"/>
                </a:solidFill>
              </a:rPr>
              <a:t>Rosenberg</a:t>
            </a:r>
          </a:p>
        </p:txBody>
      </p:sp>
      <p:sp>
        <p:nvSpPr>
          <p:cNvPr id="43" name="Oval 42"/>
          <p:cNvSpPr/>
          <p:nvPr/>
        </p:nvSpPr>
        <p:spPr>
          <a:xfrm>
            <a:off x="7621031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26479" y="3794760"/>
            <a:ext cx="156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C4954"/>
                </a:solidFill>
              </a:rPr>
              <a:t>Escala RSES: estandar</a:t>
            </a:r>
          </a:p>
          <a:p>
            <a:pPr algn="ctr"/>
            <a:r>
              <a:rPr sz="900" b="0">
                <a:solidFill>
                  <a:srgbClr val="4C4954"/>
                </a:solidFill>
              </a:rPr>
              <a:t>de la autoestima global.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48599" y="2148840"/>
            <a:ext cx="15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079C8"/>
                </a:solidFill>
              </a:rPr>
              <a:t>1976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8599" y="2670048"/>
            <a:ext cx="15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2A3A"/>
                </a:solidFill>
              </a:rPr>
              <a:t>Shavelson</a:t>
            </a:r>
          </a:p>
        </p:txBody>
      </p:sp>
      <p:sp>
        <p:nvSpPr>
          <p:cNvPr id="47" name="Oval 46"/>
          <p:cNvSpPr/>
          <p:nvPr/>
        </p:nvSpPr>
        <p:spPr>
          <a:xfrm>
            <a:off x="9643151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48599" y="3794760"/>
            <a:ext cx="156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C4954"/>
                </a:solidFill>
              </a:rPr>
              <a:t>Autoconcepto</a:t>
            </a:r>
          </a:p>
          <a:p>
            <a:pPr algn="ctr"/>
            <a:r>
              <a:rPr sz="900" b="0">
                <a:solidFill>
                  <a:srgbClr val="4C4954"/>
                </a:solidFill>
              </a:rPr>
              <a:t>multidimensional</a:t>
            </a:r>
          </a:p>
          <a:p>
            <a:pPr algn="ctr"/>
            <a:r>
              <a:rPr sz="900" b="0">
                <a:solidFill>
                  <a:srgbClr val="4C4954"/>
                </a:solidFill>
              </a:rPr>
              <a:t>y jerarquico.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70719" y="2148840"/>
            <a:ext cx="15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079C8"/>
                </a:solidFill>
              </a:rPr>
              <a:t>2003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70719" y="2670048"/>
            <a:ext cx="15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2A3A"/>
                </a:solidFill>
              </a:rPr>
              <a:t>Baumeister</a:t>
            </a:r>
          </a:p>
        </p:txBody>
      </p:sp>
      <p:sp>
        <p:nvSpPr>
          <p:cNvPr id="51" name="Oval 50"/>
          <p:cNvSpPr/>
          <p:nvPr/>
        </p:nvSpPr>
        <p:spPr>
          <a:xfrm>
            <a:off x="11665271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70719" y="3794760"/>
            <a:ext cx="156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C4954"/>
                </a:solidFill>
              </a:rPr>
              <a:t>Matiz: la alta</a:t>
            </a:r>
          </a:p>
          <a:p>
            <a:pPr algn="ctr"/>
            <a:r>
              <a:rPr sz="900" b="0">
                <a:solidFill>
                  <a:srgbClr val="4C4954"/>
                </a:solidFill>
              </a:rPr>
              <a:t>autoestima no</a:t>
            </a:r>
          </a:p>
          <a:p>
            <a:pPr algn="ctr"/>
            <a:r>
              <a:rPr sz="900" b="0">
                <a:solidFill>
                  <a:srgbClr val="4C4954"/>
                </a:solidFill>
              </a:rPr>
              <a:t>lo causa todo.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QUÉ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medimos exactamente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33275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Autoestima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79" y="263347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Evaluativa.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Juicio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global de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valía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personal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Dimensión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afectiva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¿Cuánto me valoro?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24127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emibold"/>
              </a:rPr>
              <a:t>Rosenberg </a:t>
            </a:r>
            <a:r>
              <a:rPr sz="1600" b="1" dirty="0">
                <a:solidFill>
                  <a:srgbClr val="FFFFFF"/>
                </a:solidFill>
                <a:latin typeface="Segoe UI Semibold"/>
              </a:rPr>
              <a:t>Self-Esteem</a:t>
            </a:r>
            <a:r>
              <a:rPr sz="1400" b="1" dirty="0">
                <a:solidFill>
                  <a:srgbClr val="FFFFFF"/>
                </a:solidFill>
                <a:latin typeface="Segoe UI Semibold"/>
              </a:rPr>
              <a:t>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47488" y="20595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Autoconcepto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18888" y="2494172"/>
            <a:ext cx="2871216" cy="25603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Descriptivo y multidimensional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Descripción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dominios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: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académico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social,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físico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corporal.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¿Qué pienso de mí mismo?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18888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Self-Description Questionnaire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77656" y="20528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>
                <a:solidFill>
                  <a:srgbClr val="2E2A3A"/>
                </a:solidFill>
                <a:latin typeface="Segoe UI Semibold"/>
              </a:rPr>
              <a:t>Bienestar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41630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Hedónico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satisfacción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E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udaimónico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funcionamiento</a:t>
            </a:r>
            <a:r>
              <a:rPr lang="es-ES" sz="160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óptimo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Calidad de vida relacionada con la salud </a:t>
            </a: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Salud mental general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67344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HRQoL  +  salud 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3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EL BIENESTAR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El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bienestar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tiene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cuatro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caras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2415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subjetivo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hedónico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5" y="2560320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b="0" dirty="0" err="1">
                <a:latin typeface="Segoe UI"/>
              </a:rPr>
              <a:t>Satisfacción</a:t>
            </a:r>
            <a:r>
              <a:rPr b="0" dirty="0">
                <a:latin typeface="Segoe UI"/>
              </a:rPr>
              <a:t> con la </a:t>
            </a:r>
            <a:r>
              <a:rPr b="0" dirty="0" err="1">
                <a:latin typeface="Segoe UI"/>
              </a:rPr>
              <a:t>vida</a:t>
            </a:r>
            <a:r>
              <a:rPr b="0" dirty="0">
                <a:latin typeface="Segoe UI"/>
              </a:rPr>
              <a:t> +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positivo</a:t>
            </a:r>
            <a:r>
              <a:rPr b="0" dirty="0">
                <a:latin typeface="Segoe UI"/>
              </a:rPr>
              <a:t> −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negativo</a:t>
            </a:r>
            <a:r>
              <a:rPr b="0" dirty="0">
                <a:latin typeface="Segoe UI"/>
              </a:rPr>
              <a:t> (Diener).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psicológico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eudaimónico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8529" y="2452769"/>
            <a:ext cx="4976078" cy="111339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Funcionamiento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óptimo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de la persona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seis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dimensiones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autonomía, dominio del entorno, crecimiento personal, relaciones positivas, propósito en la vida y autoaceptación 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(Ryff).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5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Calidad de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vida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y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salud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HRQoL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5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>
                <a:latin typeface="Segoe UI"/>
              </a:rPr>
              <a:t>Impacto de la </a:t>
            </a:r>
            <a:r>
              <a:rPr b="0" dirty="0" err="1">
                <a:latin typeface="Segoe UI"/>
              </a:rPr>
              <a:t>enfermedad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sobre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el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funcionamiento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físico</a:t>
            </a:r>
            <a:r>
              <a:rPr b="0" dirty="0">
                <a:latin typeface="Segoe UI"/>
              </a:rPr>
              <a:t>, mental y social (WHOQOL).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>
                <a:solidFill>
                  <a:srgbClr val="2E2A3A"/>
                </a:solidFill>
                <a:latin typeface="Segoe UI Semibold"/>
              </a:rPr>
              <a:t>Salud mental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lang="es-ES" dirty="0">
                <a:latin typeface="Segoe UI"/>
              </a:rPr>
              <a:t>Emociones positivas, funcionamiento psicológico y social </a:t>
            </a:r>
            <a:r>
              <a:rPr b="0" dirty="0">
                <a:latin typeface="Segoe UI"/>
              </a:rPr>
              <a:t>(Keyes).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3" name="Oval 22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4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Evidencia abundante… pero fragmentada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92938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184708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Es una de las literaturas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más voluminosas</a:t>
            </a:r>
            <a:r>
              <a:rPr sz="1500" b="0">
                <a:solidFill>
                  <a:srgbClr val="4C4954"/>
                </a:solidFill>
                <a:latin typeface="Segoe UI"/>
              </a:rPr>
              <a:t> de toda la psicología.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5526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17296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síntesis más próxima,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Zell &amp; Johansson (2025)</a:t>
            </a:r>
            <a:r>
              <a:rPr sz="1500" b="0">
                <a:solidFill>
                  <a:srgbClr val="4C4954"/>
                </a:solidFill>
                <a:latin typeface="Segoe UI"/>
              </a:rPr>
              <a:t>, agrega 40 meta-análisis: r = ,31 global (,42 salud mental; ,15 salud física)… pero en población general.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58114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49884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Cada meta-análisis aborda una porción del problema: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visión fragmentada</a:t>
            </a:r>
            <a:r>
              <a:rPr sz="1500" b="0">
                <a:solidFill>
                  <a:srgbClr val="4C4954"/>
                </a:solidFill>
                <a:latin typeface="Segoe UI"/>
              </a:rPr>
              <a:t> y difícil de transferir a la clínica.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03520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0574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6E57B0"/>
                </a:solidFill>
                <a:latin typeface="Segoe UI Semibold"/>
              </a:rPr>
              <a:t>El hueco que cubre este 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480559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①  Restrinjo a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población clínica y de la salud</a:t>
            </a:r>
            <a:r>
              <a:rPr sz="1500" b="0">
                <a:solidFill>
                  <a:srgbClr val="4C4954"/>
                </a:solidFill>
                <a:latin typeface="Segoe UI"/>
              </a:rPr>
              <a:t> (≥ 75 %).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500" b="0">
                <a:solidFill>
                  <a:srgbClr val="4C4954"/>
                </a:solidFill>
                <a:latin typeface="Segoe UI"/>
              </a:rPr>
              <a:t>②  Integro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autoestima y autoconcepto</a:t>
            </a:r>
            <a:r>
              <a:rPr sz="1500" b="0">
                <a:solidFill>
                  <a:srgbClr val="4C4954"/>
                </a:solidFill>
                <a:latin typeface="Segoe UI"/>
              </a:rPr>
              <a:t> —incluida la imagen corporal— como dos caras del mismo objeto.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350" b="0">
                <a:solidFill>
                  <a:srgbClr val="9C99A6"/>
                </a:solidFill>
                <a:latin typeface="Segoe UI"/>
              </a:rPr>
              <a:t>Las intervenciones se diseñan sobre constructos específicos, no sobre un único agregado global.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5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 propongo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10725912" cy="1078992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91640"/>
            <a:ext cx="91440" cy="1078992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883664"/>
            <a:ext cx="99943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Objetivo general.  </a:t>
            </a:r>
            <a:r>
              <a:rPr sz="1700" b="0">
                <a:solidFill>
                  <a:srgbClr val="4C4954"/>
                </a:solidFill>
                <a:latin typeface="Segoe UI"/>
              </a:rPr>
              <a:t>Sintetizar, mediante una revisión paraguas (PRISMA 2020 y PRIOR), la evidencia meta-analítica sobre autoestima y/o autoconcepto y bienestar en psicología clínica y de la salud (2016–2026).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y describir los meta-análisis del periodo en poblaciones clínicas o de salud.</a:t>
            </a:r>
          </a:p>
        </p:txBody>
      </p:sp>
      <p:sp>
        <p:nvSpPr>
          <p:cNvPr id="11" name="Oval 10"/>
          <p:cNvSpPr/>
          <p:nvPr/>
        </p:nvSpPr>
        <p:spPr>
          <a:xfrm>
            <a:off x="6336792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Sintetizar los tamaños del efecto: consistencias y discrepancias por constructo, outcome y población.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Evaluar la calidad metodológica (AMSTAR-2) y el solapamiento entre revisiones (CCA).</a:t>
            </a:r>
          </a:p>
        </p:txBody>
      </p:sp>
      <p:sp>
        <p:nvSpPr>
          <p:cNvPr id="15" name="Oval 14"/>
          <p:cNvSpPr/>
          <p:nvPr/>
        </p:nvSpPr>
        <p:spPr>
          <a:xfrm>
            <a:off x="6336792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lagunas en la evidencia y proponer líneas de investigación futura.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8" name="Oval 1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6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DISEÑO Y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Una revisión de revisiones (PECO)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67127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84831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Diseño:</a:t>
            </a:r>
            <a:r>
              <a:rPr sz="1700" b="0">
                <a:solidFill>
                  <a:srgbClr val="4C4954"/>
                </a:solidFill>
                <a:latin typeface="Segoe UI"/>
              </a:rPr>
              <a:t> umbrella review. La unidad de análisis es el meta-análisis, no el estudio primario.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31927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Reporte:</a:t>
            </a:r>
            <a:r>
              <a:rPr sz="1700" b="0">
                <a:solidFill>
                  <a:srgbClr val="4C4954"/>
                </a:solidFill>
                <a:latin typeface="Segoe UI"/>
              </a:rPr>
              <a:t> PRISMA 2020 y PRIOR, guías específicas para revisiones de revisiones.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63600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55371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Pregunta:</a:t>
            </a:r>
            <a:r>
              <a:rPr sz="1700" b="0">
                <a:solidFill>
                  <a:srgbClr val="4C4954"/>
                </a:solidFill>
                <a:latin typeface="Segoe UI"/>
              </a:rPr>
              <a:t> formulada en formato PECO 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577840" cy="42519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P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Población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Contexto clínico o de salud: diagnóstico, enfermedad o riesgo. Umbral ≥ 75 %.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2895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E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Exposición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2895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Autoestima y/o autoconcepto, incluida la imagen corporal, con instrumentos validados.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90906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C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Comparador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90906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Flexible: implícito (correlacional) o grupo control (intervención).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78917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O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8917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Bienestar subjetivo, psicológico, HRQoL o salud mental general.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7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BÚSQUEDA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Dónde y cómo busqué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2148840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756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4 bases primarias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624328"/>
            <a:ext cx="459028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PubMed/MEDLINE · APA PsycInfo · Scopus · Web of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" y="3538728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34655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+ 5 fuentes de literatura gris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014215"/>
            <a:ext cx="45902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PROSPERO · OSF · Google Scholar · TESEO · ProQuest Dissertations.</a:t>
            </a:r>
          </a:p>
          <a:p>
            <a:pPr algn="l">
              <a:spcBef>
                <a:spcPts val="500"/>
              </a:spcBef>
            </a:pPr>
            <a:r>
              <a:rPr sz="1350" b="0" i="1">
                <a:solidFill>
                  <a:srgbClr val="9C99A6"/>
                </a:solidFill>
                <a:latin typeface="Segoe UI"/>
              </a:rPr>
              <a:t>Reduce el sesgo de publicación.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198424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Estrategia:</a:t>
            </a:r>
            <a:r>
              <a:rPr sz="1650" b="0">
                <a:solidFill>
                  <a:srgbClr val="4C4954"/>
                </a:solidFill>
                <a:latin typeface="Segoe UI"/>
              </a:rPr>
              <a:t> 3 bloques unidos por AND (exposición × outcome × diseño) y vocabulario controlado (MeSH, APA Thesaurus).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Gestión:</a:t>
            </a:r>
            <a:r>
              <a:rPr sz="1650" b="0">
                <a:solidFill>
                  <a:srgbClr val="4C4954"/>
                </a:solidFill>
                <a:latin typeface="Segoe UI"/>
              </a:rPr>
              <a:t> todos los registros en Rayyan, con motivo de exclusión documentado.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46588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2992" y="461772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 dirty="0" err="1">
                <a:solidFill>
                  <a:srgbClr val="2E2A3A"/>
                </a:solidFill>
                <a:latin typeface="Segoe UI Semibold"/>
              </a:rPr>
              <a:t>Transparencia</a:t>
            </a:r>
            <a:r>
              <a:rPr sz="1650" b="1" dirty="0">
                <a:solidFill>
                  <a:srgbClr val="2E2A3A"/>
                </a:solidFill>
                <a:latin typeface="Segoe UI Semibold"/>
              </a:rPr>
              <a:t>: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cribado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extracción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revisora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única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→ se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reconoce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como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limitación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principal.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8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EL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13 meta-análisis, mucha diversidad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meta-análisis incluidos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~415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estudios primarios agregados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7 – 114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rango de k (mediana 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 spc="120">
                <a:solidFill>
                  <a:srgbClr val="9079C8"/>
                </a:solidFill>
                <a:latin typeface="Segoe UI Semibold"/>
              </a:rPr>
              <a:t>POBLACIONES CUBIERTAS  (2018–2026)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227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Trastornos psiquiátricos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950208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7807" y="39227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Obesidad infantojuvenil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34256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3328" y="43068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908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reproductiva / trans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718304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76088" y="4690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orofacial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5102352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5074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4589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Víctimas de violencia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548640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54589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430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Baja autoestima clínica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5870448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8848" y="5843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9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La calidad del corpus pide cautela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Alta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057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20391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1   8 %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7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Moderada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269747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9C99A6"/>
                </a:solidFill>
                <a:latin typeface="Segoe UI"/>
              </a:rPr>
              <a:t>0   (ninguno)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5584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Baja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374135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3" y="335584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1421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Críticamente baja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032503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C9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3" y="4014215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874519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240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300" b="1">
                <a:solidFill>
                  <a:srgbClr val="FFFFFF"/>
                </a:solidFill>
                <a:latin typeface="Georgia"/>
              </a:rPr>
              <a:t>12 de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108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con calidad Baja o Críticamente baja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977639"/>
            <a:ext cx="2194560" cy="10972"/>
          </a:xfrm>
          <a:prstGeom prst="rect">
            <a:avLst/>
          </a:prstGeom>
          <a:solidFill>
            <a:srgbClr val="C9B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1605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1">
                <a:solidFill>
                  <a:srgbClr val="EDE9F8"/>
                </a:solidFill>
                <a:latin typeface="Segoe UI Semibold"/>
              </a:rPr>
              <a:t>CCA = 1,4 %  ·  solapamiento leve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57800"/>
            <a:ext cx="7315200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525780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541324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Las conclusiones requieren cautela: el patrón general se sostiene, pero las magnitudes pueden estar sobreestimadas.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0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SÍNTESIS POR BLOQUES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Cinco bloques temáticos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42032" y="196596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 Semibold"/>
              </a:rPr>
              <a:t>★ Hallazgo más robusto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9079C8"/>
                </a:solidFill>
                <a:latin typeface="Segoe UI Semibold"/>
              </a:rPr>
              <a:t>BLOQUE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mental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Baja autoestima ↔ ideación y conducta suicida (Buecker, 2025). COMET y TCC-Fennell.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9079C8"/>
                </a:solidFill>
                <a:latin typeface="Segoe UI Semibold"/>
              </a:rPr>
              <a:t>r −,26 a −,44 · k 114 · AMSTAR-2 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4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6E86A8"/>
                </a:solidFill>
                <a:latin typeface="Segoe UI Semibold"/>
              </a:rPr>
              <a:t>BLOQUE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somática / CdV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Intervención psicológica en SOP y tratamiento de la deformidad dentofacial.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E86A8"/>
                </a:solidFill>
                <a:latin typeface="Segoe UI Semibold"/>
              </a:rPr>
              <a:t>Mejoras en imagen, depresión y CdV (certeza baja).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B49A6A"/>
                </a:solidFill>
                <a:latin typeface="Segoe UI Semibold"/>
              </a:rPr>
              <a:t>BLOQUE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Obesidad pediátrica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La actividad física estructurada mejora a la vez autoestima, imagen corporal y ánimo.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49A6A"/>
                </a:solidFill>
                <a:latin typeface="Segoe UI Semibold"/>
              </a:rPr>
              <a:t>SMD ≈ 0,34 autoestima · 0,47 imagen.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C98998"/>
                </a:solidFill>
                <a:latin typeface="Segoe UI Semibold"/>
              </a:rPr>
              <a:t>BLOQUE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Imagen corporal en trastornos clínicos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Exposición corporal (TCA/TDC) y atención de afirmación de género (TGD).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98998"/>
                </a:solidFill>
                <a:latin typeface="Segoe UI Semibold"/>
              </a:rPr>
              <a:t>g −,46 a −,99 en body dissatisfaction.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 dirty="0">
                <a:solidFill>
                  <a:srgbClr val="81C193"/>
                </a:solidFill>
                <a:latin typeface="Segoe UI Semibold"/>
              </a:rPr>
              <a:t>BLOQUE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como mecanismo mediador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4C4954"/>
                </a:solidFill>
                <a:latin typeface="Segoe UI"/>
              </a:rPr>
              <a:t>MASEM (k=82): media la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relación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estigma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internalizado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→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calidad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vida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8868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Efecto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</a:t>
            </a: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indirecto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β = −,189</a:t>
            </a:r>
            <a:r>
              <a:rPr lang="es-ES" sz="1100" b="1" dirty="0">
                <a:solidFill>
                  <a:srgbClr val="9079C8"/>
                </a:solidFill>
                <a:latin typeface="Segoe UI Semibold"/>
              </a:rPr>
              <a:t>.</a:t>
            </a:r>
            <a:endParaRPr sz="1100" b="1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93024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4" y="4617720"/>
            <a:ext cx="2871216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E2A3A"/>
                </a:solidFill>
                <a:latin typeface="Segoe UI Semibold"/>
              </a:rPr>
              <a:t>Transversal: </a:t>
            </a:r>
            <a:r>
              <a:rPr sz="1300" b="0">
                <a:solidFill>
                  <a:srgbClr val="4C4954"/>
                </a:solidFill>
                <a:latin typeface="Segoe UI"/>
              </a:rPr>
              <a:t>la dirección de los efectos es consistente entre bloques pese a poblaciones y métricas distintas.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MENSAJES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Conclusiones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7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predice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mental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moderado-fuerte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),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máximo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suicidalidad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1112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Las intervenciones sobre la autoestima funcionan (g 0,20–0,50) y arrastran mejoras en la depresión comórbida.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7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Cuerpo, imagen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van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juntos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;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obesidad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pediátrica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el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ejemplo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maduro.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imagen corporal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modificable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intervenciones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específicas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poblaciones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064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9C99A6"/>
                </a:solidFill>
                <a:latin typeface="Segoe UI"/>
              </a:rPr>
              <a:t>Coherente con Zell &amp; Johansson (2025) para salud mental (r ≈ ,42), pero con foco y matiz clínico.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2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3CD8A53B-BDA9-818A-45A5-E6950855AB3C}"/>
              </a:ext>
            </a:extLst>
          </p:cNvPr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CFC21AAE-3A51-B48F-E51A-1FD98532C3B5}"/>
              </a:ext>
            </a:extLst>
          </p:cNvPr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IMPLICACIONES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Tres implicaciones para la práctica clínica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7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Diana de intervención valiosa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 autoestima se modifica con psicoterapia (COMET, TCC de Fennell, protocolos para TCA), con beneficio modesto pero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5736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Integrar cuerpo, imagen y autoestima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En salud física y condiciones que afectan al cuerpo, imagen y autoestima son dianas, no solo desenlaces secundarios.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Cribado en prevención del suicidio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Medir la autoestima (RSES) e intervenir sobre ella refuerza los programas de prevención en poblaciones de riesgo.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3 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LIMITACIONES · Y LÍNEAS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Lo que hay que tener en cuenta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 la evidencia</a:t>
            </a:r>
          </a:p>
        </p:txBody>
      </p:sp>
      <p:sp>
        <p:nvSpPr>
          <p:cNvPr id="9" name="Oval 8"/>
          <p:cNvSpPr/>
          <p:nvPr/>
        </p:nvSpPr>
        <p:spPr>
          <a:xfrm>
            <a:off x="1042415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12 de 13 con AMSTAR-2 baja o crítica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5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Heterogeneidad de instrumentos y métricas</a:t>
            </a:r>
          </a:p>
        </p:txBody>
      </p:sp>
      <p:sp>
        <p:nvSpPr>
          <p:cNvPr id="13" name="Oval 12"/>
          <p:cNvSpPr/>
          <p:nvPr/>
        </p:nvSpPr>
        <p:spPr>
          <a:xfrm>
            <a:off x="1042415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Cobertura desigual: a veces 1 revisión por bloque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Del proceso</a:t>
            </a:r>
          </a:p>
        </p:txBody>
      </p:sp>
      <p:sp>
        <p:nvSpPr>
          <p:cNvPr id="18" name="Oval 17"/>
          <p:cNvSpPr/>
          <p:nvPr/>
        </p:nvSpPr>
        <p:spPr>
          <a:xfrm>
            <a:off x="4764024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Revisora única en todo el proceso</a:t>
            </a:r>
          </a:p>
        </p:txBody>
      </p:sp>
      <p:sp>
        <p:nvSpPr>
          <p:cNvPr id="20" name="Oval 19"/>
          <p:cNvSpPr/>
          <p:nvPr/>
        </p:nvSpPr>
        <p:spPr>
          <a:xfrm>
            <a:off x="4764024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1768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Idiomas inglés / español</a:t>
            </a:r>
          </a:p>
        </p:txBody>
      </p:sp>
      <p:sp>
        <p:nvSpPr>
          <p:cNvPr id="22" name="Oval 21"/>
          <p:cNvSpPr/>
          <p:nvPr/>
        </p:nvSpPr>
        <p:spPr>
          <a:xfrm>
            <a:off x="4764024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1768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Ventana temporal 2016–2026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Sin gradación formal 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23376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Líneas futuras</a:t>
            </a:r>
          </a:p>
        </p:txBody>
      </p:sp>
      <p:sp>
        <p:nvSpPr>
          <p:cNvPr id="29" name="Oval 28"/>
          <p:cNvSpPr/>
          <p:nvPr/>
        </p:nvSpPr>
        <p:spPr>
          <a:xfrm>
            <a:off x="8485632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Meta-análisis prerregistrados y mejor reportados</a:t>
            </a:r>
          </a:p>
        </p:txBody>
      </p:sp>
      <p:sp>
        <p:nvSpPr>
          <p:cNvPr id="31" name="Oval 30"/>
          <p:cNvSpPr/>
          <p:nvPr/>
        </p:nvSpPr>
        <p:spPr>
          <a:xfrm>
            <a:off x="8485632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3376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Estudios longitudinales (causalidad)</a:t>
            </a:r>
          </a:p>
        </p:txBody>
      </p:sp>
      <p:sp>
        <p:nvSpPr>
          <p:cNvPr id="33" name="Oval 32"/>
          <p:cNvSpPr/>
          <p:nvPr/>
        </p:nvSpPr>
        <p:spPr>
          <a:xfrm>
            <a:off x="8485632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3376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Autoconcepto multidimensional</a:t>
            </a:r>
          </a:p>
        </p:txBody>
      </p:sp>
      <p:sp>
        <p:nvSpPr>
          <p:cNvPr id="35" name="Oval 34"/>
          <p:cNvSpPr/>
          <p:nvPr/>
        </p:nvSpPr>
        <p:spPr>
          <a:xfrm>
            <a:off x="8485632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23376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Personas mayores y contextos no occidentales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8" name="Oval 3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4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En una frase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E2A3A"/>
                </a:solidFill>
                <a:latin typeface="Segoe UI"/>
              </a:rPr>
              <a:t>Con la cautela que impone la calidad del corpus, la evidencia apoya que la </a:t>
            </a:r>
            <a:r>
              <a:rPr sz="2000" b="1">
                <a:solidFill>
                  <a:srgbClr val="6E57B0"/>
                </a:solidFill>
                <a:latin typeface="Segoe UI Semibold"/>
              </a:rPr>
              <a:t>autoestima y el autoconcepto no son desenlaces secundarios, sino objetivos de intervención valiosos</a:t>
            </a:r>
            <a:r>
              <a:rPr sz="2000" b="0">
                <a:solidFill>
                  <a:srgbClr val="2E2A3A"/>
                </a:solidFill>
                <a:latin typeface="Segoe UI"/>
              </a:rPr>
              <a:t> en psicología clínica y de la salud.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376732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Baja autoestima ↔ suicidalidad: el hallazgo más robusto.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5" y="4608576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Las intervenciones sobre la autoestima son eficaces.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5449824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actividad física mejora autoestima e imagen en obesidad infantojuvenil.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76732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imagen corporal es modificable en poblaciones clínicas.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608576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autoestima media la relación estigma → calidad de vida.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544982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E2A3A"/>
                </a:solidFill>
                <a:latin typeface="Segoe UI Semibold"/>
              </a:rPr>
              <a:t>Justifica integrar estos constructos en los protocolos de tratamiento.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5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96528" y="3307080"/>
            <a:ext cx="4206240" cy="4206240"/>
          </a:xfrm>
          <a:prstGeom prst="ellipse">
            <a:avLst/>
          </a:prstGeom>
          <a:solidFill>
            <a:srgbClr val="9079C8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" y="2331720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100" b="0">
                <a:solidFill>
                  <a:srgbClr val="2E2A3A"/>
                </a:solidFill>
                <a:latin typeface="Georgia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>
                <a:solidFill>
                  <a:srgbClr val="4C4954"/>
                </a:solidFill>
                <a:latin typeface="Segoe UI"/>
              </a:rPr>
              <a:t>Quedo a su disposición para sus preguntas.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9C99A6"/>
                </a:solidFill>
                <a:latin typeface="Segoe UI"/>
              </a:rPr>
              <a:t>Denisa Antoneac   ·   Tutora: Raquel Rodríguez Carvajal   ·   Universidad Autónoma de Madrid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1628</Words>
  <Application>Microsoft Office PowerPoint</Application>
  <PresentationFormat>Panorámica</PresentationFormat>
  <Paragraphs>245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Georgia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ANTONEAC Denisa</dc:creator>
  <cp:lastModifiedBy>Denisa Antoneac</cp:lastModifiedBy>
  <cp:revision>3</cp:revision>
  <dcterms:created xsi:type="dcterms:W3CDTF">2026-06-15T14:36:44Z</dcterms:created>
  <dcterms:modified xsi:type="dcterms:W3CDTF">2026-06-21T10:21:30Z</dcterms:modified>
</cp:coreProperties>
</file>