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9" r:id="rId2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90" r:id="rId23"/>
    <p:sldId id="291" r:id="rId24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2.xml"/><Relationship Id="rId23" Type="http://schemas.openxmlformats.org/officeDocument/2006/relationships/slide" Target="slides/slide11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6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040" y="1699260"/>
            <a:ext cx="7680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43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300" b="0" dirty="0">
                <a:solidFill>
                  <a:srgbClr val="2E2A3A"/>
                </a:solidFill>
                <a:latin typeface="Georgia"/>
              </a:rPr>
              <a:t>     </a:t>
            </a:r>
            <a:r>
              <a:rPr lang="es-ES" sz="43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bienestar</a:t>
            </a:r>
            <a:endParaRPr sz="43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5200" y="3382518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400" b="0" dirty="0">
                <a:solidFill>
                  <a:srgbClr val="4C4954"/>
                </a:solidFill>
                <a:latin typeface="Segoe UI"/>
              </a:rPr>
              <a:t>Una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revisión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paraguas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de meta-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análisis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lang="es-ES" sz="2400" b="0" dirty="0">
                <a:solidFill>
                  <a:srgbClr val="4C4954"/>
                </a:solidFill>
                <a:latin typeface="Segoe UI"/>
              </a:rPr>
              <a:t>   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psicología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y de la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(2016–2026)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4494276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D57788-F4BD-73FB-9C96-D2A669879588}"/>
              </a:ext>
            </a:extLst>
          </p:cNvPr>
          <p:cNvSpPr/>
          <p:nvPr/>
        </p:nvSpPr>
        <p:spPr>
          <a:xfrm>
            <a:off x="8851265" y="2921000"/>
            <a:ext cx="3302000" cy="3302000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B831CC8-6A79-6883-B834-0ACB2D7A9156}"/>
              </a:ext>
            </a:extLst>
          </p:cNvPr>
          <p:cNvSpPr/>
          <p:nvPr/>
        </p:nvSpPr>
        <p:spPr>
          <a:xfrm>
            <a:off x="6903992" y="2804377"/>
            <a:ext cx="3347902" cy="3291623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8216AD5-0047-938A-A66C-CD7DDAEA5CEB}"/>
              </a:ext>
            </a:extLst>
          </p:cNvPr>
          <p:cNvSpPr/>
          <p:nvPr/>
        </p:nvSpPr>
        <p:spPr>
          <a:xfrm>
            <a:off x="7874000" y="762000"/>
            <a:ext cx="3810000" cy="3810000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Estructura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9808" y="1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9808" y="1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El self, autoestima, autoconcepto y bienestar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9808" y="2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Justificación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9808" y="2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Por qué este trabajo y qué añade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0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9808" y="31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Objetivos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9808" y="34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General y cuatro específicos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8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9808" y="39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Método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9808" y="42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Diseño PECO, búsqueda y selección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58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2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9808" y="466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Resultados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9808" y="498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Corpus, calidad AMSTAR-2 y síntesis por bloques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5330000"/>
            <a:ext cx="10725912" cy="8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70000"/>
            <a:ext cx="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9079C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9808" y="5410000"/>
            <a:ext cx="957591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2A3A"/>
                </a:solidFill>
              </a:rPr>
              <a:t>Discusión y Conclusiones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9808" y="5730000"/>
            <a:ext cx="9575912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4954"/>
                </a:solidFill>
              </a:rPr>
              <a:t>Implicaciones clínicas, limitaciones y líneas futuras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30" name="Oval 2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2</a:t>
            </a:r>
            <a:r>
              <a:rPr sz="1000" b="0">
                <a:solidFill>
                  <a:srgbClr val="9C99A6"/>
                </a:solidFill>
              </a:rPr>
              <a:t>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UN SIGLO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6000" y="3410712"/>
            <a:ext cx="900000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749808" y="521208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30000"/>
            <a:ext cx="10177272" cy="5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2E2A3A"/>
                </a:solidFill>
              </a:rPr>
              <a:t>Falacias jingle / jangle</a:t>
            </a:r>
          </a:p>
          <a:p>
            <a:pPr algn="l"/>
            <a:r>
              <a:rPr sz="900" b="0">
                <a:solidFill>
                  <a:srgbClr val="4C4954"/>
                </a:solidFill>
              </a:rPr>
              <a:t>Jingle: mismo nombre, constructos distintos.  Jangle: mismo constructo, nombres distintos.  El instrumento elegido define qué constructo se mide realmente.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sujeto (I) y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objeto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2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yo-espejo: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vemos como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nos ven los demás.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G.H.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0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El self emerge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en la interacción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Rosenberg</a:t>
            </a:r>
          </a:p>
        </p:txBody>
      </p:sp>
      <p:sp>
        <p:nvSpPr>
          <p:cNvPr id="43" name="Oval 42"/>
          <p:cNvSpPr/>
          <p:nvPr/>
        </p:nvSpPr>
        <p:spPr>
          <a:xfrm>
            <a:off x="68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Escala RSES: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estándar de la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autoestima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86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Autoconcepto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multidimensional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y jerárquico.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6000" y="2148840"/>
            <a:ext cx="16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6000" y="2670048"/>
            <a:ext cx="166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0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66000" y="3794760"/>
            <a:ext cx="166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4C4954"/>
                </a:solidFill>
              </a:rPr>
              <a:t>Efectos causales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más modestos de lo</a:t>
            </a:r>
          </a:p>
          <a:p>
            <a:pPr algn="ctr"/>
            <a:r>
              <a:rPr sz="850" b="0">
                <a:solidFill>
                  <a:srgbClr val="4C4954"/>
                </a:solidFill>
              </a:rPr>
              <a:t>esperado: urge rigor.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63347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Evaluativa.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Juicio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global de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valía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personal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Dimensión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afectiva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¿Cuánto me valoro?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494172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Descripción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dominios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académico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social,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físico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corporal.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¿Qué pienso de mí mismo?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1630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Hedónico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satisfacción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E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udaimónico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funcionamiento</a:t>
            </a:r>
            <a:r>
              <a:rPr lang="es-ES" sz="160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óptimo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Salud mental general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lang="es-ES" dirty="0">
                <a:latin typeface="Segoe UI"/>
              </a:rPr>
              <a:t>Dos continuos independientes: ausencia de enfermedad ≠ salud mental. Flourishing (diagnóstico + alta salud mental) vs. languishing (sin recursos). Objetivo terapéutico: reducir síntomas Y construir autoconcepto.</a:t>
            </a:r>
            <a:r>
              <a:rPr b="0" dirty="0"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4708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Es una de las literaturas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más voluminosas</a:t>
            </a:r>
            <a:r>
              <a:rPr sz="1500" b="0">
                <a:solidFill>
                  <a:srgbClr val="4C4954"/>
                </a:solidFill>
                <a:latin typeface="Segoe UI"/>
              </a:rPr>
              <a:t> de toda la psicología.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17296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síntesis más próxima,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Zell &amp; Johansson (2025)</a:t>
            </a:r>
            <a:r>
              <a:rPr sz="1500" b="0">
                <a:solidFill>
                  <a:srgbClr val="4C4954"/>
                </a:solidFill>
                <a:latin typeface="Segoe UI"/>
              </a:rPr>
              <a:t>, agrega 40 meta-análisis: r = ,31 global (,42 salud mental; ,15 salud física)… pero en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Cada meta-análisis aborda una porción del problema: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visión fragmentada</a:t>
            </a:r>
            <a:r>
              <a:rPr sz="1500" b="0">
                <a:solidFill>
                  <a:srgbClr val="4C4954"/>
                </a:solidFill>
                <a:latin typeface="Segoe UI"/>
              </a:rPr>
              <a:t> y difícil de transferir a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①  Restrinjo a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población clínica y de la salud</a:t>
            </a:r>
            <a:r>
              <a:rPr sz="1500" b="0">
                <a:solidFill>
                  <a:srgbClr val="4C4954"/>
                </a:solidFill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500" b="0">
                <a:solidFill>
                  <a:srgbClr val="4C4954"/>
                </a:solidFill>
                <a:latin typeface="Segoe UI"/>
              </a:rPr>
              <a:t>②  Integro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autoestima y autoconcepto</a:t>
            </a:r>
            <a:r>
              <a:rPr sz="1500" b="0">
                <a:solidFill>
                  <a:srgbClr val="4C4954"/>
                </a:solidFill>
                <a:latin typeface="Segoe UI"/>
              </a:rPr>
              <a:t> —incluida la imagen corporal— como dos caras del mismo objeto.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350" b="0">
                <a:solidFill>
                  <a:srgbClr val="9C99A6"/>
                </a:solidFill>
                <a:latin typeface="Segoe UI"/>
              </a:rPr>
              <a:t>Las intervenciones se diseñan sobre constructos específicos, no sobre un único agregado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Objetivo general.  </a:t>
            </a:r>
            <a:r>
              <a:rPr sz="1700" b="0">
                <a:solidFill>
                  <a:srgbClr val="4C4954"/>
                </a:solidFill>
                <a:latin typeface="Segoe UI"/>
              </a:rPr>
              <a:t>Sintetizar, mediante una revisión paraguas (PRISMA 2020 y PRIOR), la evidencia meta-analítica sobre autoestima y/o autoconcepto y bienestar en psicología clínica y de la salud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y describir los meta-análisis del periodo en poblaciones clínicas o de salud.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Sintetizar los tamaños del efecto: consistencias y discrepancias por constructo,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Evaluar la calidad metodológica (AMSTAR-2) y el solapamiento entre revisiones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lagunas en la evidencia y proponer líneas de investigación futura.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Diseño:</a:t>
            </a:r>
            <a:r>
              <a:rPr sz="1700" b="0">
                <a:solidFill>
                  <a:srgbClr val="4C4954"/>
                </a:solidFill>
                <a:latin typeface="Segoe UI"/>
              </a:rPr>
              <a:t> umbrella review. La unidad de análisis es el meta-análisis, no el estudio primario.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Reporte:</a:t>
            </a:r>
            <a:r>
              <a:rPr sz="1700" b="0">
                <a:solidFill>
                  <a:srgbClr val="4C4954"/>
                </a:solidFill>
                <a:latin typeface="Segoe UI"/>
              </a:rPr>
              <a:t> PRISMA 2020 y PRIOR, guías específicas para revisiones de revisiones.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Pregunta:</a:t>
            </a:r>
            <a:r>
              <a:rPr sz="1700" b="0">
                <a:solidFill>
                  <a:srgbClr val="4C4954"/>
                </a:solidFill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577840" cy="42519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Contexto clínico o de salud: diagnóstico, enfermedad o riesgo.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289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Exposición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2895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Autoestima y/o autoconcepto, incluida la imagen corporal, con instrumentos validados.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0906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Comparador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0906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Flexible: implícito (correlacional) o grupo control (intervención).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8917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917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Bienestar subjetivo, psicológico, HRQoL o salud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10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/>
            </a:r>
            <a:r>
              <a:rPr sz="2400" b="1">
                <a:solidFill>
                  <a:srgbClr val="2E2A3A"/>
                </a:solidFill>
              </a:rPr>
              <a:t>4 bases primarias (n = 3.683)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/>
            </a:r>
            <a:r>
              <a:rPr sz="2400" b="1">
                <a:solidFill>
                  <a:srgbClr val="2E2A3A"/>
                </a:solidFill>
              </a:rPr>
              <a:t>5 fuentes de literatura gris (n = 825)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Estrategia:</a:t>
            </a:r>
            <a:r>
              <a:rPr sz="1650" b="0">
                <a:solidFill>
                  <a:srgbClr val="4C4954"/>
                </a:solidFill>
                <a:latin typeface="Segoe UI"/>
              </a:rPr>
              <a:t> 3 bloques unidos por AND (exposición × outcome × diseño) y vocabulario controlado (MeSH,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Gestión:</a:t>
            </a:r>
            <a:r>
              <a:rPr sz="1650" b="0">
                <a:solidFill>
                  <a:srgbClr val="4C4954"/>
                </a:solidFill>
                <a:latin typeface="Segoe UI"/>
              </a:rPr>
              <a:t> todos los registros en Rayyan, con motivo de exclusión documentado.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11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13 meta-análisis, mucha diversidad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>
                <a:solidFill>
                  <a:srgbClr val="9079C8"/>
                </a:solidFill>
                <a:latin typeface="Segoe UI Semibold"/>
              </a:rPr>
              <a:t>POBLACIONES CUBIERTAS  (2018–2026)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12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Flujograma PRISMA 2020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650000"/>
            <a:ext cx="5000000" cy="9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000" y="1700000"/>
            <a:ext cx="49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Identificación
Bases primarias (n = 3.683)
PubMed/MEDLINE (737) · APA PsycInfo (834)
Scopus (1.108) · Web of Science (1.004)
Literatura gris (n = 825)
Total (n = 4.508)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00000" y="1650000"/>
            <a:ext cx="5000000" cy="9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0000" y="1700000"/>
            <a:ext cx="49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Registros eliminados
before screening:
Duplicados (n = 2.312)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50000" y="257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80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000" y="285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Cribado
Registros cribados
por título/resumen
(n = 2.196)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0000" y="280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0000" y="285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Excluidos
(n = 2.122)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50000" y="352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75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000" y="380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2A3A"/>
                </a:solidFill>
              </a:rPr>
              <a:t>Lectua texto completo
Informes evaluados
(n = 74)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0000" y="3750000"/>
            <a:ext cx="5000000" cy="700000"/>
          </a:xfrm>
          <a:prstGeom prst="rect">
            <a:avLst/>
          </a:prstGeom>
          <a:solidFill>
            <a:srgbClr val="DFD8EC"/>
          </a:solidFill>
          <a:ln w="1905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0000" y="3800000"/>
            <a:ext cx="4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2A3A"/>
                </a:solidFill>
              </a:rPr>
              <a:t>Excluidos (n = 61):
(a) Variable principal ≠ autoestima/autoconcepto (n = 40)
(b) No meta-análisis (n = 1)
(c) No artículo original (n = 1)
(d) Población clínica &lt; 75% (n = 19)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250000" y="4470000"/>
            <a:ext cx="100000" cy="150000"/>
          </a:xfrm>
          <a:prstGeom prst="rightArrow">
            <a:avLst/>
          </a:prstGeom>
          <a:solidFill>
            <a:srgbClr val="2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700000"/>
            <a:ext cx="5000000" cy="500000"/>
          </a:xfrm>
          <a:prstGeom prst="rect">
            <a:avLst/>
          </a:prstGeom>
          <a:solidFill>
            <a:srgbClr val="9079C8"/>
          </a:solidFill>
          <a:ln w="25400">
            <a:solidFill>
              <a:srgbClr val="2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000" y="475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Inclusión
Meta-análisis incluidos
(n = 13)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24" name="Oval 23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9C99A6"/>
                </a:solidFill>
                <a:latin typeface="Segoe UI"/>
              </a:rPr>
              <a:t>0   (ninguno)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13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14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predice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mental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moderado-fuerte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máximo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Las intervenciones sobre la autoestima funcionan (g 0,20–0,50) y arrastran mejoras en la depresión comórbida.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Cuerpo, imagen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van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juntos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;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obesidad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pediátrica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ejemplo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imagen corporal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modificable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intervenciones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específicas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poblaciones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15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En salud física y condiciones que afectan al cuerpo, imagen y autoestima son dianas, no solo desenlaces secundarios.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Medir la autoestima (RSES) e intervenir sobre ella refuerza los programas de prevención en poblaciones de riesgo.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16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 la evidencia</a:t>
            </a: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12 de 13 con AMSTAR-2 baja o crítica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Heterogeneidad de instrumentos y 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Del proceso</a:t>
            </a: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Revisora única en todo el proceso</a:t>
            </a: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Meta-análisis prerregistrados y mejor reportados</a:t>
            </a: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Personas mayores y contextos no occidentales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17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Baja autoestima ↔ suicidalidad: el hallazgo más robusto.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18 / 19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Criterios de inclusión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1650000"/>
            <a:ext cx="1040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(a) </a:t>
            </a:r>
            <a:r>
              <a:rPr sz="1600" b="0">
                <a:solidFill>
                  <a:srgbClr val="4C4954"/>
                </a:solidFill>
              </a:rPr>
              <a:t>Meta-análisis cuantitativo en revista científica con peer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270000"/>
            <a:ext cx="1040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(b) </a:t>
            </a:r>
            <a:r>
              <a:rPr sz="1600" b="0">
                <a:solidFill>
                  <a:srgbClr val="4C4954"/>
                </a:solidFill>
              </a:rPr>
              <a:t>Autoestima o autoconcepto como variable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2890000"/>
            <a:ext cx="1040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(c) </a:t>
            </a:r>
            <a:r>
              <a:rPr sz="1600" b="0">
                <a:solidFill>
                  <a:srgbClr val="4C4954"/>
                </a:solidFill>
              </a:rPr>
              <a:t>Indicador de bienestar adicional (subjetivo, psicológico, HRQoL o salud mental)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3510000"/>
            <a:ext cx="1040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(d) </a:t>
            </a:r>
            <a:r>
              <a:rPr sz="1600" b="0">
                <a:solidFill>
                  <a:srgbClr val="4C4954"/>
                </a:solidFill>
              </a:rPr>
              <a:t>Población clínica/salud ≥75% (o análisis estratificados)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4130000"/>
            <a:ext cx="1040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(e) </a:t>
            </a:r>
            <a:r>
              <a:rPr sz="1600" b="0">
                <a:solidFill>
                  <a:srgbClr val="4C4954"/>
                </a:solidFill>
              </a:rPr>
              <a:t>Publicado en inglés o español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4750000"/>
            <a:ext cx="1040000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79C8"/>
                </a:solidFill>
              </a:rPr>
              <a:t>(f) </a:t>
            </a:r>
            <a:r>
              <a:rPr sz="1600" b="0">
                <a:solidFill>
                  <a:srgbClr val="4C4954"/>
                </a:solidFill>
              </a:rPr>
              <a:t>Publicado entre 1 enero 2016 y 25 mayo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13" name="Oval 1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C99A6"/>
                </a:solidFill>
              </a:rPr>
              <a:t>11</a:t>
            </a:r>
            <a:r>
              <a:rPr sz="1000" b="0">
                <a:solidFill>
                  <a:srgbClr val="9C99A6"/>
                </a:solidFill>
              </a:rPr>
              <a:t>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1628</Words>
  <Application>Microsoft Office PowerPoint</Application>
  <PresentationFormat>Panorámica</PresentationFormat>
  <Paragraphs>245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3</cp:revision>
  <dcterms:created xsi:type="dcterms:W3CDTF">2026-06-15T14:36:44Z</dcterms:created>
  <dcterms:modified xsi:type="dcterms:W3CDTF">2026-06-21T10:21:30Z</dcterms:modified>
</cp:coreProperties>
</file>