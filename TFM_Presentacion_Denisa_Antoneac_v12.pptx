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89" r:id="rId22"/>
    <p:sldId id="274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90" r:id="rId23"/>
    <p:sldId id="291" r:id="rId24"/>
    <p:sldId id="282" r:id="rId11"/>
    <p:sldId id="283" r:id="rId12"/>
    <p:sldId id="284" r:id="rId13"/>
    <p:sldId id="285" r:id="rId14"/>
    <p:sldId id="286" r:id="rId15"/>
    <p:sldId id="287" r:id="rId16"/>
    <p:sldId id="288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BF8"/>
    <a:srgbClr val="9079C8"/>
    <a:srgbClr val="81C193"/>
    <a:srgbClr val="C7E3CF"/>
    <a:srgbClr val="A0D0AE"/>
    <a:srgbClr val="E4EFF4"/>
    <a:srgbClr val="CADFE8"/>
    <a:srgbClr val="BCD7E2"/>
    <a:srgbClr val="B6D4E0"/>
    <a:srgbClr val="D8EC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1138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2.xml"/><Relationship Id="rId23" Type="http://schemas.openxmlformats.org/officeDocument/2006/relationships/slide" Target="slides/slide11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3D5FDF-A3D5-5F34-253B-734012A66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A55F8A-3D4B-80E0-7718-4ECFCDE0B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8C577A-864F-AC43-BDD1-52AFEBC6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4DC1B6-95CC-60D3-A142-4FDBFAF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F50E08-3C46-1724-5F22-C3DE7B0BF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3140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B8D51F-8745-5989-BADE-3E4FBB306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44A640-DD3D-090A-2EB0-364CB4014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BA0E76-586F-8FB7-C9AA-F989F2B11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D0ACF6-C4CC-6460-3D90-8233E5061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B038B6-5708-C572-A5A9-B6AC1A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2285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982ED-4B4C-A476-B91E-C82581E9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BA329D-A43B-AD8A-36C2-BD7684D30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E59425-A3C8-7BCC-D501-2AD50DB36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5390F-1438-8197-775E-76AB58D7C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FCA2E1-5004-5636-21D7-79ED35C4C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5937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DD77A1-36B7-A121-D13A-E627111DE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6B2431-6B63-2BE0-9B63-C26356992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3D68665-D3F7-9AF2-8095-12F99EAC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CCA533C-0511-2B14-8547-FAA9DBCEC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0C1B29-F60A-C2BE-7B4F-A9A6FC3A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7D3B77-1CA6-2A64-6E96-1E2BD9A0F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940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B5E797-7FA1-BDC0-AE68-8BFFF4E1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B5079D-4E3A-2A62-A403-619D1122F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FF5908-0730-5A83-32BE-A014DAE82D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716D5A5-A890-7712-F985-52338E5163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6373603-84EE-A022-ABBD-71827EEDCC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487520F-33C1-D95B-F6D4-016E83CF5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6294278-2708-A57A-ADCF-C56F2F07E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71B8572-FAC5-ED55-FA47-0192185CF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866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531848-2829-9F9C-4676-B91EF2B6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07F3EA-F2EB-5A72-DC49-BBA9CA94B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5C662C-B7D1-1154-D4DD-03F9B7308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6AA1152-E2A2-D0A1-8D77-10D881607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5801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496F8E-B21D-6734-BC2B-2BD6A1EFF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40D74F-1B16-887D-AC8A-B5B0222CE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62B128-6B4E-0175-7E28-F5AB437E3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5947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554523-99D4-E3A9-DB10-029E7722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31BB3B-5EA6-32F5-ACF5-9A9645647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08B475-D975-07CD-A756-AF03957E5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315CBD-ECB6-7D1C-6C0F-88C58504E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BAC05C1-E72E-E384-7404-9D1F6207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553829-3C0B-DBBC-FB00-636758EE3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394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D00C01-A378-5453-6040-5C13741E9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BCF92E1-5FCE-E1BE-D1E3-EA229B976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6F23B9A-EA5D-96D2-9A26-FE2A3A2BE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F945A4-DBC0-ACB4-0D5E-BE52EDA31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B0453F-A267-8E74-5F68-47A626BF1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C35F6AC-C32E-1B10-F0BD-A2996788A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96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769E0-FCBE-DC4B-92C3-6E950D6BD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F36BAC5-50BC-75DA-311C-EB1C3364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EDF2E8-79CB-4C9D-D79F-86112591E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B2389E-1137-DD3F-3610-AC819FBA8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0B71AB-3E09-67F9-1E91-22F7A53A9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6915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3CB471-ABEE-6608-7FCE-AD9286ED23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B1ADE6B-D5E8-033F-1B04-1836749A5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E578A2-BA9E-01DE-0EA2-AB99A17FA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EE6C3A-825A-7E10-6C40-2554902C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F803E2-6D62-1B8D-44C8-ADC477F63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29204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3C3D77-555A-403D-A2D8-308E85228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029EA2-CF81-A317-245B-51281819C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4CB46B-B5AF-0FB0-F172-F5DB1D238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247015-7F4A-4C41-B618-B3138CAFA7DE}" type="datetimeFigureOut">
              <a:rPr lang="es-ES" smtClean="0"/>
              <a:t>20/06/2026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4DA2A7-6390-3AC1-D929-A2EBD06D5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523703-E6CA-FBAF-9956-C073E18AE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5733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41248" y="1051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 spc="160">
                <a:solidFill>
                  <a:srgbClr val="9C99A6"/>
                </a:solidFill>
                <a:latin typeface="Segoe UI Semibold"/>
              </a:rPr>
              <a:t>UNIVERSIDAD AUTÓNOMA DE MADRID   ·   FACULTAD DE PSICOLOGÍA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4040" y="1699260"/>
            <a:ext cx="7680960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4300" b="0" dirty="0" err="1">
                <a:solidFill>
                  <a:srgbClr val="2E2A3A"/>
                </a:solidFill>
                <a:latin typeface="Georgia"/>
              </a:rPr>
              <a:t>Cómo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afectan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la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autoestima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lang="es-ES" sz="4300" b="0" dirty="0">
                <a:solidFill>
                  <a:srgbClr val="2E2A3A"/>
                </a:solidFill>
                <a:latin typeface="Georgia"/>
              </a:rPr>
              <a:t>     </a:t>
            </a:r>
            <a:r>
              <a:rPr lang="es-ES" sz="4300" dirty="0">
                <a:solidFill>
                  <a:srgbClr val="2E2A3A"/>
                </a:solidFill>
                <a:latin typeface="Georgia"/>
              </a:rPr>
              <a:t>y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el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autoconcepto</a:t>
            </a:r>
            <a:r>
              <a:rPr sz="4300" b="0" dirty="0">
                <a:solidFill>
                  <a:srgbClr val="2E2A3A"/>
                </a:solidFill>
                <a:latin typeface="Georgia"/>
              </a:rPr>
              <a:t> al </a:t>
            </a:r>
            <a:r>
              <a:rPr sz="4300" b="0" dirty="0" err="1">
                <a:solidFill>
                  <a:srgbClr val="2E2A3A"/>
                </a:solidFill>
                <a:latin typeface="Georgia"/>
              </a:rPr>
              <a:t>bienestar</a:t>
            </a:r>
            <a:endParaRPr sz="4300" b="0" dirty="0">
              <a:solidFill>
                <a:srgbClr val="2E2A3A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65200" y="3382518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2400" b="0" dirty="0">
                <a:solidFill>
                  <a:srgbClr val="4C4954"/>
                </a:solidFill>
                <a:latin typeface="Segoe UI"/>
              </a:rPr>
              <a:t>Una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revisión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paraguas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de meta-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análisis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lang="es-ES" sz="2400" b="0" dirty="0">
                <a:solidFill>
                  <a:srgbClr val="4C4954"/>
                </a:solidFill>
                <a:latin typeface="Segoe UI"/>
              </a:rPr>
              <a:t>   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psicología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clínica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y de la </a:t>
            </a:r>
            <a:r>
              <a:rPr sz="2400" b="0" dirty="0" err="1">
                <a:solidFill>
                  <a:srgbClr val="4C4954"/>
                </a:solidFill>
                <a:latin typeface="Segoe UI"/>
              </a:rPr>
              <a:t>salud</a:t>
            </a:r>
            <a:r>
              <a:rPr sz="2400" b="0" dirty="0">
                <a:solidFill>
                  <a:srgbClr val="4C4954"/>
                </a:solidFill>
                <a:latin typeface="Segoe UI"/>
              </a:rPr>
              <a:t> (2016–2026)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4494276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2000" y="4759549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 spc="140" dirty="0">
                <a:solidFill>
                  <a:srgbClr val="9C99A6"/>
                </a:solidFill>
                <a:latin typeface="Segoe UI Semibold"/>
              </a:rPr>
              <a:t>AUTORA</a:t>
            </a:r>
            <a:endParaRPr sz="1200" b="1" spc="140" dirty="0">
              <a:solidFill>
                <a:srgbClr val="9C99A6"/>
              </a:solidFill>
              <a:latin typeface="Segoe UI Semibold"/>
            </a:endParaRP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Denisa Antoneac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1200" y="4761527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 spc="140" dirty="0">
                <a:solidFill>
                  <a:srgbClr val="9C99A6"/>
                </a:solidFill>
                <a:latin typeface="Segoe UI Semibold"/>
              </a:rPr>
              <a:t>TUTORA ACADÉMICA</a:t>
            </a: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Raquel Rodríguez Carvajal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" y="5461000"/>
            <a:ext cx="3246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 err="1">
                <a:solidFill>
                  <a:srgbClr val="6E57B0"/>
                </a:solidFill>
                <a:latin typeface="Segoe UI Semibold"/>
              </a:rPr>
              <a:t>Revisión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</a:t>
            </a:r>
            <a:r>
              <a:rPr sz="1400" b="1" dirty="0" err="1">
                <a:solidFill>
                  <a:srgbClr val="6E57B0"/>
                </a:solidFill>
                <a:latin typeface="Segoe UI Semibold"/>
              </a:rPr>
              <a:t>sistemática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· Umbrella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140" y="6198675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 dirty="0" err="1">
                <a:solidFill>
                  <a:srgbClr val="9C99A6"/>
                </a:solidFill>
                <a:latin typeface="Segoe UI"/>
              </a:rPr>
              <a:t>Máster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Universitario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en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Psicología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General Sanitaria ·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Convocatoria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junio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2026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1D57788-F4BD-73FB-9C96-D2A669879588}"/>
              </a:ext>
            </a:extLst>
          </p:cNvPr>
          <p:cNvSpPr/>
          <p:nvPr/>
        </p:nvSpPr>
        <p:spPr>
          <a:xfrm>
            <a:off x="8851265" y="2921000"/>
            <a:ext cx="3302000" cy="3302000"/>
          </a:xfrm>
          <a:prstGeom prst="ellipse">
            <a:avLst/>
          </a:prstGeom>
          <a:solidFill>
            <a:srgbClr val="B07EBD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EB831CC8-6A79-6883-B834-0ACB2D7A9156}"/>
              </a:ext>
            </a:extLst>
          </p:cNvPr>
          <p:cNvSpPr/>
          <p:nvPr/>
        </p:nvSpPr>
        <p:spPr>
          <a:xfrm>
            <a:off x="6903992" y="2804377"/>
            <a:ext cx="3347902" cy="3291623"/>
          </a:xfrm>
          <a:prstGeom prst="ellipse">
            <a:avLst/>
          </a:prstGeom>
          <a:solidFill>
            <a:srgbClr val="D17A98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08216AD5-0047-938A-A66C-CD7DDAEA5CEB}"/>
              </a:ext>
            </a:extLst>
          </p:cNvPr>
          <p:cNvSpPr/>
          <p:nvPr/>
        </p:nvSpPr>
        <p:spPr>
          <a:xfrm>
            <a:off x="7874000" y="762000"/>
            <a:ext cx="3810000" cy="3810000"/>
          </a:xfrm>
          <a:prstGeom prst="ellipse">
            <a:avLst/>
          </a:prstGeom>
          <a:solidFill>
            <a:srgbClr val="9F8FD0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Estructura de la presentación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9808" y="1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Marco Teórico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808" y="1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El self, autoestima, autoconcepto y bienestar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9808" y="2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Justificación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9808" y="2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Por qué este trabajo y qué añade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0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1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9808" y="31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Objetivos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9808" y="34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General y cuatro específicos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8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8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9808" y="39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Método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9808" y="42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Diseño PECO, búsqueda y selección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5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9808" y="4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Resultados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9808" y="4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Corpus, calidad AMSTAR-2 y síntesis por bloques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5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9808" y="5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Discusión y Conclusiones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9808" y="5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Implicaciones clínicas, limitaciones y líneas futuras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30" name="Oval 2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2</a:t>
            </a:r>
            <a:r>
              <a:rPr sz="1000" b="0">
                <a:solidFill>
                  <a:srgbClr val="9C99A6"/>
                </a:solidFill>
              </a:rPr>
              <a:t>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UN SIGLO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 siglo de estudio del 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596000" y="3410712"/>
            <a:ext cx="9000000" cy="27432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23" name="Rounded Rectangle 22"/>
          <p:cNvSpPr/>
          <p:nvPr/>
        </p:nvSpPr>
        <p:spPr>
          <a:xfrm>
            <a:off x="896888" y="5212080"/>
            <a:ext cx="10725912" cy="77724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24" name="Rectangle 23"/>
          <p:cNvSpPr/>
          <p:nvPr/>
        </p:nvSpPr>
        <p:spPr>
          <a:xfrm>
            <a:off x="749808" y="5212080"/>
            <a:ext cx="82296" cy="77724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5" y="5330000"/>
            <a:ext cx="10177272" cy="5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2E2A3A"/>
                </a:solidFill>
              </a:rPr>
              <a:t>Falacias jingle / jangle</a:t>
            </a:r>
          </a:p>
          <a:p>
            <a:pPr algn="l"/>
            <a:r>
              <a:rPr sz="900" b="0">
                <a:solidFill>
                  <a:srgbClr val="4C4954"/>
                </a:solidFill>
              </a:rPr>
              <a:t>Jingle: mismo nombre, constructos distintos.  Jangle: mismo constructo, nombres distintos.  El instrumento elegido define qué constructo se mide realmente.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7" name="Oval 26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5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1890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William James</a:t>
            </a:r>
          </a:p>
        </p:txBody>
      </p:sp>
      <p:sp>
        <p:nvSpPr>
          <p:cNvPr id="31" name="Oval 30"/>
          <p:cNvSpPr/>
          <p:nvPr/>
        </p:nvSpPr>
        <p:spPr>
          <a:xfrm>
            <a:off x="1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El self como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sujeto (I) y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objeto (me).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Cooley</a:t>
            </a:r>
          </a:p>
        </p:txBody>
      </p:sp>
      <p:sp>
        <p:nvSpPr>
          <p:cNvPr id="35" name="Oval 34"/>
          <p:cNvSpPr/>
          <p:nvPr/>
        </p:nvSpPr>
        <p:spPr>
          <a:xfrm>
            <a:off x="32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El yo-espejo: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nos vemos como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nos ven los demás.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G.H. Mead</a:t>
            </a:r>
          </a:p>
        </p:txBody>
      </p:sp>
      <p:sp>
        <p:nvSpPr>
          <p:cNvPr id="39" name="Oval 38"/>
          <p:cNvSpPr/>
          <p:nvPr/>
        </p:nvSpPr>
        <p:spPr>
          <a:xfrm>
            <a:off x="50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El self emerge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en la interacción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social.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Rosenberg</a:t>
            </a:r>
          </a:p>
        </p:txBody>
      </p:sp>
      <p:sp>
        <p:nvSpPr>
          <p:cNvPr id="43" name="Oval 42"/>
          <p:cNvSpPr/>
          <p:nvPr/>
        </p:nvSpPr>
        <p:spPr>
          <a:xfrm>
            <a:off x="68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Escala RSES: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estándar de la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autoestima global.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1976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Shavelson</a:t>
            </a:r>
          </a:p>
        </p:txBody>
      </p:sp>
      <p:sp>
        <p:nvSpPr>
          <p:cNvPr id="47" name="Oval 46"/>
          <p:cNvSpPr/>
          <p:nvPr/>
        </p:nvSpPr>
        <p:spPr>
          <a:xfrm>
            <a:off x="86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Autoconcepto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multidimensional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y jerárquico.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66000" y="2148840"/>
            <a:ext cx="166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079C8"/>
                </a:solidFill>
              </a:rPr>
              <a:t>2003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66000" y="2670048"/>
            <a:ext cx="166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>
                <a:solidFill>
                  <a:srgbClr val="2E2A3A"/>
                </a:solidFill>
              </a:rPr>
              <a:t>Baumeister</a:t>
            </a:r>
          </a:p>
        </p:txBody>
      </p:sp>
      <p:sp>
        <p:nvSpPr>
          <p:cNvPr id="51" name="Oval 50"/>
          <p:cNvSpPr/>
          <p:nvPr/>
        </p:nvSpPr>
        <p:spPr>
          <a:xfrm>
            <a:off x="10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66000" y="3794760"/>
            <a:ext cx="1660000" cy="1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4C4954"/>
                </a:solidFill>
              </a:rPr>
              <a:t>Efectos causales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más modestos de lo</a:t>
            </a:r>
          </a:p>
          <a:p>
            <a:pPr algn="ctr"/>
            <a:r>
              <a:rPr sz="850" b="0">
                <a:solidFill>
                  <a:srgbClr val="4C4954"/>
                </a:solidFill>
              </a:rPr>
              <a:t>esperado: urge rigor.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QUÉ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medimos exactamente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33275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Autoestima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79" y="2633472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Evaluativa.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Juicio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global de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valía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personal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Dimensión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afectiva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del self.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¿Cuánto me valoro?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024127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Segoe UI Semibold"/>
              </a:rPr>
              <a:t>Rosenberg </a:t>
            </a:r>
            <a:r>
              <a:rPr sz="1600" b="1" dirty="0">
                <a:solidFill>
                  <a:srgbClr val="FFFFFF"/>
                </a:solidFill>
                <a:latin typeface="Segoe UI Semibold"/>
              </a:rPr>
              <a:t>Self-Esteem</a:t>
            </a:r>
            <a:r>
              <a:rPr sz="1400" b="1" dirty="0">
                <a:solidFill>
                  <a:srgbClr val="FFFFFF"/>
                </a:solidFill>
                <a:latin typeface="Segoe UI Semibold"/>
              </a:rPr>
              <a:t> Scale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47488" y="20595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Autoconcepto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18888" y="2494172"/>
            <a:ext cx="2871216" cy="25603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Descriptivo y multidimensional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Descripción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del self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dominios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: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académico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, social,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físico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, corporal.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>
              <a:lnSpc>
                <a:spcPct val="116000"/>
              </a:lnSpc>
            </a:pPr>
            <a:r>
              <a:rPr lang="es-ES" sz="1600" dirty="0">
                <a:solidFill>
                  <a:srgbClr val="4C4954"/>
                </a:solidFill>
                <a:latin typeface="Segoe UI"/>
              </a:rPr>
              <a:t>¿Qué pienso de mí mismo?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818888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Self-Description Questionnaire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1600"/>
          </a:p>
        </p:txBody>
      </p:sp>
      <p:sp>
        <p:nvSpPr>
          <p:cNvPr id="17" name="Rectangle 1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77656" y="20528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>
                <a:solidFill>
                  <a:srgbClr val="2E2A3A"/>
                </a:solidFill>
                <a:latin typeface="Segoe UI Semibold"/>
              </a:rPr>
              <a:t>Bienestar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2416302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600" b="0" dirty="0" err="1">
                <a:solidFill>
                  <a:srgbClr val="4C4954"/>
                </a:solidFill>
                <a:latin typeface="Segoe UI"/>
              </a:rPr>
              <a:t>Hedónico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satisfacción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y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afecto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)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solidFill>
                  <a:srgbClr val="4C4954"/>
                </a:solidFill>
                <a:latin typeface="Segoe UI"/>
              </a:rPr>
              <a:t> 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dirty="0">
                <a:solidFill>
                  <a:srgbClr val="4C4954"/>
                </a:solidFill>
                <a:latin typeface="Segoe UI"/>
              </a:rPr>
              <a:t>E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udaimónico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funcionamiento</a:t>
            </a:r>
            <a:r>
              <a:rPr lang="es-ES" sz="160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00" b="0" dirty="0" err="1">
                <a:solidFill>
                  <a:srgbClr val="4C4954"/>
                </a:solidFill>
                <a:latin typeface="Segoe UI"/>
              </a:rPr>
              <a:t>óptimo</a:t>
            </a:r>
            <a:r>
              <a:rPr sz="1600" b="0" dirty="0">
                <a:solidFill>
                  <a:srgbClr val="4C4954"/>
                </a:solidFill>
                <a:latin typeface="Segoe UI"/>
              </a:rPr>
              <a:t>)</a:t>
            </a:r>
            <a:endParaRPr lang="es-ES" sz="1600" b="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Calidad de vida relacionada con la salud </a:t>
            </a:r>
          </a:p>
          <a:p>
            <a:pPr algn="l">
              <a:lnSpc>
                <a:spcPct val="116000"/>
              </a:lnSpc>
            </a:pPr>
            <a:endParaRPr lang="es-ES" sz="1600" dirty="0">
              <a:solidFill>
                <a:srgbClr val="4C4954"/>
              </a:solidFill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solidFill>
                  <a:srgbClr val="4C4954"/>
                </a:solidFill>
                <a:latin typeface="Segoe UI"/>
              </a:rPr>
              <a:t>Salud mental general</a:t>
            </a:r>
            <a:endParaRPr sz="1600" b="0" dirty="0">
              <a:solidFill>
                <a:srgbClr val="4C4954"/>
              </a:solidFill>
              <a:latin typeface="Segoe U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467344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HRQoL  +  salud mental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6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/>
      <p:bldP spid="19" grpId="0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EL BIENESTAR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>
                <a:solidFill>
                  <a:srgbClr val="2E2A3A"/>
                </a:solidFill>
                <a:latin typeface="Segoe UI Semibold"/>
              </a:rPr>
              <a:t>El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bienestar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tiene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cuatro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caras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42415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subjetivo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hedónico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42415" y="2560320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b="0" dirty="0" err="1">
                <a:latin typeface="Segoe UI"/>
              </a:rPr>
              <a:t>Satisfacción</a:t>
            </a:r>
            <a:r>
              <a:rPr b="0" dirty="0">
                <a:latin typeface="Segoe UI"/>
              </a:rPr>
              <a:t> con la </a:t>
            </a:r>
            <a:r>
              <a:rPr b="0" dirty="0" err="1">
                <a:latin typeface="Segoe UI"/>
              </a:rPr>
              <a:t>vida</a:t>
            </a:r>
            <a:r>
              <a:rPr b="0" dirty="0">
                <a:latin typeface="Segoe UI"/>
              </a:rPr>
              <a:t> +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positivo</a:t>
            </a:r>
            <a:r>
              <a:rPr b="0" dirty="0">
                <a:latin typeface="Segoe UI"/>
              </a:rPr>
              <a:t> −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negativo</a:t>
            </a:r>
            <a:r>
              <a:rPr b="0" dirty="0">
                <a:latin typeface="Segoe UI"/>
              </a:rPr>
              <a:t> (Diener).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29400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psicológico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eudaimónico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8529" y="2452769"/>
            <a:ext cx="4976078" cy="111339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Funcionamiento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óptimo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de la persona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en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seis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dimensiones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dirty="0">
                <a:latin typeface="Segoe UI" panose="020B0502040204020203" pitchFamily="34" charset="0"/>
                <a:cs typeface="Segoe UI" panose="020B0502040204020203" pitchFamily="34" charset="0"/>
              </a:rPr>
              <a:t>autonomía, dominio del entorno, crecimiento personal, relaciones positivas, propósito en la vida y autoaceptación 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(Ryff).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5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98448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Calidad de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vida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y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salud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HRQoL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42415" y="4937759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>
                <a:latin typeface="Segoe UI"/>
              </a:rPr>
              <a:t>Impacto de la </a:t>
            </a:r>
            <a:r>
              <a:rPr b="0" dirty="0" err="1">
                <a:latin typeface="Segoe UI"/>
              </a:rPr>
              <a:t>enfermedad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sobre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el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funcionamiento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físico</a:t>
            </a:r>
            <a:r>
              <a:rPr b="0" dirty="0">
                <a:latin typeface="Segoe UI"/>
              </a:rPr>
              <a:t>, mental y social (WHOQOL).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629400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85432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>
                <a:solidFill>
                  <a:srgbClr val="2E2A3A"/>
                </a:solidFill>
                <a:latin typeface="Segoe UI Semibold"/>
              </a:rPr>
              <a:t>Salud mental general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937759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lang="es-ES" dirty="0">
                <a:latin typeface="Segoe UI"/>
              </a:rPr>
              <a:t>Dos continuos independientes: ausencia de enfermedad ≠ salud mental. Flourishing (diagnóstico + alta salud mental) vs. languishing (sin recursos). Objetivo terapéutico: reducir síntomas Y construir autoconcepto.</a:t>
            </a:r>
            <a:r>
              <a:rPr b="0" dirty="0">
                <a:latin typeface="Segoe U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3" name="Oval 22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7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Evidencia abundante… pero fragmentada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92938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184708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Es una de las literaturas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más voluminosas</a:t>
            </a:r>
            <a:r>
              <a:rPr sz="1500" b="0">
                <a:solidFill>
                  <a:srgbClr val="4C4954"/>
                </a:solidFill>
                <a:latin typeface="Segoe UI"/>
              </a:rPr>
              <a:t> de toda la psicología.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25526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7" y="317296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síntesis más próxima,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Zell &amp; Johansson (2025)</a:t>
            </a:r>
            <a:r>
              <a:rPr sz="1500" b="0">
                <a:solidFill>
                  <a:srgbClr val="4C4954"/>
                </a:solidFill>
                <a:latin typeface="Segoe UI"/>
              </a:rPr>
              <a:t>, agrega 40 meta-análisis: r = ,31 global (,42 salud mental; ,15 salud física)… pero en población general.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58114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7" y="449884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Cada meta-análisis aborda una porción del problema: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visión fragmentada</a:t>
            </a:r>
            <a:r>
              <a:rPr sz="1500" b="0">
                <a:solidFill>
                  <a:srgbClr val="4C4954"/>
                </a:solidFill>
                <a:latin typeface="Segoe UI"/>
              </a:rPr>
              <a:t> y difícil de transferir a la clínica.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303520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37960" y="20574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6E57B0"/>
                </a:solidFill>
                <a:latin typeface="Segoe UI Semibold"/>
              </a:rPr>
              <a:t>El hueco que cubre este TFM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88920"/>
            <a:ext cx="4480559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①  Restrinjo a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población clínica y de la salud</a:t>
            </a:r>
            <a:r>
              <a:rPr sz="1500" b="0">
                <a:solidFill>
                  <a:srgbClr val="4C4954"/>
                </a:solidFill>
                <a:latin typeface="Segoe UI"/>
              </a:rPr>
              <a:t> (≥ 75 %).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sz="1500" b="0">
                <a:solidFill>
                  <a:srgbClr val="4C4954"/>
                </a:solidFill>
                <a:latin typeface="Segoe UI"/>
              </a:rPr>
              <a:t>②  Integro </a:t>
            </a:r>
            <a:r>
              <a:rPr sz="1500" b="1">
                <a:solidFill>
                  <a:srgbClr val="2E2A3A"/>
                </a:solidFill>
                <a:latin typeface="Segoe UI Semibold"/>
              </a:rPr>
              <a:t>autoestima y autoconcepto</a:t>
            </a:r>
            <a:r>
              <a:rPr sz="1500" b="0">
                <a:solidFill>
                  <a:srgbClr val="4C4954"/>
                </a:solidFill>
                <a:latin typeface="Segoe UI"/>
              </a:rPr>
              <a:t> —incluida la imagen corporal— como dos caras del mismo objeto.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sz="1350" b="0">
                <a:solidFill>
                  <a:srgbClr val="9C99A6"/>
                </a:solidFill>
                <a:latin typeface="Segoe UI"/>
              </a:rPr>
              <a:t>Las intervenciones se diseñan sobre constructos específicos, no sobre un único agregado global.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6" name="Oval 1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8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 propongo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691640"/>
            <a:ext cx="10725912" cy="1078992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49808" y="1691640"/>
            <a:ext cx="91440" cy="1078992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1883664"/>
            <a:ext cx="99943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Objetivo general.  </a:t>
            </a:r>
            <a:r>
              <a:rPr sz="1700" b="0">
                <a:solidFill>
                  <a:srgbClr val="4C4954"/>
                </a:solidFill>
                <a:latin typeface="Segoe UI"/>
              </a:rPr>
              <a:t>Sintetizar, mediante una revisión paraguas (PRISMA 2020 y PRIOR), la evidencia meta-analítica sobre autoestima y/o autoconcepto y bienestar en psicología clínica y de la salud (2016–2026).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306324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Identificar y describir los meta-análisis del periodo en poblaciones clínicas o de salud.</a:t>
            </a:r>
          </a:p>
        </p:txBody>
      </p:sp>
      <p:sp>
        <p:nvSpPr>
          <p:cNvPr id="11" name="Oval 10"/>
          <p:cNvSpPr/>
          <p:nvPr/>
        </p:nvSpPr>
        <p:spPr>
          <a:xfrm>
            <a:off x="6336792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306324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Sintetizar los tamaños del efecto: consistencias y discrepancias por constructo, outcome y población.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46177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Evaluar la calidad metodológica (AMSTAR-2) y el solapamiento entre revisiones (CCA).</a:t>
            </a:r>
          </a:p>
        </p:txBody>
      </p:sp>
      <p:sp>
        <p:nvSpPr>
          <p:cNvPr id="15" name="Oval 14"/>
          <p:cNvSpPr/>
          <p:nvPr/>
        </p:nvSpPr>
        <p:spPr>
          <a:xfrm>
            <a:off x="6336792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46177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Identificar lagunas en la evidencia y proponer líneas de investigación futura.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8" name="Oval 1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9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DISEÑO Y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Una revisión de revisiones (PECO)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167127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2084831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Diseño:</a:t>
            </a:r>
            <a:r>
              <a:rPr sz="1700" b="0">
                <a:solidFill>
                  <a:srgbClr val="4C4954"/>
                </a:solidFill>
                <a:latin typeface="Segoe UI"/>
              </a:rPr>
              <a:t> umbrella review. La unidad de análisis es el meta-análisis, no el estudio primario.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7" y="331927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Reporte:</a:t>
            </a:r>
            <a:r>
              <a:rPr sz="1700" b="0">
                <a:solidFill>
                  <a:srgbClr val="4C4954"/>
                </a:solidFill>
                <a:latin typeface="Segoe UI"/>
              </a:rPr>
              <a:t> PRISMA 2020 y PRIOR, guías específicas para revisiones de revisiones.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63600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7" y="455371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solidFill>
                  <a:srgbClr val="2E2A3A"/>
                </a:solidFill>
                <a:latin typeface="Segoe UI Semibold"/>
              </a:rPr>
              <a:t>Pregunta:</a:t>
            </a:r>
            <a:r>
              <a:rPr sz="1700" b="0">
                <a:solidFill>
                  <a:srgbClr val="4C4954"/>
                </a:solidFill>
                <a:latin typeface="Segoe UI"/>
              </a:rPr>
              <a:t> formulada en formato PECO 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783080"/>
            <a:ext cx="5577840" cy="425196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P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Población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14884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Contexto clínico o de salud: diagnóstico, enfermedad o riesgo. Umbral ≥ 75 %.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2895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E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Exposición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02895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Autoestima y/o autoconcepto, incluida la imagen corporal, con instrumentos validados.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90906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C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Comparador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90906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Flexible: implícito (correlacional) o grupo control (intervención).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78917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9079C8"/>
                </a:solidFill>
                <a:latin typeface="Segoe UI Semibold"/>
              </a:rPr>
              <a:t>O</a:t>
            </a:r>
          </a:p>
          <a:p>
            <a:pPr algn="l">
              <a:spcBef>
                <a:spcPts val="200"/>
              </a:spcBef>
            </a:pPr>
            <a:r>
              <a:rPr sz="1350" b="1">
                <a:solidFill>
                  <a:srgbClr val="9079C8"/>
                </a:solidFill>
                <a:latin typeface="Segoe UI Semibold"/>
              </a:rPr>
              <a:t>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89170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Bienestar subjetivo, psicológico, HRQoL o salud mental general.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10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BÚSQUEDA Y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Dónde y cómo busqué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12080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704" y="2148840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7568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/>
            </a:r>
            <a:r>
              <a:rPr sz="2400" b="1">
                <a:solidFill>
                  <a:srgbClr val="2E2A3A"/>
                </a:solidFill>
              </a:rPr>
              <a:t>4 bases primarias (n = 3.683)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624328"/>
            <a:ext cx="4590288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PubMed/MEDLINE · APA PsycInfo · Scopus · Web of Science.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3538728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98448" y="346557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/>
            </a:r>
            <a:r>
              <a:rPr sz="2400" b="1">
                <a:solidFill>
                  <a:srgbClr val="2E2A3A"/>
                </a:solidFill>
              </a:rPr>
              <a:t>5 fuentes de literatura gris (n = 825)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4014215"/>
            <a:ext cx="45902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PROSPERO · OSF · Google Scholar · TESEO · ProQuest Dissertations.</a:t>
            </a:r>
          </a:p>
          <a:p>
            <a:pPr algn="l">
              <a:spcBef>
                <a:spcPts val="500"/>
              </a:spcBef>
            </a:pPr>
            <a:r>
              <a:rPr sz="1350" b="0" i="1">
                <a:solidFill>
                  <a:srgbClr val="9C99A6"/>
                </a:solidFill>
                <a:latin typeface="Segoe UI"/>
              </a:rPr>
              <a:t>Reduce el sesgo de publicación.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6172200" y="198424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90195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>
                <a:solidFill>
                  <a:srgbClr val="2E2A3A"/>
                </a:solidFill>
                <a:latin typeface="Segoe UI Semibold"/>
              </a:rPr>
              <a:t>Estrategia:</a:t>
            </a:r>
            <a:r>
              <a:rPr sz="1650" b="0">
                <a:solidFill>
                  <a:srgbClr val="4C4954"/>
                </a:solidFill>
                <a:latin typeface="Segoe UI"/>
              </a:rPr>
              <a:t> 3 bloques unidos por AND (exposición × outcome × diseño) y vocabulario controlado (MeSH, APA Thesaurus).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>
                <a:solidFill>
                  <a:srgbClr val="2E2A3A"/>
                </a:solidFill>
                <a:latin typeface="Segoe UI Semibold"/>
              </a:rPr>
              <a:t>Gestión:</a:t>
            </a:r>
            <a:r>
              <a:rPr sz="1650" b="0">
                <a:solidFill>
                  <a:srgbClr val="4C4954"/>
                </a:solidFill>
                <a:latin typeface="Segoe UI"/>
              </a:rPr>
              <a:t> todos los registros en Rayyan, con motivo de exclusión documentado.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6588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12992" y="461772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 dirty="0" err="1">
                <a:solidFill>
                  <a:srgbClr val="2E2A3A"/>
                </a:solidFill>
                <a:latin typeface="Segoe UI Semibold"/>
              </a:rPr>
              <a:t>Transparencia</a:t>
            </a:r>
            <a:r>
              <a:rPr sz="1650" b="1" dirty="0">
                <a:solidFill>
                  <a:srgbClr val="2E2A3A"/>
                </a:solidFill>
                <a:latin typeface="Segoe UI Semibold"/>
              </a:rPr>
              <a:t>: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cribado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extracción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revisora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única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→ se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reconoce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como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limitación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principal.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11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EL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13 meta-análisis, mucha diversidad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meta-análisis incluidos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6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71416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~415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estudios primarios agregados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7 – 114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rango de k (mediana 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 spc="120">
                <a:solidFill>
                  <a:srgbClr val="9079C8"/>
                </a:solidFill>
                <a:latin typeface="Segoe UI Semibold"/>
              </a:rPr>
              <a:t>POBLACIONES CUBIERTAS  (2018–2026)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2277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Trastornos psiquiátricos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3950208"/>
            <a:ext cx="388620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07807" y="39227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Obesidad infantojuvenil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4334256"/>
            <a:ext cx="233172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53328" y="430682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69087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reproductiva / trans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718304"/>
            <a:ext cx="155448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76088" y="469087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0749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orofacial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1880" y="5102352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98848" y="50749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4589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Víctimas de violencia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548640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98848" y="545896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584301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Baja autoestima clínica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1880" y="5870448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98848" y="58430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12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Flujograma PRISMA 2020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650000"/>
            <a:ext cx="5000000" cy="9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000" y="1700000"/>
            <a:ext cx="49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Identificación
Bases primarias (n = 3.683)
PubMed/MEDLINE (737) · APA PsycInfo (834)
Scopus (1.108) · Web of Science (1.004)
Literatura gris (n = 825)
Total (n = 4.508)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00000" y="1650000"/>
            <a:ext cx="5000000" cy="9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0000" y="1700000"/>
            <a:ext cx="49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Registros eliminados
before screening:
Duplicados (n = 2.312)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50000" y="2570000"/>
            <a:ext cx="100000" cy="150000"/>
          </a:xfrm>
          <a:prstGeom prst="rightArrow">
            <a:avLst/>
          </a:prstGeom>
          <a:solidFill>
            <a:srgbClr val="2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80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000" y="285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Cribado
Registros cribados
por título/resumen
(n = 2.196)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0000" y="280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0000" y="285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Excluidos
(n = 2.122)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250000" y="3520000"/>
            <a:ext cx="100000" cy="150000"/>
          </a:xfrm>
          <a:prstGeom prst="rightArrow">
            <a:avLst/>
          </a:prstGeom>
          <a:solidFill>
            <a:srgbClr val="2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75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000" y="380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2A3A"/>
                </a:solidFill>
              </a:rPr>
              <a:t>Lectua texto completo
Informes evaluados
(n = 74)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0000" y="3750000"/>
            <a:ext cx="5000000" cy="700000"/>
          </a:xfrm>
          <a:prstGeom prst="rect">
            <a:avLst/>
          </a:prstGeom>
          <a:solidFill>
            <a:srgbClr val="DFD8EC"/>
          </a:solidFill>
          <a:ln w="1905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0000" y="3800000"/>
            <a:ext cx="4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E2A3A"/>
                </a:solidFill>
              </a:rPr>
              <a:t>Excluidos (n = 61):
(a) Variable principal ≠ autoestima/autoconcepto (n = 40)
(b) No meta-análisis (n = 1)
(c) No artículo original (n = 1)
(d) Población clínica &lt; 75% (n = 19)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50000" y="4470000"/>
            <a:ext cx="100000" cy="150000"/>
          </a:xfrm>
          <a:prstGeom prst="rightArrow">
            <a:avLst/>
          </a:prstGeom>
          <a:solidFill>
            <a:srgbClr val="2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700000"/>
            <a:ext cx="5000000" cy="500000"/>
          </a:xfrm>
          <a:prstGeom prst="rect">
            <a:avLst/>
          </a:prstGeom>
          <a:solidFill>
            <a:srgbClr val="9079C8"/>
          </a:solidFill>
          <a:ln w="254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000" y="475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Inclusión
Meta-análisis incluidos
(n = 13)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24" name="Oval 23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La calidad del corpus pide cautela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03911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Alta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05740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75304" y="203911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1   8 %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9747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Moderada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697479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9C99A6"/>
                </a:solidFill>
                <a:latin typeface="Segoe UI"/>
              </a:rPr>
              <a:t>0   (ninguno)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355847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Baja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3374135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3" y="3355847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14215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Críticamente baja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032503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C98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3" y="4014215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1874519"/>
            <a:ext cx="2926080" cy="3017520"/>
          </a:xfrm>
          <a:prstGeom prst="roundRect">
            <a:avLst>
              <a:gd name="adj" fmla="val 6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9640" y="224028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300" b="1">
                <a:solidFill>
                  <a:srgbClr val="FFFFFF"/>
                </a:solidFill>
                <a:latin typeface="Georgia"/>
              </a:rPr>
              <a:t>12 de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10896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con calidad Baja o Críticamente baja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3977639"/>
            <a:ext cx="2194560" cy="10972"/>
          </a:xfrm>
          <a:prstGeom prst="rect">
            <a:avLst/>
          </a:prstGeom>
          <a:solidFill>
            <a:srgbClr val="C9B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23960" y="41605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1">
                <a:solidFill>
                  <a:srgbClr val="EDE9F8"/>
                </a:solidFill>
                <a:latin typeface="Segoe UI Semibold"/>
              </a:rPr>
              <a:t>CCA = 1,4 %  ·  solapamiento leve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257800"/>
            <a:ext cx="7315200" cy="77724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5257800"/>
            <a:ext cx="82296" cy="77724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5" y="5413248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Las conclusiones requieren cautela: el patrón general se sostiene, pero las magnitudes pueden estar sobreestimadas.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6" name="Oval 2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13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SÍNTESIS POR BLOQUES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Cinco bloques temáticos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542032" y="1965960"/>
            <a:ext cx="1444752" cy="310896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Segoe UI Semibold"/>
              </a:rPr>
              <a:t>★ Hallazgo más robusto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84248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9079C8"/>
                </a:solidFill>
                <a:latin typeface="Segoe UI Semibold"/>
              </a:rPr>
              <a:t>BLOQUE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mental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Baja autoestima ↔ ideación y conducta suicida (Buecker, 2025). COMET y TCC-Fennell.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9079C8"/>
                </a:solidFill>
                <a:latin typeface="Segoe UI Semibold"/>
              </a:rPr>
              <a:t>r −,26 a −,44 · k 114 · AMSTAR-2 Alta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6E86A8"/>
                </a:solidFill>
                <a:latin typeface="Segoe UI Semibold"/>
              </a:rPr>
              <a:t>BLOQUE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somática / CdV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Intervención psicológica en SOP y tratamiento de la deformidad dentofacial.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E86A8"/>
                </a:solidFill>
                <a:latin typeface="Segoe UI Semibold"/>
              </a:rPr>
              <a:t>Mejoras en imagen, depresión y CdV (certeza baja).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3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9056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B49A6A"/>
                </a:solidFill>
                <a:latin typeface="Segoe UI Semibold"/>
              </a:rPr>
              <a:t>BLOQUE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Obesidad pediátrica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La actividad física estructurada mejora a la vez autoestima, imagen corporal y ánimo.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B49A6A"/>
                </a:solidFill>
                <a:latin typeface="Segoe UI Semibold"/>
              </a:rPr>
              <a:t>SMD ≈ 0,34 autoestima · 0,47 imagen.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C98998"/>
                </a:solidFill>
                <a:latin typeface="Segoe UI Semibold"/>
              </a:rPr>
              <a:t>BLOQUE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Imagen corporal en trastornos clínicos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Exposición corporal (TCA/TDC) y atención de afirmación de género (TGD).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C98998"/>
                </a:solidFill>
                <a:latin typeface="Segoe UI Semibold"/>
              </a:rPr>
              <a:t>g −,46 a −,99 en body dissatisfaction.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1416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7448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 dirty="0">
                <a:solidFill>
                  <a:srgbClr val="81C193"/>
                </a:solidFill>
                <a:latin typeface="Segoe UI Semibold"/>
              </a:rPr>
              <a:t>BLOQUE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como mecanismo mediador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4C4954"/>
                </a:solidFill>
                <a:latin typeface="Segoe UI"/>
              </a:rPr>
              <a:t>MASEM (k=82): media la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relación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estigma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internalizado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→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calidad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de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vida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8868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Efecto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</a:t>
            </a: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indirecto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β = −,189</a:t>
            </a:r>
            <a:r>
              <a:rPr lang="es-ES" sz="1100" b="1" dirty="0">
                <a:solidFill>
                  <a:srgbClr val="9079C8"/>
                </a:solidFill>
                <a:latin typeface="Segoe UI Semibold"/>
              </a:rPr>
              <a:t>.</a:t>
            </a:r>
            <a:endParaRPr sz="1100" b="1" dirty="0">
              <a:solidFill>
                <a:srgbClr val="9079C8"/>
              </a:solidFill>
              <a:latin typeface="Segoe UI Semibold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193024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67344" y="4617720"/>
            <a:ext cx="2871216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E2A3A"/>
                </a:solidFill>
                <a:latin typeface="Segoe UI Semibold"/>
              </a:rPr>
              <a:t>Transversal: </a:t>
            </a:r>
            <a:r>
              <a:rPr sz="1300" b="0">
                <a:solidFill>
                  <a:srgbClr val="4C4954"/>
                </a:solidFill>
                <a:latin typeface="Segoe UI"/>
              </a:rPr>
              <a:t>la dirección de los efectos es consistente entre bloques pese a poblaciones y métricas distintas.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14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MENSAJES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Conclusiones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4127" y="20939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autoestima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predice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salud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mental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clínica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moderado-fuerte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), con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su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máximo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suicidalidad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1112" y="20939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>
                <a:solidFill>
                  <a:srgbClr val="4C4954"/>
                </a:solidFill>
                <a:latin typeface="Segoe UI"/>
              </a:rPr>
              <a:t>Las intervenciones sobre la autoestima funcionan (g 0,20–0,50) y arrastran mejoras en la depresión comórbida.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24127" y="41513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Cuerpo, imagen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autoestima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van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juntos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; la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obesidad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pediátrica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es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el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ejemplo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más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maduro.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41513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solidFill>
                  <a:srgbClr val="4C4954"/>
                </a:solidFill>
                <a:latin typeface="Segoe UI"/>
              </a:rPr>
              <a:t>La imagen corporal es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modificable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con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intervenciones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específicas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poblaciones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clínicas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06440"/>
            <a:ext cx="10424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 i="1">
                <a:solidFill>
                  <a:srgbClr val="9C99A6"/>
                </a:solidFill>
                <a:latin typeface="Segoe UI"/>
              </a:rPr>
              <a:t>Coherente con Zell &amp; Johansson (2025) para salud mental (r ≈ ,42), pero con foco y matiz clínico.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15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  <p:sp>
        <p:nvSpPr>
          <p:cNvPr id="22" name="Rounded Rectangle 1">
            <a:extLst>
              <a:ext uri="{FF2B5EF4-FFF2-40B4-BE49-F238E27FC236}">
                <a16:creationId xmlns:a16="http://schemas.microsoft.com/office/drawing/2014/main" id="{3CD8A53B-BDA9-818A-45A5-E6950855AB3C}"/>
              </a:ext>
            </a:extLst>
          </p:cNvPr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Oval 34">
            <a:extLst>
              <a:ext uri="{FF2B5EF4-FFF2-40B4-BE49-F238E27FC236}">
                <a16:creationId xmlns:a16="http://schemas.microsoft.com/office/drawing/2014/main" id="{CFC21AAE-3A51-B48F-E51A-1FD98532C3B5}"/>
              </a:ext>
            </a:extLst>
          </p:cNvPr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IMPLICACIONES CLÍNICAS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Tres implicaciones para la práctica clínica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7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Diana de intervención valiosa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La autoestima se modifica con psicoterapia (COMET, TCC de Fennell, protocolos para TCA), con beneficio modesto pero consistente.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5736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45736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3480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Integrar cuerpo, imagen y autoestima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En salud física y condiciones que afectan al cuerpo, imagen y autoestima son dianas, no solo desenlaces secundarios.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7344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67344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05088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Cribado en prevención del suicidio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Medir la autoestima (RSES) e intervenir sobre ella refuerza los programas de prevención en poblaciones de riesgo.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16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LIMITACIONES · Y LÍNEAS FUTURAS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Lo que hay que tener en cuenta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De la evidencia</a:t>
            </a:r>
          </a:p>
        </p:txBody>
      </p:sp>
      <p:sp>
        <p:nvSpPr>
          <p:cNvPr id="9" name="Oval 8"/>
          <p:cNvSpPr/>
          <p:nvPr/>
        </p:nvSpPr>
        <p:spPr>
          <a:xfrm>
            <a:off x="1042415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80160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12 de 13 con AMSTAR-2 baja o crítica</a:t>
            </a:r>
          </a:p>
        </p:txBody>
      </p:sp>
      <p:sp>
        <p:nvSpPr>
          <p:cNvPr id="11" name="Oval 10"/>
          <p:cNvSpPr/>
          <p:nvPr/>
        </p:nvSpPr>
        <p:spPr>
          <a:xfrm>
            <a:off x="1042415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Heterogeneidad de instrumentos y métricas</a:t>
            </a:r>
          </a:p>
        </p:txBody>
      </p:sp>
      <p:sp>
        <p:nvSpPr>
          <p:cNvPr id="13" name="Oval 12"/>
          <p:cNvSpPr/>
          <p:nvPr/>
        </p:nvSpPr>
        <p:spPr>
          <a:xfrm>
            <a:off x="1042415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Cobertura desigual: a veces 1 revisión por bloque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1768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Del proceso</a:t>
            </a:r>
          </a:p>
        </p:txBody>
      </p:sp>
      <p:sp>
        <p:nvSpPr>
          <p:cNvPr id="18" name="Oval 17"/>
          <p:cNvSpPr/>
          <p:nvPr/>
        </p:nvSpPr>
        <p:spPr>
          <a:xfrm>
            <a:off x="4764024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1768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Revisora única en todo el proceso</a:t>
            </a:r>
          </a:p>
        </p:txBody>
      </p:sp>
      <p:sp>
        <p:nvSpPr>
          <p:cNvPr id="20" name="Oval 19"/>
          <p:cNvSpPr/>
          <p:nvPr/>
        </p:nvSpPr>
        <p:spPr>
          <a:xfrm>
            <a:off x="4764024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01768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Idiomas inglés / español</a:t>
            </a:r>
          </a:p>
        </p:txBody>
      </p:sp>
      <p:sp>
        <p:nvSpPr>
          <p:cNvPr id="22" name="Oval 21"/>
          <p:cNvSpPr/>
          <p:nvPr/>
        </p:nvSpPr>
        <p:spPr>
          <a:xfrm>
            <a:off x="4764024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1768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Ventana temporal 2016–2026</a:t>
            </a:r>
          </a:p>
        </p:txBody>
      </p:sp>
      <p:sp>
        <p:nvSpPr>
          <p:cNvPr id="24" name="Oval 23"/>
          <p:cNvSpPr/>
          <p:nvPr/>
        </p:nvSpPr>
        <p:spPr>
          <a:xfrm>
            <a:off x="4764024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01768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Sin gradación formal GRADE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23376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Líneas futuras</a:t>
            </a:r>
          </a:p>
        </p:txBody>
      </p:sp>
      <p:sp>
        <p:nvSpPr>
          <p:cNvPr id="29" name="Oval 28"/>
          <p:cNvSpPr/>
          <p:nvPr/>
        </p:nvSpPr>
        <p:spPr>
          <a:xfrm>
            <a:off x="8485632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23376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Meta-análisis prerregistrados y mejor reportados</a:t>
            </a:r>
          </a:p>
        </p:txBody>
      </p:sp>
      <p:sp>
        <p:nvSpPr>
          <p:cNvPr id="31" name="Oval 30"/>
          <p:cNvSpPr/>
          <p:nvPr/>
        </p:nvSpPr>
        <p:spPr>
          <a:xfrm>
            <a:off x="8485632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23376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Estudios longitudinales (causalidad)</a:t>
            </a:r>
          </a:p>
        </p:txBody>
      </p:sp>
      <p:sp>
        <p:nvSpPr>
          <p:cNvPr id="33" name="Oval 32"/>
          <p:cNvSpPr/>
          <p:nvPr/>
        </p:nvSpPr>
        <p:spPr>
          <a:xfrm>
            <a:off x="8485632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23376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Autoconcepto multidimensional</a:t>
            </a:r>
          </a:p>
        </p:txBody>
      </p:sp>
      <p:sp>
        <p:nvSpPr>
          <p:cNvPr id="35" name="Oval 34"/>
          <p:cNvSpPr/>
          <p:nvPr/>
        </p:nvSpPr>
        <p:spPr>
          <a:xfrm>
            <a:off x="8485632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23376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4C4954"/>
                </a:solidFill>
                <a:latin typeface="Segoe UI"/>
              </a:rPr>
              <a:t>Personas mayores y contextos no occidentales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8" name="Oval 3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17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En una frase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645920"/>
            <a:ext cx="1069848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E2A3A"/>
                </a:solidFill>
                <a:latin typeface="Segoe UI"/>
              </a:rPr>
              <a:t>Con la cautela que impone la calidad del corpus, la evidencia apoya que la </a:t>
            </a:r>
            <a:r>
              <a:rPr sz="2000" b="1">
                <a:solidFill>
                  <a:srgbClr val="6E57B0"/>
                </a:solidFill>
                <a:latin typeface="Segoe UI Semibold"/>
              </a:rPr>
              <a:t>autoestima y el autoconcepto no son desenlaces secundarios, sino objetivos de intervención valiosos</a:t>
            </a:r>
            <a:r>
              <a:rPr sz="2000" b="0">
                <a:solidFill>
                  <a:srgbClr val="2E2A3A"/>
                </a:solidFill>
                <a:latin typeface="Segoe UI"/>
              </a:rPr>
              <a:t> en psicología clínica y de la salud.</a:t>
            </a:r>
          </a:p>
        </p:txBody>
      </p:sp>
      <p:sp>
        <p:nvSpPr>
          <p:cNvPr id="7" name="Oval 6"/>
          <p:cNvSpPr/>
          <p:nvPr/>
        </p:nvSpPr>
        <p:spPr>
          <a:xfrm>
            <a:off x="768096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2415" y="376732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Baja autoestima ↔ suicidalidad: el hallazgo más robusto.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4608576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Las intervenciones sobre la autoestima son eficaces.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5" y="5449824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actividad física mejora autoestima e imagen en obesidad infantojuvenil.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7673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imagen corporal es modificable en poblaciones clínicas.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608576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autoestima media la relación estigma → calidad de vida.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5449824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E2A3A"/>
                </a:solidFill>
                <a:latin typeface="Segoe UI Semibold"/>
              </a:rPr>
              <a:t>Justifica integrar estos constructos en los protocolos de tratamiento.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18 / 19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796528" y="3307080"/>
            <a:ext cx="4206240" cy="4206240"/>
          </a:xfrm>
          <a:prstGeom prst="ellipse">
            <a:avLst/>
          </a:prstGeom>
          <a:solidFill>
            <a:srgbClr val="9079C8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59536" y="2331720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4100" b="0">
                <a:solidFill>
                  <a:srgbClr val="2E2A3A"/>
                </a:solidFill>
                <a:latin typeface="Georgia"/>
              </a:rPr>
              <a:t>Gracias por su atención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03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4C4954"/>
                </a:solidFill>
                <a:latin typeface="Segoe UI"/>
              </a:rPr>
              <a:t>Quedo a su disposición para sus preguntas.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89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9C99A6"/>
                </a:solidFill>
                <a:latin typeface="Segoe UI"/>
              </a:rPr>
              <a:t>Denisa Antoneac   ·   Tutora: Raquel Rodríguez Carvajal   ·   Universidad Autónoma de Madrid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Criterios de inclusión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650000"/>
            <a:ext cx="10400000" cy="800000"/>
          </a:xfrm>
          <a:prstGeom prst="rect">
            <a:avLst/>
          </a:prstGeom>
          <a:solidFill>
            <a:srgbClr val="DFD8EC"/>
          </a:solidFill>
          <a:ln w="127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000" y="1680000"/>
            <a:ext cx="15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9079C8"/>
                </a:solidFill>
              </a:rPr>
              <a:t>(a)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1700000"/>
            <a:ext cx="101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Meta-análisis cuantitativo en revista científica con peer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550000"/>
            <a:ext cx="10400000" cy="800000"/>
          </a:xfrm>
          <a:prstGeom prst="rect">
            <a:avLst/>
          </a:prstGeom>
          <a:solidFill>
            <a:srgbClr val="DFD8EC"/>
          </a:solidFill>
          <a:ln w="127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000" y="2580000"/>
            <a:ext cx="15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9079C8"/>
                </a:solidFill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0000" y="2600000"/>
            <a:ext cx="101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Autoestima o autoconcepto como variable principal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3450000"/>
            <a:ext cx="10400000" cy="800000"/>
          </a:xfrm>
          <a:prstGeom prst="rect">
            <a:avLst/>
          </a:prstGeom>
          <a:solidFill>
            <a:srgbClr val="DFD8EC"/>
          </a:solidFill>
          <a:ln w="127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000" y="3480000"/>
            <a:ext cx="15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9079C8"/>
                </a:solidFill>
              </a:rPr>
              <a:t>(c)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3500000"/>
            <a:ext cx="101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Indicador de bienestar adicional (subjetivo, psicológico, HRQoL o salud mental)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4350000"/>
            <a:ext cx="10400000" cy="800000"/>
          </a:xfrm>
          <a:prstGeom prst="rect">
            <a:avLst/>
          </a:prstGeom>
          <a:solidFill>
            <a:srgbClr val="DFD8EC"/>
          </a:solidFill>
          <a:ln w="127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000" y="4380000"/>
            <a:ext cx="15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9079C8"/>
                </a:solidFill>
              </a:rPr>
              <a:t>(d)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0" y="4400000"/>
            <a:ext cx="101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Población clínica/salud ≥75% (o análisis estratificados)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00" y="5250000"/>
            <a:ext cx="10400000" cy="800000"/>
          </a:xfrm>
          <a:prstGeom prst="rect">
            <a:avLst/>
          </a:prstGeom>
          <a:solidFill>
            <a:srgbClr val="DFD8EC"/>
          </a:solidFill>
          <a:ln w="127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000" y="5280000"/>
            <a:ext cx="15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9079C8"/>
                </a:solidFill>
              </a:rPr>
              <a:t>(e)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0000" y="5300000"/>
            <a:ext cx="101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Publicado en inglés o español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6150000"/>
            <a:ext cx="10400000" cy="800000"/>
          </a:xfrm>
          <a:prstGeom prst="rect">
            <a:avLst/>
          </a:prstGeom>
          <a:solidFill>
            <a:srgbClr val="DFD8EC"/>
          </a:solidFill>
          <a:ln w="12700">
            <a:solidFill>
              <a:srgbClr val="2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000" y="6180000"/>
            <a:ext cx="15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9079C8"/>
                </a:solidFill>
              </a:rPr>
              <a:t>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0000" y="6200000"/>
            <a:ext cx="101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2A3A"/>
                </a:solidFill>
              </a:rPr>
              <a:t>Publicado entre 1 enero 2016 y 25 mayo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25" name="Oval 2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11</a:t>
            </a:r>
            <a:r>
              <a:rPr sz="1000" b="0">
                <a:solidFill>
                  <a:srgbClr val="9C99A6"/>
                </a:solidFill>
              </a:rPr>
              <a:t>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</TotalTime>
  <Words>1628</Words>
  <Application>Microsoft Office PowerPoint</Application>
  <PresentationFormat>Panorámica</PresentationFormat>
  <Paragraphs>245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Georgia</vt:lpstr>
      <vt:lpstr>Segoe UI</vt:lpstr>
      <vt:lpstr>Segoe UI Semibold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ANTONEAC Denisa</dc:creator>
  <cp:lastModifiedBy>Denisa Antoneac</cp:lastModifiedBy>
  <cp:revision>3</cp:revision>
  <dcterms:created xsi:type="dcterms:W3CDTF">2026-06-15T14:36:44Z</dcterms:created>
  <dcterms:modified xsi:type="dcterms:W3CDTF">2026-06-21T10:21:30Z</dcterms:modified>
</cp:coreProperties>
</file>