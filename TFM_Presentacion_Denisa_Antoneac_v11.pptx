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90" r:id="rId23"/>
    <p:sldId id="291" r:id="rId24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11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qué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demás.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interacción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estándar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jerárquico.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Efectos causales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más modestos de lo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esperado: urge rigor.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Dos continuos independientes: ausencia de enfermedad ≠ salud mental. Flourishing (diagnóstico + alta salud mental) vs. languishing (sin recursos). Objetivo terapéutico: reducir síntomas Y construir autoconcepto.</a:t>
            </a:r>
            <a:r>
              <a:rPr b="0" dirty="0"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4 bases primarias (n = 3.683)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5 fuentes de literatura gris (n = 825)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11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12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Flujograma PRISMA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Identificación
Bases primarias (n = 3.683)
PubMed/MEDLINE (737) · APA PsycInfo (834)
Scopus (1.108) · Web of Science (1.004)
Literatura gris (n = 825)
Total (n = 4.508)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Registros eliminados
before screening:
Duplicados (n = 2.312)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0000" y="25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Cribado
Registros cribados
por título/resumen
(n = 2.196)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Excluidos
(n = 2.122)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50000" y="352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Lectua texto completo
Informes evaluados
(n = 74)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2A3A"/>
                </a:solidFill>
              </a:rPr>
              <a:t>Excluidos (n = 61):
(a) Variable principal ≠ autoestima/autoconcepto (n = 40)
(b) No meta-análisis (n = 1)
(c) No artículo original (n = 1)
(d) Población clínica &lt; 75% (n = 19)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50000" y="44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700000"/>
            <a:ext cx="5000000" cy="500000"/>
          </a:xfrm>
          <a:prstGeom prst="rect">
            <a:avLst/>
          </a:prstGeom>
          <a:solidFill>
            <a:srgbClr val="9079C8"/>
          </a:solidFill>
          <a:ln w="2540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000" y="47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Inclusión
Meta-análisis incluidos
(n = 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17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18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Criterios de inclusión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650000"/>
            <a:ext cx="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79C8"/>
                </a:solidFill>
              </a:rPr>
              <a:t>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" y="1650000"/>
            <a:ext cx="10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4954"/>
                </a:solidFill>
              </a:rPr>
              <a:t>Ser un meta-análisis cuantitativo publicado en revista científica con revisión por pares.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400000"/>
            <a:ext cx="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79C8"/>
                </a:solidFill>
              </a:rPr>
              <a:t>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" y="2400000"/>
            <a:ext cx="10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4954"/>
                </a:solidFill>
              </a:rPr>
              <a:t>Examinar la autoestima o el autoconcepto como variable principal del análisis.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3150000"/>
            <a:ext cx="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79C8"/>
                </a:solidFill>
              </a:rPr>
              <a:t>(c)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3150000"/>
            <a:ext cx="10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4954"/>
                </a:solidFill>
              </a:rPr>
              <a:t>Reportar, además, al menos un indicador adicional y separado de bienestar subjetivo, bienestar psicológico, calidad de vida relacionada con la salud o salud mental general.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900000"/>
            <a:ext cx="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79C8"/>
                </a:solidFill>
              </a:rPr>
              <a:t>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0" y="3900000"/>
            <a:ext cx="10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4954"/>
                </a:solidFill>
              </a:rPr>
              <a:t>Referirse a población de psicología clínica o de la salud, con el umbral del 75 % o con análisis estratificados que permitieran aislar el subconjunto relevante.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4650000"/>
            <a:ext cx="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79C8"/>
                </a:solidFill>
              </a:rPr>
              <a:t>(e)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0" y="4650000"/>
            <a:ext cx="10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4954"/>
                </a:solidFill>
              </a:rPr>
              <a:t>Estar publicado en inglés o español.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5400000"/>
            <a:ext cx="2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079C8"/>
                </a:solidFill>
              </a:rPr>
              <a:t>(f)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0" y="5400000"/>
            <a:ext cx="10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4954"/>
                </a:solidFill>
              </a:rPr>
              <a:t>Haber sido publicado entre el 1 de enero de 2016 y el 25 de mayo de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19" name="Oval 18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11</a:t>
            </a:r>
            <a:r>
              <a:rPr sz="1000" b="0">
                <a:solidFill>
                  <a:srgbClr val="9C99A6"/>
                </a:solidFill>
              </a:rPr>
              <a:t>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