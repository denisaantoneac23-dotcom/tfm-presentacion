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89" r:id="rId2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BF8"/>
    <a:srgbClr val="9079C8"/>
    <a:srgbClr val="81C193"/>
    <a:srgbClr val="C7E3CF"/>
    <a:srgbClr val="A0D0AE"/>
    <a:srgbClr val="E4EFF4"/>
    <a:srgbClr val="CADFE8"/>
    <a:srgbClr val="BCD7E2"/>
    <a:srgbClr val="B6D4E0"/>
    <a:srgbClr val="D8EC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67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3D5FDF-A3D5-5F34-253B-734012A66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A55F8A-3D4B-80E0-7718-4ECFCDE0B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8C577A-864F-AC43-BDD1-52AFEBC62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4DC1B6-95CC-60D3-A142-4FDBFAF1D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F50E08-3C46-1724-5F22-C3DE7B0BF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3140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B8D51F-8745-5989-BADE-3E4FBB306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44A640-DD3D-090A-2EB0-364CB4014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BA0E76-586F-8FB7-C9AA-F989F2B11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D0ACF6-C4CC-6460-3D90-8233E5061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B038B6-5708-C572-A5A9-B6AC1A82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2285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982ED-4B4C-A476-B91E-C82581E9B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BA329D-A43B-AD8A-36C2-BD7684D30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E59425-A3C8-7BCC-D501-2AD50DB36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65390F-1438-8197-775E-76AB58D7C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FCA2E1-5004-5636-21D7-79ED35C4C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5937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DD77A1-36B7-A121-D13A-E627111DE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6B2431-6B63-2BE0-9B63-C26356992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D68665-D3F7-9AF2-8095-12F99EAC1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CCA533C-0511-2B14-8547-FAA9DBCEC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0C1B29-F60A-C2BE-7B4F-A9A6FC3AD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7D3B77-1CA6-2A64-6E96-1E2BD9A0F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9408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B5E797-7FA1-BDC0-AE68-8BFFF4E14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7B5079D-4E3A-2A62-A403-619D1122F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8FF5908-0730-5A83-32BE-A014DAE82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716D5A5-A890-7712-F985-52338E5163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6373603-84EE-A022-ABBD-71827EEDCC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487520F-33C1-D95B-F6D4-016E83CF5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6294278-2708-A57A-ADCF-C56F2F07E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71B8572-FAC5-ED55-FA47-0192185CF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866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531848-2829-9F9C-4676-B91EF2B69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07F3EA-F2EB-5A72-DC49-BBA9CA94B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5C662C-B7D1-1154-D4DD-03F9B7308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6AA1152-E2A2-D0A1-8D77-10D881607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5801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F496F8E-B21D-6734-BC2B-2BD6A1EFF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340D74F-1B16-887D-AC8A-B5B0222CE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62B128-6B4E-0175-7E28-F5AB437E3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5947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554523-99D4-E3A9-DB10-029E7722F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31BB3B-5EA6-32F5-ACF5-9A9645647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608B475-D975-07CD-A756-AF03957E5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315CBD-ECB6-7D1C-6C0F-88C58504E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AC05C1-E72E-E384-7404-9D1F6207C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A553829-3C0B-DBBC-FB00-636758EE3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3949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D00C01-A378-5453-6040-5C13741E9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BCF92E1-5FCE-E1BE-D1E3-EA229B9767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6F23B9A-EA5D-96D2-9A26-FE2A3A2BE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F945A4-DBC0-ACB4-0D5E-BE52EDA31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6B0453F-A267-8E74-5F68-47A626BF1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C35F6AC-C32E-1B10-F0BD-A2996788A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966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9769E0-FCBE-DC4B-92C3-6E950D6BD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F36BAC5-50BC-75DA-311C-EB1C3364C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EDF2E8-79CB-4C9D-D79F-86112591E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B2389E-1137-DD3F-3610-AC819FBA8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0B71AB-3E09-67F9-1E91-22F7A53A9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6915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83CB471-ABEE-6608-7FCE-AD9286ED23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B1ADE6B-D5E8-033F-1B04-1836749A55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E578A2-BA9E-01DE-0EA2-AB99A17FA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7015-7F4A-4C41-B618-B3138CAFA7D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EE6C3A-825A-7E10-6C40-2554902C1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F803E2-6D62-1B8D-44C8-ADC477F63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29204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93C3D77-555A-403D-A2D8-308E85228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029EA2-CF81-A317-245B-51281819C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4CB46B-B5AF-0FB0-F172-F5DB1D238B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247015-7F4A-4C41-B618-B3138CAFA7DE}" type="datetimeFigureOut">
              <a:rPr lang="es-ES" smtClean="0"/>
              <a:t>21/06/2026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DA2A7-6390-3AC1-D929-A2EBD06D5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523703-E6CA-FBAF-9956-C073E18AE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A59A3A-70C6-4255-A508-C52BA91157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5733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41248" y="105156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spc="160" dirty="0">
                <a:solidFill>
                  <a:srgbClr val="9C99A6"/>
                </a:solidFill>
                <a:latin typeface="Segoe UI Semibold"/>
              </a:rPr>
              <a:t>UNIVERSIDAD AUTÓNOMA DE MADRID   ·   FACULTAD DE PSICOLOGÍA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6590" y="1522432"/>
            <a:ext cx="8110219" cy="317468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4000"/>
              </a:lnSpc>
            </a:pPr>
            <a:r>
              <a:rPr sz="4000" b="0" dirty="0" err="1">
                <a:solidFill>
                  <a:srgbClr val="2E2A3A"/>
                </a:solidFill>
                <a:latin typeface="Georgia"/>
              </a:rPr>
              <a:t>Cómo</a:t>
            </a:r>
            <a:r>
              <a:rPr sz="40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sz="4000" b="0" dirty="0" err="1">
                <a:solidFill>
                  <a:srgbClr val="2E2A3A"/>
                </a:solidFill>
                <a:latin typeface="Georgia"/>
              </a:rPr>
              <a:t>afectan</a:t>
            </a:r>
            <a:r>
              <a:rPr sz="4000" b="0" dirty="0">
                <a:solidFill>
                  <a:srgbClr val="2E2A3A"/>
                </a:solidFill>
                <a:latin typeface="Georgia"/>
              </a:rPr>
              <a:t> la </a:t>
            </a:r>
            <a:r>
              <a:rPr sz="4000" b="0" dirty="0" err="1">
                <a:solidFill>
                  <a:srgbClr val="2E2A3A"/>
                </a:solidFill>
                <a:latin typeface="Georgia"/>
              </a:rPr>
              <a:t>autoestima</a:t>
            </a:r>
            <a:r>
              <a:rPr sz="40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lang="es-ES" sz="40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lang="es-ES" sz="4000" dirty="0">
                <a:solidFill>
                  <a:srgbClr val="2E2A3A"/>
                </a:solidFill>
                <a:latin typeface="Georgia"/>
              </a:rPr>
              <a:t>y </a:t>
            </a:r>
            <a:r>
              <a:rPr sz="4000" b="0" dirty="0" err="1">
                <a:solidFill>
                  <a:srgbClr val="2E2A3A"/>
                </a:solidFill>
                <a:latin typeface="Georgia"/>
              </a:rPr>
              <a:t>el</a:t>
            </a:r>
            <a:r>
              <a:rPr sz="4000" b="0" dirty="0">
                <a:solidFill>
                  <a:srgbClr val="2E2A3A"/>
                </a:solidFill>
                <a:latin typeface="Georgia"/>
              </a:rPr>
              <a:t> </a:t>
            </a:r>
            <a:r>
              <a:rPr sz="4000" b="0" dirty="0" err="1">
                <a:solidFill>
                  <a:srgbClr val="2E2A3A"/>
                </a:solidFill>
                <a:latin typeface="Georgia"/>
              </a:rPr>
              <a:t>autoconcepto</a:t>
            </a:r>
            <a:r>
              <a:rPr sz="4000" b="0" dirty="0">
                <a:solidFill>
                  <a:srgbClr val="2E2A3A"/>
                </a:solidFill>
                <a:latin typeface="Georgia"/>
              </a:rPr>
              <a:t> al </a:t>
            </a:r>
            <a:r>
              <a:rPr sz="4000" b="0" dirty="0" err="1">
                <a:solidFill>
                  <a:srgbClr val="2E2A3A"/>
                </a:solidFill>
                <a:latin typeface="Georgia"/>
              </a:rPr>
              <a:t>bienestar</a:t>
            </a:r>
            <a:r>
              <a:rPr lang="es-ES" sz="4000" b="0" dirty="0">
                <a:solidFill>
                  <a:srgbClr val="2E2A3A"/>
                </a:solidFill>
                <a:latin typeface="Georgia"/>
              </a:rPr>
              <a:t>: Una revisión paraguas en psicología clínica y de la salud (2016-2026)</a:t>
            </a:r>
            <a:endParaRPr sz="4000" b="0" dirty="0">
              <a:solidFill>
                <a:srgbClr val="2E2A3A"/>
              </a:solidFill>
              <a:latin typeface="Georgia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6862" y="4484438"/>
            <a:ext cx="1188720" cy="77724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4759549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spc="140" dirty="0">
                <a:solidFill>
                  <a:srgbClr val="9C99A6"/>
                </a:solidFill>
                <a:latin typeface="Segoe UI Semibold"/>
              </a:rPr>
              <a:t>AUTORA</a:t>
            </a:r>
            <a:endParaRPr sz="1200" b="1" spc="140" dirty="0">
              <a:solidFill>
                <a:srgbClr val="9C99A6"/>
              </a:solidFill>
              <a:latin typeface="Segoe UI Semibold"/>
            </a:endParaRPr>
          </a:p>
          <a:p>
            <a:pPr algn="l">
              <a:spcBef>
                <a:spcPts val="200"/>
              </a:spcBef>
            </a:pPr>
            <a:r>
              <a:rPr b="0" dirty="0">
                <a:solidFill>
                  <a:srgbClr val="2E2A3A"/>
                </a:solidFill>
                <a:latin typeface="Segoe UI"/>
              </a:rPr>
              <a:t>Denisa Antoneac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51200" y="4761527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spc="140" dirty="0">
                <a:solidFill>
                  <a:srgbClr val="9C99A6"/>
                </a:solidFill>
                <a:latin typeface="Segoe UI Semibold"/>
              </a:rPr>
              <a:t>TUTORA ACADÉMICA</a:t>
            </a:r>
          </a:p>
          <a:p>
            <a:pPr algn="l">
              <a:spcBef>
                <a:spcPts val="200"/>
              </a:spcBef>
            </a:pPr>
            <a:r>
              <a:rPr b="0" dirty="0">
                <a:solidFill>
                  <a:srgbClr val="2E2A3A"/>
                </a:solidFill>
                <a:latin typeface="Segoe UI"/>
              </a:rPr>
              <a:t>Raquel Rodríguez Carvajal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9140" y="5461000"/>
            <a:ext cx="324612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07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dirty="0" err="1">
                <a:solidFill>
                  <a:srgbClr val="6E57B0"/>
                </a:solidFill>
                <a:latin typeface="Segoe UI Semibold"/>
              </a:rPr>
              <a:t>Revisión</a:t>
            </a:r>
            <a:r>
              <a:rPr sz="1400" b="1" dirty="0">
                <a:solidFill>
                  <a:srgbClr val="6E57B0"/>
                </a:solidFill>
                <a:latin typeface="Segoe UI Semibold"/>
              </a:rPr>
              <a:t> </a:t>
            </a:r>
            <a:r>
              <a:rPr sz="1400" b="1" dirty="0" err="1">
                <a:solidFill>
                  <a:srgbClr val="6E57B0"/>
                </a:solidFill>
                <a:latin typeface="Segoe UI Semibold"/>
              </a:rPr>
              <a:t>sistemática</a:t>
            </a:r>
            <a:r>
              <a:rPr sz="1400" b="1" dirty="0">
                <a:solidFill>
                  <a:srgbClr val="6E57B0"/>
                </a:solidFill>
                <a:latin typeface="Segoe UI Semibold"/>
              </a:rPr>
              <a:t> · Umbrella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140" y="6198675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dirty="0" err="1">
                <a:solidFill>
                  <a:srgbClr val="9C99A6"/>
                </a:solidFill>
                <a:latin typeface="Segoe UI"/>
              </a:rPr>
              <a:t>Máster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Universitario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en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Psicología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General Sanitaria ·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Convocatoria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de </a:t>
            </a:r>
            <a:r>
              <a:rPr sz="1400" b="0" dirty="0" err="1">
                <a:solidFill>
                  <a:srgbClr val="9C99A6"/>
                </a:solidFill>
                <a:latin typeface="Segoe UI"/>
              </a:rPr>
              <a:t>junio</a:t>
            </a:r>
            <a:r>
              <a:rPr sz="1400" b="0" dirty="0">
                <a:solidFill>
                  <a:srgbClr val="9C99A6"/>
                </a:solidFill>
                <a:latin typeface="Segoe UI"/>
              </a:rPr>
              <a:t> de 2026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1D57788-F4BD-73FB-9C96-D2A669879588}"/>
              </a:ext>
            </a:extLst>
          </p:cNvPr>
          <p:cNvSpPr/>
          <p:nvPr/>
        </p:nvSpPr>
        <p:spPr>
          <a:xfrm>
            <a:off x="8069931" y="2729683"/>
            <a:ext cx="2494044" cy="2304186"/>
          </a:xfrm>
          <a:prstGeom prst="ellipse">
            <a:avLst/>
          </a:prstGeom>
          <a:solidFill>
            <a:srgbClr val="B07EBD">
              <a:alpha val="18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EB831CC8-6A79-6883-B834-0ACB2D7A9156}"/>
              </a:ext>
            </a:extLst>
          </p:cNvPr>
          <p:cNvSpPr/>
          <p:nvPr/>
        </p:nvSpPr>
        <p:spPr>
          <a:xfrm>
            <a:off x="9620366" y="3011368"/>
            <a:ext cx="2494044" cy="2277839"/>
          </a:xfrm>
          <a:prstGeom prst="ellipse">
            <a:avLst/>
          </a:prstGeom>
          <a:solidFill>
            <a:srgbClr val="D17A98">
              <a:alpha val="1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8216AD5-0047-938A-A66C-CD7DDAEA5CEB}"/>
              </a:ext>
            </a:extLst>
          </p:cNvPr>
          <p:cNvSpPr/>
          <p:nvPr/>
        </p:nvSpPr>
        <p:spPr>
          <a:xfrm>
            <a:off x="8766809" y="1174496"/>
            <a:ext cx="2986495" cy="3002062"/>
          </a:xfrm>
          <a:prstGeom prst="ellipse">
            <a:avLst/>
          </a:prstGeom>
          <a:solidFill>
            <a:srgbClr val="9F8FD0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6000" y="528066"/>
            <a:ext cx="374902" cy="176022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000" b="1" spc="140" dirty="0">
                <a:solidFill>
                  <a:srgbClr val="9079C8"/>
                </a:solidFill>
                <a:latin typeface="Segoe UI Semibold"/>
              </a:rPr>
              <a:t>MARCO TEÓRICO · </a:t>
            </a:r>
            <a:r>
              <a:rPr lang="es-ES" sz="2000" b="1" spc="140" dirty="0">
                <a:solidFill>
                  <a:srgbClr val="9079C8"/>
                </a:solidFill>
                <a:latin typeface="Segoe UI Semibold"/>
              </a:rPr>
              <a:t>SELF</a:t>
            </a:r>
            <a:endParaRPr sz="2000" b="1" spc="140" dirty="0">
              <a:solidFill>
                <a:srgbClr val="9079C8"/>
              </a:solidFill>
              <a:latin typeface="Segoe UI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Un siglo de estudio del 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596000" y="3410712"/>
            <a:ext cx="9000000" cy="27432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000"/>
          </a:p>
        </p:txBody>
      </p:sp>
      <p:sp>
        <p:nvSpPr>
          <p:cNvPr id="23" name="Rounded Rectangle 22"/>
          <p:cNvSpPr/>
          <p:nvPr/>
        </p:nvSpPr>
        <p:spPr>
          <a:xfrm>
            <a:off x="896888" y="5212080"/>
            <a:ext cx="10725912" cy="1161288"/>
          </a:xfrm>
          <a:prstGeom prst="roundRect">
            <a:avLst>
              <a:gd name="adj" fmla="val 8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2400"/>
          </a:p>
        </p:txBody>
      </p:sp>
      <p:sp>
        <p:nvSpPr>
          <p:cNvPr id="24" name="Rectangle 23"/>
          <p:cNvSpPr/>
          <p:nvPr/>
        </p:nvSpPr>
        <p:spPr>
          <a:xfrm>
            <a:off x="676268" y="5237000"/>
            <a:ext cx="147080" cy="1104198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2415" y="5330000"/>
            <a:ext cx="10177272" cy="5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 dirty="0" err="1">
                <a:solidFill>
                  <a:srgbClr val="2E2A3A"/>
                </a:solidFill>
              </a:rPr>
              <a:t>Falacias</a:t>
            </a:r>
            <a:r>
              <a:rPr lang="es-ES" sz="1400" b="1" dirty="0">
                <a:solidFill>
                  <a:srgbClr val="2E2A3A"/>
                </a:solidFill>
              </a:rPr>
              <a:t>:</a:t>
            </a:r>
          </a:p>
          <a:p>
            <a:pPr algn="l"/>
            <a:endParaRPr lang="es-ES" sz="700" b="1" dirty="0">
              <a:solidFill>
                <a:srgbClr val="2E2A3A"/>
              </a:solidFill>
            </a:endParaRPr>
          </a:p>
          <a:p>
            <a:pPr algn="l"/>
            <a:r>
              <a:rPr sz="1400" b="1" dirty="0">
                <a:solidFill>
                  <a:srgbClr val="4C4954"/>
                </a:solidFill>
              </a:rPr>
              <a:t>Jingle</a:t>
            </a:r>
            <a:r>
              <a:rPr sz="1400" b="0" dirty="0">
                <a:solidFill>
                  <a:srgbClr val="4C4954"/>
                </a:solidFill>
              </a:rPr>
              <a:t>: </a:t>
            </a:r>
            <a:r>
              <a:rPr sz="1400" b="0" dirty="0" err="1">
                <a:solidFill>
                  <a:srgbClr val="4C4954"/>
                </a:solidFill>
              </a:rPr>
              <a:t>mismo</a:t>
            </a:r>
            <a:r>
              <a:rPr sz="1400" b="0" dirty="0">
                <a:solidFill>
                  <a:srgbClr val="4C4954"/>
                </a:solidFill>
              </a:rPr>
              <a:t> </a:t>
            </a:r>
            <a:r>
              <a:rPr sz="1400" b="0" dirty="0" err="1">
                <a:solidFill>
                  <a:srgbClr val="4C4954"/>
                </a:solidFill>
              </a:rPr>
              <a:t>nombre</a:t>
            </a:r>
            <a:r>
              <a:rPr sz="1400" b="0" dirty="0">
                <a:solidFill>
                  <a:srgbClr val="4C4954"/>
                </a:solidFill>
              </a:rPr>
              <a:t>, </a:t>
            </a:r>
            <a:r>
              <a:rPr sz="1400" b="0" dirty="0" err="1">
                <a:solidFill>
                  <a:srgbClr val="4C4954"/>
                </a:solidFill>
              </a:rPr>
              <a:t>constructos</a:t>
            </a:r>
            <a:r>
              <a:rPr sz="1400" b="0" dirty="0">
                <a:solidFill>
                  <a:srgbClr val="4C4954"/>
                </a:solidFill>
              </a:rPr>
              <a:t> </a:t>
            </a:r>
            <a:r>
              <a:rPr sz="1400" b="0" dirty="0" err="1">
                <a:solidFill>
                  <a:srgbClr val="4C4954"/>
                </a:solidFill>
              </a:rPr>
              <a:t>distintos</a:t>
            </a:r>
            <a:r>
              <a:rPr sz="1400" b="0" dirty="0">
                <a:solidFill>
                  <a:srgbClr val="4C4954"/>
                </a:solidFill>
              </a:rPr>
              <a:t>.  </a:t>
            </a:r>
            <a:endParaRPr lang="es-ES" sz="1400" b="0" dirty="0">
              <a:solidFill>
                <a:srgbClr val="4C4954"/>
              </a:solidFill>
            </a:endParaRPr>
          </a:p>
          <a:p>
            <a:pPr algn="l"/>
            <a:endParaRPr lang="es-ES" sz="200" b="0" dirty="0">
              <a:solidFill>
                <a:srgbClr val="4C4954"/>
              </a:solidFill>
            </a:endParaRPr>
          </a:p>
          <a:p>
            <a:pPr algn="l"/>
            <a:r>
              <a:rPr sz="1400" b="1" dirty="0">
                <a:solidFill>
                  <a:srgbClr val="4C4954"/>
                </a:solidFill>
              </a:rPr>
              <a:t>Jangle</a:t>
            </a:r>
            <a:r>
              <a:rPr sz="1400" b="0" dirty="0">
                <a:solidFill>
                  <a:srgbClr val="4C4954"/>
                </a:solidFill>
              </a:rPr>
              <a:t>: </a:t>
            </a:r>
            <a:r>
              <a:rPr sz="1400" b="0" dirty="0" err="1">
                <a:solidFill>
                  <a:srgbClr val="4C4954"/>
                </a:solidFill>
              </a:rPr>
              <a:t>mismo</a:t>
            </a:r>
            <a:r>
              <a:rPr sz="1400" b="0" dirty="0">
                <a:solidFill>
                  <a:srgbClr val="4C4954"/>
                </a:solidFill>
              </a:rPr>
              <a:t> </a:t>
            </a:r>
            <a:r>
              <a:rPr sz="1400" b="0" dirty="0" err="1">
                <a:solidFill>
                  <a:srgbClr val="4C4954"/>
                </a:solidFill>
              </a:rPr>
              <a:t>constructo</a:t>
            </a:r>
            <a:r>
              <a:rPr sz="1400" b="0" dirty="0">
                <a:solidFill>
                  <a:srgbClr val="4C4954"/>
                </a:solidFill>
              </a:rPr>
              <a:t>, </a:t>
            </a:r>
            <a:r>
              <a:rPr sz="1400" b="0" dirty="0" err="1">
                <a:solidFill>
                  <a:srgbClr val="4C4954"/>
                </a:solidFill>
              </a:rPr>
              <a:t>nombres</a:t>
            </a:r>
            <a:r>
              <a:rPr sz="1400" b="0" dirty="0">
                <a:solidFill>
                  <a:srgbClr val="4C4954"/>
                </a:solidFill>
              </a:rPr>
              <a:t> </a:t>
            </a:r>
            <a:r>
              <a:rPr sz="1400" b="0" dirty="0" err="1">
                <a:solidFill>
                  <a:srgbClr val="4C4954"/>
                </a:solidFill>
              </a:rPr>
              <a:t>distintos</a:t>
            </a:r>
            <a:r>
              <a:rPr sz="1400" b="0" dirty="0">
                <a:solidFill>
                  <a:srgbClr val="4C4954"/>
                </a:solidFill>
              </a:rPr>
              <a:t>.  El </a:t>
            </a:r>
            <a:r>
              <a:rPr sz="1400" b="0" dirty="0" err="1">
                <a:solidFill>
                  <a:srgbClr val="4C4954"/>
                </a:solidFill>
              </a:rPr>
              <a:t>instrumento</a:t>
            </a:r>
            <a:r>
              <a:rPr sz="1400" b="0" dirty="0">
                <a:solidFill>
                  <a:srgbClr val="4C4954"/>
                </a:solidFill>
              </a:rPr>
              <a:t> </a:t>
            </a:r>
            <a:r>
              <a:rPr sz="1400" b="0" dirty="0" err="1">
                <a:solidFill>
                  <a:srgbClr val="4C4954"/>
                </a:solidFill>
              </a:rPr>
              <a:t>elegido</a:t>
            </a:r>
            <a:r>
              <a:rPr sz="1400" b="0" dirty="0">
                <a:solidFill>
                  <a:srgbClr val="4C4954"/>
                </a:solidFill>
              </a:rPr>
              <a:t> define que </a:t>
            </a:r>
            <a:r>
              <a:rPr sz="1400" b="0" dirty="0" err="1">
                <a:solidFill>
                  <a:srgbClr val="4C4954"/>
                </a:solidFill>
              </a:rPr>
              <a:t>constructo</a:t>
            </a:r>
            <a:r>
              <a:rPr sz="1400" b="0" dirty="0">
                <a:solidFill>
                  <a:srgbClr val="4C4954"/>
                </a:solidFill>
              </a:rPr>
              <a:t> se </a:t>
            </a:r>
            <a:r>
              <a:rPr sz="1400" b="0" dirty="0" err="1">
                <a:solidFill>
                  <a:srgbClr val="4C4954"/>
                </a:solidFill>
              </a:rPr>
              <a:t>mide</a:t>
            </a:r>
            <a:r>
              <a:rPr sz="1400" b="0" dirty="0">
                <a:solidFill>
                  <a:srgbClr val="4C4954"/>
                </a:solidFill>
              </a:rPr>
              <a:t> </a:t>
            </a:r>
            <a:r>
              <a:rPr sz="1400" b="0" dirty="0" err="1">
                <a:solidFill>
                  <a:srgbClr val="4C4954"/>
                </a:solidFill>
              </a:rPr>
              <a:t>realmente</a:t>
            </a:r>
            <a:r>
              <a:rPr sz="1400" b="0" dirty="0">
                <a:solidFill>
                  <a:srgbClr val="4C4954"/>
                </a:solidFill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7" name="Oval 26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2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66000" y="2148840"/>
            <a:ext cx="16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079C8"/>
                </a:solidFill>
              </a:rPr>
              <a:t>1890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000" y="2670048"/>
            <a:ext cx="20000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2E2A3A"/>
                </a:solidFill>
              </a:rPr>
              <a:t>William James</a:t>
            </a:r>
          </a:p>
        </p:txBody>
      </p:sp>
      <p:sp>
        <p:nvSpPr>
          <p:cNvPr id="31" name="Oval 30"/>
          <p:cNvSpPr/>
          <p:nvPr/>
        </p:nvSpPr>
        <p:spPr>
          <a:xfrm>
            <a:off x="14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2" name="TextBox 31"/>
          <p:cNvSpPr txBox="1"/>
          <p:nvPr/>
        </p:nvSpPr>
        <p:spPr>
          <a:xfrm>
            <a:off x="766000" y="3794760"/>
            <a:ext cx="166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C4954"/>
                </a:solidFill>
              </a:rPr>
              <a:t>El self como</a:t>
            </a:r>
          </a:p>
          <a:p>
            <a:pPr algn="ctr"/>
            <a:r>
              <a:rPr sz="1600" b="0">
                <a:solidFill>
                  <a:srgbClr val="4C4954"/>
                </a:solidFill>
              </a:rPr>
              <a:t>sujeto (I) y</a:t>
            </a:r>
          </a:p>
          <a:p>
            <a:pPr algn="ctr"/>
            <a:r>
              <a:rPr sz="1600" b="0">
                <a:solidFill>
                  <a:srgbClr val="4C4954"/>
                </a:solidFill>
              </a:rPr>
              <a:t>objeto (me).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6000" y="2148840"/>
            <a:ext cx="16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079C8"/>
                </a:solidFill>
              </a:rPr>
              <a:t>1902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6000" y="2670048"/>
            <a:ext cx="16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2A3A"/>
                </a:solidFill>
              </a:rPr>
              <a:t>Cooley</a:t>
            </a:r>
          </a:p>
        </p:txBody>
      </p:sp>
      <p:sp>
        <p:nvSpPr>
          <p:cNvPr id="35" name="Oval 34"/>
          <p:cNvSpPr/>
          <p:nvPr/>
        </p:nvSpPr>
        <p:spPr>
          <a:xfrm>
            <a:off x="3240552" y="3304938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36" name="TextBox 35"/>
          <p:cNvSpPr txBox="1"/>
          <p:nvPr/>
        </p:nvSpPr>
        <p:spPr>
          <a:xfrm>
            <a:off x="2499870" y="3766876"/>
            <a:ext cx="17974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4C4954"/>
                </a:solidFill>
              </a:rPr>
              <a:t>El </a:t>
            </a:r>
            <a:r>
              <a:rPr sz="1600" b="0" dirty="0" err="1">
                <a:solidFill>
                  <a:srgbClr val="4C4954"/>
                </a:solidFill>
              </a:rPr>
              <a:t>yo-espejo</a:t>
            </a:r>
            <a:r>
              <a:rPr sz="1600" b="0" dirty="0">
                <a:solidFill>
                  <a:srgbClr val="4C4954"/>
                </a:solidFill>
              </a:rPr>
              <a:t>:</a:t>
            </a:r>
          </a:p>
          <a:p>
            <a:pPr algn="ctr"/>
            <a:r>
              <a:rPr sz="1600" b="0" dirty="0" err="1">
                <a:solidFill>
                  <a:srgbClr val="4C4954"/>
                </a:solidFill>
              </a:rPr>
              <a:t>nos</a:t>
            </a:r>
            <a:r>
              <a:rPr sz="1600" b="0" dirty="0">
                <a:solidFill>
                  <a:srgbClr val="4C4954"/>
                </a:solidFill>
              </a:rPr>
              <a:t> </a:t>
            </a:r>
            <a:r>
              <a:rPr sz="1600" b="0" dirty="0" err="1">
                <a:solidFill>
                  <a:srgbClr val="4C4954"/>
                </a:solidFill>
              </a:rPr>
              <a:t>vemos</a:t>
            </a:r>
            <a:r>
              <a:rPr sz="1600" b="0" dirty="0">
                <a:solidFill>
                  <a:srgbClr val="4C4954"/>
                </a:solidFill>
              </a:rPr>
              <a:t> </a:t>
            </a:r>
            <a:r>
              <a:rPr sz="1600" b="0" dirty="0" err="1">
                <a:solidFill>
                  <a:srgbClr val="4C4954"/>
                </a:solidFill>
              </a:rPr>
              <a:t>como</a:t>
            </a:r>
            <a:endParaRPr sz="1600" b="0" dirty="0">
              <a:solidFill>
                <a:srgbClr val="4C4954"/>
              </a:solidFill>
            </a:endParaRPr>
          </a:p>
          <a:p>
            <a:pPr algn="ctr"/>
            <a:r>
              <a:rPr sz="1600" b="0" dirty="0" err="1">
                <a:solidFill>
                  <a:srgbClr val="4C4954"/>
                </a:solidFill>
              </a:rPr>
              <a:t>nos</a:t>
            </a:r>
            <a:r>
              <a:rPr sz="1600" b="0" dirty="0">
                <a:solidFill>
                  <a:srgbClr val="4C4954"/>
                </a:solidFill>
              </a:rPr>
              <a:t> </a:t>
            </a:r>
            <a:r>
              <a:rPr sz="1600" b="0" dirty="0" err="1">
                <a:solidFill>
                  <a:srgbClr val="4C4954"/>
                </a:solidFill>
              </a:rPr>
              <a:t>ven</a:t>
            </a:r>
            <a:r>
              <a:rPr sz="1600" b="0" dirty="0">
                <a:solidFill>
                  <a:srgbClr val="4C4954"/>
                </a:solidFill>
              </a:rPr>
              <a:t> </a:t>
            </a:r>
            <a:r>
              <a:rPr sz="1600" b="0" dirty="0" err="1">
                <a:solidFill>
                  <a:srgbClr val="4C4954"/>
                </a:solidFill>
              </a:rPr>
              <a:t>los</a:t>
            </a:r>
            <a:r>
              <a:rPr sz="1600" b="0" dirty="0">
                <a:solidFill>
                  <a:srgbClr val="4C4954"/>
                </a:solidFill>
              </a:rPr>
              <a:t> dem</a:t>
            </a:r>
            <a:r>
              <a:rPr lang="es-ES" sz="1600" b="0" dirty="0">
                <a:solidFill>
                  <a:srgbClr val="4C4954"/>
                </a:solidFill>
              </a:rPr>
              <a:t>á</a:t>
            </a:r>
            <a:r>
              <a:rPr sz="1600" b="0" dirty="0">
                <a:solidFill>
                  <a:srgbClr val="4C4954"/>
                </a:solidFill>
              </a:rPr>
              <a:t>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66000" y="2148840"/>
            <a:ext cx="16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079C8"/>
                </a:solidFill>
              </a:rPr>
              <a:t>1934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66000" y="2670048"/>
            <a:ext cx="16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2A3A"/>
                </a:solidFill>
              </a:rPr>
              <a:t>G.H. Mead</a:t>
            </a:r>
          </a:p>
        </p:txBody>
      </p:sp>
      <p:sp>
        <p:nvSpPr>
          <p:cNvPr id="39" name="Oval 38"/>
          <p:cNvSpPr/>
          <p:nvPr/>
        </p:nvSpPr>
        <p:spPr>
          <a:xfrm>
            <a:off x="50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0" name="TextBox 39"/>
          <p:cNvSpPr txBox="1"/>
          <p:nvPr/>
        </p:nvSpPr>
        <p:spPr>
          <a:xfrm>
            <a:off x="4366000" y="3794760"/>
            <a:ext cx="166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4C4954"/>
                </a:solidFill>
              </a:rPr>
              <a:t>El self emerge</a:t>
            </a:r>
          </a:p>
          <a:p>
            <a:pPr algn="ctr"/>
            <a:r>
              <a:rPr sz="1600" b="0" dirty="0" err="1">
                <a:solidFill>
                  <a:srgbClr val="4C4954"/>
                </a:solidFill>
              </a:rPr>
              <a:t>en</a:t>
            </a:r>
            <a:r>
              <a:rPr sz="1600" b="0" dirty="0">
                <a:solidFill>
                  <a:srgbClr val="4C4954"/>
                </a:solidFill>
              </a:rPr>
              <a:t> la </a:t>
            </a:r>
            <a:r>
              <a:rPr sz="1600" b="0" dirty="0" err="1">
                <a:solidFill>
                  <a:srgbClr val="4C4954"/>
                </a:solidFill>
              </a:rPr>
              <a:t>interacci</a:t>
            </a:r>
            <a:r>
              <a:rPr lang="es-ES" sz="1600" b="0" dirty="0" err="1">
                <a:solidFill>
                  <a:srgbClr val="4C4954"/>
                </a:solidFill>
              </a:rPr>
              <a:t>ó</a:t>
            </a:r>
            <a:r>
              <a:rPr sz="1600" b="0" dirty="0">
                <a:solidFill>
                  <a:srgbClr val="4C4954"/>
                </a:solidFill>
              </a:rPr>
              <a:t>n</a:t>
            </a:r>
          </a:p>
          <a:p>
            <a:pPr algn="ctr"/>
            <a:r>
              <a:rPr sz="1600" b="0" dirty="0">
                <a:solidFill>
                  <a:srgbClr val="4C4954"/>
                </a:solidFill>
              </a:rPr>
              <a:t>social.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66000" y="2148840"/>
            <a:ext cx="16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079C8"/>
                </a:solidFill>
              </a:rPr>
              <a:t>1965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66000" y="2670048"/>
            <a:ext cx="16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2A3A"/>
                </a:solidFill>
              </a:rPr>
              <a:t>Rosenberg</a:t>
            </a:r>
          </a:p>
        </p:txBody>
      </p:sp>
      <p:sp>
        <p:nvSpPr>
          <p:cNvPr id="43" name="Oval 42"/>
          <p:cNvSpPr/>
          <p:nvPr/>
        </p:nvSpPr>
        <p:spPr>
          <a:xfrm>
            <a:off x="68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4" name="TextBox 43"/>
          <p:cNvSpPr txBox="1"/>
          <p:nvPr/>
        </p:nvSpPr>
        <p:spPr>
          <a:xfrm>
            <a:off x="6166000" y="3794760"/>
            <a:ext cx="1660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4C4954"/>
                </a:solidFill>
              </a:rPr>
              <a:t>Escala RSES:</a:t>
            </a:r>
          </a:p>
          <a:p>
            <a:pPr algn="ctr"/>
            <a:r>
              <a:rPr sz="1600" b="0" dirty="0" err="1">
                <a:solidFill>
                  <a:srgbClr val="4C4954"/>
                </a:solidFill>
              </a:rPr>
              <a:t>est</a:t>
            </a:r>
            <a:r>
              <a:rPr lang="es-ES" sz="1600" b="0" dirty="0">
                <a:solidFill>
                  <a:srgbClr val="4C4954"/>
                </a:solidFill>
              </a:rPr>
              <a:t>á</a:t>
            </a:r>
            <a:r>
              <a:rPr sz="1600" b="0" dirty="0" err="1">
                <a:solidFill>
                  <a:srgbClr val="4C4954"/>
                </a:solidFill>
              </a:rPr>
              <a:t>ndar</a:t>
            </a:r>
            <a:r>
              <a:rPr sz="1600" b="0" dirty="0">
                <a:solidFill>
                  <a:srgbClr val="4C4954"/>
                </a:solidFill>
              </a:rPr>
              <a:t> de la</a:t>
            </a:r>
          </a:p>
          <a:p>
            <a:pPr algn="ctr"/>
            <a:r>
              <a:rPr sz="1600" b="0" dirty="0" err="1">
                <a:solidFill>
                  <a:srgbClr val="4C4954"/>
                </a:solidFill>
              </a:rPr>
              <a:t>autoestima</a:t>
            </a:r>
            <a:r>
              <a:rPr sz="1600" b="0" dirty="0">
                <a:solidFill>
                  <a:srgbClr val="4C4954"/>
                </a:solidFill>
              </a:rPr>
              <a:t> global.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66000" y="2148840"/>
            <a:ext cx="16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079C8"/>
                </a:solidFill>
              </a:rPr>
              <a:t>1976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66000" y="2670048"/>
            <a:ext cx="16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2A3A"/>
                </a:solidFill>
              </a:rPr>
              <a:t>Shavelson</a:t>
            </a:r>
          </a:p>
        </p:txBody>
      </p:sp>
      <p:sp>
        <p:nvSpPr>
          <p:cNvPr id="47" name="Oval 46"/>
          <p:cNvSpPr/>
          <p:nvPr/>
        </p:nvSpPr>
        <p:spPr>
          <a:xfrm>
            <a:off x="86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8" name="TextBox 47"/>
          <p:cNvSpPr txBox="1"/>
          <p:nvPr/>
        </p:nvSpPr>
        <p:spPr>
          <a:xfrm>
            <a:off x="7966000" y="3794760"/>
            <a:ext cx="17987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 err="1">
                <a:solidFill>
                  <a:srgbClr val="4C4954"/>
                </a:solidFill>
              </a:rPr>
              <a:t>Autoconcepto</a:t>
            </a:r>
            <a:endParaRPr sz="1600" b="0" dirty="0">
              <a:solidFill>
                <a:srgbClr val="4C4954"/>
              </a:solidFill>
            </a:endParaRPr>
          </a:p>
          <a:p>
            <a:pPr algn="ctr"/>
            <a:r>
              <a:rPr sz="1600" b="0" dirty="0">
                <a:solidFill>
                  <a:srgbClr val="4C4954"/>
                </a:solidFill>
              </a:rPr>
              <a:t>multidimensional</a:t>
            </a:r>
          </a:p>
          <a:p>
            <a:pPr algn="ctr"/>
            <a:r>
              <a:rPr sz="1600" b="0" dirty="0">
                <a:solidFill>
                  <a:srgbClr val="4C4954"/>
                </a:solidFill>
              </a:rPr>
              <a:t>y </a:t>
            </a:r>
            <a:r>
              <a:rPr sz="1600" b="0" dirty="0" err="1">
                <a:solidFill>
                  <a:srgbClr val="4C4954"/>
                </a:solidFill>
              </a:rPr>
              <a:t>jer</a:t>
            </a:r>
            <a:r>
              <a:rPr lang="es-ES" sz="1600" b="0" dirty="0">
                <a:solidFill>
                  <a:srgbClr val="4C4954"/>
                </a:solidFill>
              </a:rPr>
              <a:t>á</a:t>
            </a:r>
            <a:r>
              <a:rPr sz="1600" b="0" dirty="0" err="1">
                <a:solidFill>
                  <a:srgbClr val="4C4954"/>
                </a:solidFill>
              </a:rPr>
              <a:t>rquico</a:t>
            </a:r>
            <a:r>
              <a:rPr sz="1600" b="0" dirty="0">
                <a:solidFill>
                  <a:srgbClr val="4C4954"/>
                </a:solidFill>
              </a:rPr>
              <a:t>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66000" y="2148840"/>
            <a:ext cx="16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079C8"/>
                </a:solidFill>
              </a:rPr>
              <a:t>2003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66000" y="2670048"/>
            <a:ext cx="16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2A3A"/>
                </a:solidFill>
              </a:rPr>
              <a:t>Baumeister</a:t>
            </a:r>
          </a:p>
        </p:txBody>
      </p:sp>
      <p:sp>
        <p:nvSpPr>
          <p:cNvPr id="51" name="Oval 50"/>
          <p:cNvSpPr/>
          <p:nvPr/>
        </p:nvSpPr>
        <p:spPr>
          <a:xfrm>
            <a:off x="10440552" y="3246120"/>
            <a:ext cx="310896" cy="3108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2" name="TextBox 51"/>
          <p:cNvSpPr txBox="1"/>
          <p:nvPr/>
        </p:nvSpPr>
        <p:spPr>
          <a:xfrm>
            <a:off x="9766000" y="3794760"/>
            <a:ext cx="1660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4C4954"/>
                </a:solidFill>
              </a:rPr>
              <a:t>La </a:t>
            </a:r>
            <a:r>
              <a:rPr sz="1600" b="0" dirty="0" err="1">
                <a:solidFill>
                  <a:srgbClr val="4C4954"/>
                </a:solidFill>
              </a:rPr>
              <a:t>alta</a:t>
            </a:r>
            <a:r>
              <a:rPr sz="1600" b="0" dirty="0">
                <a:solidFill>
                  <a:srgbClr val="4C4954"/>
                </a:solidFill>
              </a:rPr>
              <a:t> </a:t>
            </a:r>
            <a:r>
              <a:rPr sz="1600" b="0" dirty="0" err="1">
                <a:solidFill>
                  <a:srgbClr val="4C4954"/>
                </a:solidFill>
              </a:rPr>
              <a:t>autoestima</a:t>
            </a:r>
            <a:endParaRPr sz="1600" b="0" dirty="0">
              <a:solidFill>
                <a:srgbClr val="4C4954"/>
              </a:solidFill>
            </a:endParaRPr>
          </a:p>
          <a:p>
            <a:pPr algn="ctr"/>
            <a:r>
              <a:rPr sz="1600" b="0" dirty="0">
                <a:solidFill>
                  <a:srgbClr val="4C4954"/>
                </a:solidFill>
              </a:rPr>
              <a:t>no causa </a:t>
            </a:r>
            <a:r>
              <a:rPr sz="1600" b="0" dirty="0" err="1">
                <a:solidFill>
                  <a:srgbClr val="4C4954"/>
                </a:solidFill>
              </a:rPr>
              <a:t>todo</a:t>
            </a:r>
            <a:r>
              <a:rPr sz="1600" b="0" dirty="0">
                <a:solidFill>
                  <a:srgbClr val="4C4954"/>
                </a:solidFill>
              </a:rPr>
              <a:t>:</a:t>
            </a:r>
          </a:p>
          <a:p>
            <a:pPr algn="ctr"/>
            <a:r>
              <a:rPr sz="1600" b="0" dirty="0" err="1">
                <a:solidFill>
                  <a:srgbClr val="4C4954"/>
                </a:solidFill>
              </a:rPr>
              <a:t>pide</a:t>
            </a:r>
            <a:r>
              <a:rPr sz="1600" b="0" dirty="0">
                <a:solidFill>
                  <a:srgbClr val="4C4954"/>
                </a:solidFill>
              </a:rPr>
              <a:t> m</a:t>
            </a:r>
            <a:r>
              <a:rPr lang="es-ES" sz="1600" dirty="0">
                <a:solidFill>
                  <a:srgbClr val="4C4954"/>
                </a:solidFill>
              </a:rPr>
              <a:t>á</a:t>
            </a:r>
            <a:r>
              <a:rPr sz="1600" b="0" dirty="0">
                <a:solidFill>
                  <a:srgbClr val="4C4954"/>
                </a:solidFill>
              </a:rPr>
              <a:t>s rigor.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MARCO TEÓRICO · QUÉ MEDIMOS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Qué medimos exactamente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4127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033275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dirty="0" err="1">
                <a:solidFill>
                  <a:srgbClr val="2E2A3A"/>
                </a:solidFill>
                <a:latin typeface="Segoe UI Semibold"/>
              </a:rPr>
              <a:t>Autoestima</a:t>
            </a:r>
            <a:endParaRPr sz="1900"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79" y="2633472"/>
            <a:ext cx="2871216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Evaluativa.</a:t>
            </a:r>
          </a:p>
          <a:p>
            <a:pPr algn="l">
              <a:lnSpc>
                <a:spcPct val="116000"/>
              </a:lnSpc>
            </a:pP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 err="1">
                <a:solidFill>
                  <a:srgbClr val="4C4954"/>
                </a:solidFill>
                <a:latin typeface="Segoe UI"/>
              </a:rPr>
              <a:t>Juicio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global de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valía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personal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Dimensión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afectiva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del self.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¿Cuánto me valoro?</a:t>
            </a:r>
            <a:endParaRPr sz="1600" b="0" dirty="0">
              <a:solidFill>
                <a:srgbClr val="4C4954"/>
              </a:solidFill>
              <a:latin typeface="Segoe U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024127" y="5312664"/>
            <a:ext cx="2871216" cy="56692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Segoe UI Semibold"/>
              </a:rPr>
              <a:t>Rosenberg </a:t>
            </a:r>
            <a:r>
              <a:rPr sz="1600" b="1" dirty="0">
                <a:solidFill>
                  <a:srgbClr val="FFFFFF"/>
                </a:solidFill>
                <a:latin typeface="Segoe UI Semibold"/>
              </a:rPr>
              <a:t>Self-Esteem</a:t>
            </a:r>
            <a:r>
              <a:rPr sz="1400" b="1" dirty="0">
                <a:solidFill>
                  <a:srgbClr val="FFFFFF"/>
                </a:solidFill>
                <a:latin typeface="Segoe UI Semibold"/>
              </a:rPr>
              <a:t> 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45736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47488" y="205954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dirty="0" err="1">
                <a:solidFill>
                  <a:srgbClr val="2E2A3A"/>
                </a:solidFill>
                <a:latin typeface="Segoe UI Semibold"/>
              </a:rPr>
              <a:t>Autoconcepto</a:t>
            </a:r>
            <a:endParaRPr sz="1900"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18888" y="2494172"/>
            <a:ext cx="2871216" cy="256031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Descriptivo y multidimensional</a:t>
            </a:r>
          </a:p>
          <a:p>
            <a:pPr algn="l">
              <a:lnSpc>
                <a:spcPct val="116000"/>
              </a:lnSpc>
            </a:pP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 err="1">
                <a:solidFill>
                  <a:srgbClr val="4C4954"/>
                </a:solidFill>
                <a:latin typeface="Segoe UI"/>
              </a:rPr>
              <a:t>Descripción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del self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por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dominios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: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académico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, social,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físico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, corporal.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>
              <a:lnSpc>
                <a:spcPct val="116000"/>
              </a:lnSpc>
            </a:pPr>
            <a:r>
              <a:rPr lang="es-ES" sz="1600" dirty="0">
                <a:solidFill>
                  <a:srgbClr val="4C4954"/>
                </a:solidFill>
                <a:latin typeface="Segoe UI"/>
              </a:rPr>
              <a:t>¿Qué pienso de mí mismo?</a:t>
            </a:r>
            <a:endParaRPr sz="1600" b="0" dirty="0">
              <a:solidFill>
                <a:srgbClr val="4C4954"/>
              </a:solidFill>
              <a:latin typeface="Segoe U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818888" y="5312664"/>
            <a:ext cx="2871216" cy="56692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Self-Description Questionnaire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1600"/>
          </a:p>
        </p:txBody>
      </p:sp>
      <p:sp>
        <p:nvSpPr>
          <p:cNvPr id="17" name="Rectangle 16"/>
          <p:cNvSpPr/>
          <p:nvPr/>
        </p:nvSpPr>
        <p:spPr>
          <a:xfrm>
            <a:off x="8467344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77656" y="2052828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 dirty="0">
                <a:solidFill>
                  <a:srgbClr val="2E2A3A"/>
                </a:solidFill>
                <a:latin typeface="Segoe UI Semibold"/>
              </a:rPr>
              <a:t>Bienestar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4776" y="2416302"/>
            <a:ext cx="2871216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600" b="0" dirty="0" err="1">
                <a:solidFill>
                  <a:srgbClr val="4C4954"/>
                </a:solidFill>
                <a:latin typeface="Segoe UI"/>
              </a:rPr>
              <a:t>Hedónico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(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satisfacción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y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afecto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)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sz="1600" b="0" dirty="0">
                <a:solidFill>
                  <a:srgbClr val="4C4954"/>
                </a:solidFill>
                <a:latin typeface="Segoe UI"/>
              </a:rPr>
              <a:t> 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dirty="0">
                <a:solidFill>
                  <a:srgbClr val="4C4954"/>
                </a:solidFill>
                <a:latin typeface="Segoe UI"/>
              </a:rPr>
              <a:t>E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udaimónico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 (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funcionamiento</a:t>
            </a:r>
            <a:r>
              <a:rPr lang="es-ES" sz="160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4C4954"/>
                </a:solidFill>
                <a:latin typeface="Segoe UI"/>
              </a:rPr>
              <a:t>óptimo</a:t>
            </a:r>
            <a:r>
              <a:rPr sz="1600" b="0" dirty="0">
                <a:solidFill>
                  <a:srgbClr val="4C4954"/>
                </a:solidFill>
                <a:latin typeface="Segoe UI"/>
              </a:rPr>
              <a:t>)</a:t>
            </a:r>
            <a:endParaRPr lang="es-ES" sz="1600" b="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Calidad de vida relacionada con la salud </a:t>
            </a:r>
          </a:p>
          <a:p>
            <a:pPr algn="l">
              <a:lnSpc>
                <a:spcPct val="116000"/>
              </a:lnSpc>
            </a:pPr>
            <a:endParaRPr lang="es-ES" sz="1600" dirty="0">
              <a:solidFill>
                <a:srgbClr val="4C4954"/>
              </a:solidFill>
              <a:latin typeface="Segoe UI"/>
            </a:endParaRPr>
          </a:p>
          <a:p>
            <a:pPr algn="l">
              <a:lnSpc>
                <a:spcPct val="116000"/>
              </a:lnSpc>
            </a:pPr>
            <a:r>
              <a:rPr lang="es-ES" sz="1600" b="0" dirty="0">
                <a:solidFill>
                  <a:srgbClr val="4C4954"/>
                </a:solidFill>
                <a:latin typeface="Segoe UI"/>
              </a:rPr>
              <a:t>Salud mental general</a:t>
            </a:r>
            <a:endParaRPr sz="1600" b="0" dirty="0">
              <a:solidFill>
                <a:srgbClr val="4C4954"/>
              </a:solidFill>
              <a:latin typeface="Segoe U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467344" y="5312664"/>
            <a:ext cx="2871216" cy="56692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HRQoL  +  salud mental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3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/>
      <p:bldP spid="19" grpId="0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MARCO TEÓRICO · EL BIENESTAR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 dirty="0">
                <a:solidFill>
                  <a:srgbClr val="2E2A3A"/>
                </a:solidFill>
                <a:latin typeface="Segoe UI Semibold"/>
              </a:rPr>
              <a:t>El 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bienestar</a:t>
            </a:r>
            <a:r>
              <a:rPr sz="3000" b="0" dirty="0">
                <a:solidFill>
                  <a:srgbClr val="2E2A3A"/>
                </a:solidFill>
                <a:latin typeface="Segoe UI Semibold"/>
              </a:rPr>
              <a:t> 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tiene</a:t>
            </a:r>
            <a:r>
              <a:rPr sz="3000" b="0" dirty="0">
                <a:solidFill>
                  <a:srgbClr val="2E2A3A"/>
                </a:solidFill>
                <a:latin typeface="Segoe UI Semibold"/>
              </a:rPr>
              <a:t> cuatro 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caras</a:t>
            </a:r>
            <a:endParaRPr sz="3000" b="0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42415" y="209397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029967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 dirty="0">
                <a:solidFill>
                  <a:srgbClr val="2E2A3A"/>
                </a:solidFill>
                <a:latin typeface="Segoe UI Semibold"/>
              </a:rPr>
              <a:t>Bienestar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subjetivo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·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hedónico</a:t>
            </a:r>
            <a:endParaRPr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2415" y="2560320"/>
            <a:ext cx="4700016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b="0" dirty="0" err="1">
                <a:latin typeface="Segoe UI"/>
              </a:rPr>
              <a:t>Satisfacción</a:t>
            </a:r>
            <a:r>
              <a:rPr b="0" dirty="0">
                <a:latin typeface="Segoe UI"/>
              </a:rPr>
              <a:t> con la </a:t>
            </a:r>
            <a:r>
              <a:rPr b="0" dirty="0" err="1">
                <a:latin typeface="Segoe UI"/>
              </a:rPr>
              <a:t>vida</a:t>
            </a:r>
            <a:r>
              <a:rPr b="0" dirty="0">
                <a:latin typeface="Segoe UI"/>
              </a:rPr>
              <a:t> + </a:t>
            </a:r>
            <a:r>
              <a:rPr b="0" dirty="0" err="1">
                <a:latin typeface="Segoe UI"/>
              </a:rPr>
              <a:t>afecto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positivo</a:t>
            </a:r>
            <a:r>
              <a:rPr b="0" dirty="0">
                <a:latin typeface="Segoe UI"/>
              </a:rPr>
              <a:t> − </a:t>
            </a:r>
            <a:r>
              <a:rPr b="0" dirty="0" err="1">
                <a:latin typeface="Segoe UI"/>
              </a:rPr>
              <a:t>afecto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negativo</a:t>
            </a:r>
            <a:r>
              <a:rPr b="0" dirty="0">
                <a:latin typeface="Segoe UI"/>
              </a:rPr>
              <a:t> (Diener).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178308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29400" y="209397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85432" y="2029967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 dirty="0">
                <a:solidFill>
                  <a:srgbClr val="2E2A3A"/>
                </a:solidFill>
                <a:latin typeface="Segoe UI Semibold"/>
              </a:rPr>
              <a:t>Bienestar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psicológico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·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eudaimónico</a:t>
            </a:r>
            <a:endParaRPr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8529" y="2452769"/>
            <a:ext cx="4976078" cy="1113391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4000"/>
              </a:lnSpc>
            </a:pP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Funcionamiento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óptimo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de la persona </a:t>
            </a: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seis </a:t>
            </a:r>
            <a:r>
              <a:rPr b="0" dirty="0" err="1">
                <a:latin typeface="Segoe UI" panose="020B0502040204020203" pitchFamily="34" charset="0"/>
                <a:cs typeface="Segoe UI" panose="020B0502040204020203" pitchFamily="34" charset="0"/>
              </a:rPr>
              <a:t>dimensiones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b="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dirty="0">
                <a:latin typeface="Segoe UI" panose="020B0502040204020203" pitchFamily="34" charset="0"/>
                <a:cs typeface="Segoe UI" panose="020B0502040204020203" pitchFamily="34" charset="0"/>
              </a:rPr>
              <a:t>autonomía, dominio del entorno, crecimiento personal, relaciones positivas, propósito en la vida y autoaceptación </a:t>
            </a:r>
            <a:r>
              <a:rPr b="0" dirty="0">
                <a:latin typeface="Segoe UI" panose="020B0502040204020203" pitchFamily="34" charset="0"/>
                <a:cs typeface="Segoe UI" panose="020B0502040204020203" pitchFamily="34" charset="0"/>
              </a:rPr>
              <a:t>(Ryff).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16052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42415" y="447141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98448" y="4407408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 dirty="0">
                <a:solidFill>
                  <a:srgbClr val="2E2A3A"/>
                </a:solidFill>
                <a:latin typeface="Segoe UI Semibold"/>
              </a:rPr>
              <a:t>Calidad de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vida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y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salud</a:t>
            </a:r>
            <a:r>
              <a:rPr b="1" dirty="0">
                <a:solidFill>
                  <a:srgbClr val="2E2A3A"/>
                </a:solidFill>
                <a:latin typeface="Segoe UI Semibold"/>
              </a:rPr>
              <a:t> · </a:t>
            </a:r>
            <a:r>
              <a:rPr b="1" dirty="0" err="1">
                <a:solidFill>
                  <a:srgbClr val="2E2A3A"/>
                </a:solidFill>
                <a:latin typeface="Segoe UI Semibold"/>
              </a:rPr>
              <a:t>HRQoL</a:t>
            </a:r>
            <a:endParaRPr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42415" y="4937759"/>
            <a:ext cx="4700016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14000"/>
              </a:lnSpc>
            </a:pPr>
            <a:r>
              <a:rPr b="0" dirty="0">
                <a:latin typeface="Segoe UI"/>
              </a:rPr>
              <a:t>Impacto de la </a:t>
            </a:r>
            <a:r>
              <a:rPr b="0" dirty="0" err="1">
                <a:latin typeface="Segoe UI"/>
              </a:rPr>
              <a:t>enfermedad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sobre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el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funcionamiento</a:t>
            </a:r>
            <a:r>
              <a:rPr b="0" dirty="0">
                <a:latin typeface="Segoe UI"/>
              </a:rPr>
              <a:t> </a:t>
            </a:r>
            <a:r>
              <a:rPr b="0" dirty="0" err="1">
                <a:latin typeface="Segoe UI"/>
              </a:rPr>
              <a:t>físico</a:t>
            </a:r>
            <a:r>
              <a:rPr b="0" dirty="0">
                <a:latin typeface="Segoe UI"/>
              </a:rPr>
              <a:t>, mental y social (WHOQOL).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6792" y="4160520"/>
            <a:ext cx="5285232" cy="21031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629400" y="4471416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85432" y="4407408"/>
            <a:ext cx="44622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b="1">
                <a:solidFill>
                  <a:srgbClr val="2E2A3A"/>
                </a:solidFill>
                <a:latin typeface="Segoe UI Semibold"/>
              </a:rPr>
              <a:t>Salud mental general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937759"/>
            <a:ext cx="4700016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lang="es-ES" dirty="0">
                <a:latin typeface="Segoe UI"/>
              </a:rPr>
              <a:t>Emociones positivas, funcionamiento psicológico y social </a:t>
            </a:r>
            <a:r>
              <a:rPr b="0" dirty="0">
                <a:latin typeface="Segoe UI"/>
              </a:rPr>
              <a:t>(Keyes).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3" name="Oval 22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4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JUSTIFICACIÓN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Evidencia abundante… pero fragmentada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192938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7" y="1847088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Es una de las literaturas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más voluminosas</a:t>
            </a:r>
            <a:r>
              <a:rPr sz="1500" b="0">
                <a:solidFill>
                  <a:srgbClr val="4C4954"/>
                </a:solidFill>
                <a:latin typeface="Segoe UI"/>
              </a:rPr>
              <a:t> de toda la psicología.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325526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7" y="3172968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síntesis más próxima,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Zell &amp; Johansson (2025)</a:t>
            </a:r>
            <a:r>
              <a:rPr sz="1500" b="0">
                <a:solidFill>
                  <a:srgbClr val="4C4954"/>
                </a:solidFill>
                <a:latin typeface="Segoe UI"/>
              </a:rPr>
              <a:t>, agrega 40 meta-análisis: r = ,31 global (,42 salud mental; ,15 salud física)… pero en población general.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458114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7" y="4498848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Cada meta-análisis aborda una porción del problema: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visión fragmentada</a:t>
            </a:r>
            <a:r>
              <a:rPr sz="1500" b="0">
                <a:solidFill>
                  <a:srgbClr val="4C4954"/>
                </a:solidFill>
                <a:latin typeface="Segoe UI"/>
              </a:rPr>
              <a:t> y difícil de transferir a la clínica.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303520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37960" y="2057400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907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6E57B0"/>
                </a:solidFill>
                <a:latin typeface="Segoe UI Semibold"/>
              </a:rPr>
              <a:t>El hueco que cubre este TFM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88920"/>
            <a:ext cx="4480559" cy="2926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①  Restrinjo a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población clínica y de la salud</a:t>
            </a:r>
            <a:r>
              <a:rPr sz="1500" b="0">
                <a:solidFill>
                  <a:srgbClr val="4C4954"/>
                </a:solidFill>
                <a:latin typeface="Segoe UI"/>
              </a:rPr>
              <a:t> (≥ 75 %).</a:t>
            </a:r>
          </a:p>
          <a:p>
            <a:pPr algn="l">
              <a:lnSpc>
                <a:spcPct val="116000"/>
              </a:lnSpc>
              <a:spcBef>
                <a:spcPts val="1200"/>
              </a:spcBef>
            </a:pPr>
            <a:r>
              <a:rPr sz="1500" b="0">
                <a:solidFill>
                  <a:srgbClr val="4C4954"/>
                </a:solidFill>
                <a:latin typeface="Segoe UI"/>
              </a:rPr>
              <a:t>②  Integro </a:t>
            </a:r>
            <a:r>
              <a:rPr sz="1500" b="1">
                <a:solidFill>
                  <a:srgbClr val="2E2A3A"/>
                </a:solidFill>
                <a:latin typeface="Segoe UI Semibold"/>
              </a:rPr>
              <a:t>autoestima y autoconcepto</a:t>
            </a:r>
            <a:r>
              <a:rPr sz="1500" b="0">
                <a:solidFill>
                  <a:srgbClr val="4C4954"/>
                </a:solidFill>
                <a:latin typeface="Segoe UI"/>
              </a:rPr>
              <a:t> —incluida la imagen corporal— como dos caras del mismo objeto.</a:t>
            </a:r>
          </a:p>
          <a:p>
            <a:pPr algn="l">
              <a:lnSpc>
                <a:spcPct val="116000"/>
              </a:lnSpc>
              <a:spcBef>
                <a:spcPts val="1200"/>
              </a:spcBef>
            </a:pPr>
            <a:r>
              <a:rPr sz="1350" b="0">
                <a:solidFill>
                  <a:srgbClr val="9C99A6"/>
                </a:solidFill>
                <a:latin typeface="Segoe UI"/>
              </a:rPr>
              <a:t>Las intervenciones se diseñan sobre constructos específicos, no sobre un único agregado global.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16" name="Oval 15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5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Qué me propongo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691640"/>
            <a:ext cx="10725912" cy="1078992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8" y="1691640"/>
            <a:ext cx="91440" cy="1078992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1883664"/>
            <a:ext cx="99943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Objetivo general.  </a:t>
            </a:r>
            <a:r>
              <a:rPr sz="1700" b="0">
                <a:solidFill>
                  <a:srgbClr val="4C4954"/>
                </a:solidFill>
                <a:latin typeface="Segoe UI"/>
              </a:rPr>
              <a:t>Sintetizar, mediante una revisión paraguas (PRISMA 2020 y PRIOR), la evidencia meta-analítica sobre autoestima y/o autoconcepto y bienestar en psicología clínica y de la salud (2016–2026).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2783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306324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Identificar y describir los meta-análisis del periodo en poblaciones clínicas o de salud.</a:t>
            </a:r>
          </a:p>
        </p:txBody>
      </p:sp>
      <p:sp>
        <p:nvSpPr>
          <p:cNvPr id="11" name="Oval 10"/>
          <p:cNvSpPr/>
          <p:nvPr/>
        </p:nvSpPr>
        <p:spPr>
          <a:xfrm>
            <a:off x="6336792" y="322783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306324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Sintetizar los tamaños del efecto: consistencias y discrepancias por constructo, outcome y población.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78231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461772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Evaluar la calidad metodológica (AMSTAR-2) y el solapamiento entre revisiones (CCA).</a:t>
            </a:r>
          </a:p>
        </p:txBody>
      </p:sp>
      <p:sp>
        <p:nvSpPr>
          <p:cNvPr id="15" name="Oval 14"/>
          <p:cNvSpPr/>
          <p:nvPr/>
        </p:nvSpPr>
        <p:spPr>
          <a:xfrm>
            <a:off x="6336792" y="4782312"/>
            <a:ext cx="603504" cy="60350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9752" y="4617720"/>
            <a:ext cx="4416552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Identificar lagunas en la evidencia y proponer líneas de investigación futura.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18" name="Oval 17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6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MÉTODO · DISEÑO Y 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Una revisión de revisiones (PECO)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167127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7" y="2084831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Diseño:</a:t>
            </a:r>
            <a:r>
              <a:rPr sz="1700" b="0">
                <a:solidFill>
                  <a:srgbClr val="4C4954"/>
                </a:solidFill>
                <a:latin typeface="Segoe UI"/>
              </a:rPr>
              <a:t> umbrella review. La unidad de análisis es el meta-análisis, no el estudio primario.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340156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7" y="3319272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Reporte:</a:t>
            </a:r>
            <a:r>
              <a:rPr sz="1700" b="0">
                <a:solidFill>
                  <a:srgbClr val="4C4954"/>
                </a:solidFill>
                <a:latin typeface="Segoe UI"/>
              </a:rPr>
              <a:t> PRISMA 2020 y PRIOR, guías específicas para revisiones de revisiones.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463600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7" y="4553712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2E2A3A"/>
                </a:solidFill>
                <a:latin typeface="Segoe UI Semibold"/>
              </a:rPr>
              <a:t>Pregunta:</a:t>
            </a:r>
            <a:r>
              <a:rPr sz="1700" b="0">
                <a:solidFill>
                  <a:srgbClr val="4C4954"/>
                </a:solidFill>
                <a:latin typeface="Segoe UI"/>
              </a:rPr>
              <a:t> formulada en formato PECO  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783080"/>
            <a:ext cx="5577840" cy="425196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214884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P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Población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14884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Contexto clínico o de salud: diagnóstico, enfermedad o riesgo. Umbral ≥ 75 %.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02895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E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Exposición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02895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Autoestima y/o autoconcepto, incluida la imagen corporal, con instrumentos validados.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90906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C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Comparador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90906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Flexible: implícito (correlacional) o grupo control (intervención).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789170"/>
            <a:ext cx="1645920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9079C8"/>
                </a:solidFill>
                <a:latin typeface="Segoe UI Semibold"/>
              </a:rPr>
              <a:t>O</a:t>
            </a:r>
          </a:p>
          <a:p>
            <a:pPr algn="l">
              <a:spcBef>
                <a:spcPts val="200"/>
              </a:spcBef>
            </a:pPr>
            <a:r>
              <a:rPr sz="1350" b="1">
                <a:solidFill>
                  <a:srgbClr val="9079C8"/>
                </a:solidFill>
                <a:latin typeface="Segoe UI Semibold"/>
              </a:rPr>
              <a:t>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89170"/>
            <a:ext cx="3291839" cy="880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Bienestar subjetivo, psicológico, HRQoL o salud mental general.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7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MÉTODO · BÚSQUEDA Y SELECCIÓN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Dónde y cómo busqué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5212080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704" y="2148840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07568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50" b="1">
                <a:solidFill>
                  <a:srgbClr val="2E2A3A"/>
                </a:solidFill>
                <a:latin typeface="Segoe UI Semibold"/>
              </a:rPr>
              <a:t>4 bases primarias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2624328"/>
            <a:ext cx="4590288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PubMed/MEDLINE · APA PsycInfo · Scopus · Web of Science.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0704" y="3538728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98448" y="3465576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50" b="1">
                <a:solidFill>
                  <a:srgbClr val="2E2A3A"/>
                </a:solidFill>
                <a:latin typeface="Segoe UI Semibold"/>
              </a:rPr>
              <a:t>+ 5 fuentes de literatura gris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4014215"/>
            <a:ext cx="459028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PROSPERO · OSF · Google Scholar · TESEO · ProQuest Dissertations.</a:t>
            </a:r>
          </a:p>
          <a:p>
            <a:pPr algn="l">
              <a:spcBef>
                <a:spcPts val="500"/>
              </a:spcBef>
            </a:pPr>
            <a:r>
              <a:rPr sz="1350" b="0" i="1">
                <a:solidFill>
                  <a:srgbClr val="9C99A6"/>
                </a:solidFill>
                <a:latin typeface="Segoe UI"/>
              </a:rPr>
              <a:t>Reduce el sesgo de publicación.</a:t>
            </a:r>
          </a:p>
        </p:txBody>
      </p:sp>
      <p:sp>
        <p:nvSpPr>
          <p:cNvPr id="13" name="Oval 12"/>
          <p:cNvSpPr/>
          <p:nvPr/>
        </p:nvSpPr>
        <p:spPr>
          <a:xfrm>
            <a:off x="6172200" y="198424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901952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50" b="1">
                <a:solidFill>
                  <a:srgbClr val="2E2A3A"/>
                </a:solidFill>
                <a:latin typeface="Segoe UI Semibold"/>
              </a:rPr>
              <a:t>Estrategia:</a:t>
            </a:r>
            <a:r>
              <a:rPr sz="1650" b="0">
                <a:solidFill>
                  <a:srgbClr val="4C4954"/>
                </a:solidFill>
                <a:latin typeface="Segoe UI"/>
              </a:rPr>
              <a:t> 3 bloques unidos por AND (exposición × outcome × diseño) y vocabulario controlado (MeSH, APA Thesaurus).</a:t>
            </a:r>
          </a:p>
        </p:txBody>
      </p:sp>
      <p:sp>
        <p:nvSpPr>
          <p:cNvPr id="15" name="Oval 14"/>
          <p:cNvSpPr/>
          <p:nvPr/>
        </p:nvSpPr>
        <p:spPr>
          <a:xfrm>
            <a:off x="6172200" y="340156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319272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50" b="1">
                <a:solidFill>
                  <a:srgbClr val="2E2A3A"/>
                </a:solidFill>
                <a:latin typeface="Segoe UI Semibold"/>
              </a:rPr>
              <a:t>Gestión:</a:t>
            </a:r>
            <a:r>
              <a:rPr sz="1650" b="0">
                <a:solidFill>
                  <a:srgbClr val="4C4954"/>
                </a:solidFill>
                <a:latin typeface="Segoe UI"/>
              </a:rPr>
              <a:t> todos los registros en Rayyan, con motivo de exclusión documentado.</a:t>
            </a:r>
          </a:p>
        </p:txBody>
      </p:sp>
      <p:sp>
        <p:nvSpPr>
          <p:cNvPr id="17" name="Oval 16"/>
          <p:cNvSpPr/>
          <p:nvPr/>
        </p:nvSpPr>
        <p:spPr>
          <a:xfrm>
            <a:off x="6172200" y="4658868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2992" y="4617720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650" b="1" dirty="0" err="1">
                <a:solidFill>
                  <a:srgbClr val="2E2A3A"/>
                </a:solidFill>
                <a:latin typeface="Segoe UI Semibold"/>
              </a:rPr>
              <a:t>Transparencia</a:t>
            </a:r>
            <a:r>
              <a:rPr sz="1650" b="1" dirty="0">
                <a:solidFill>
                  <a:srgbClr val="2E2A3A"/>
                </a:solidFill>
                <a:latin typeface="Segoe UI Semibold"/>
              </a:rPr>
              <a:t>: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cribado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y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extracción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por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revisora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única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→ se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reconoce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como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limitación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principal.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0" name="Oval 19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8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12843" y="521208"/>
            <a:ext cx="438134" cy="18288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3200"/>
          </a:p>
        </p:txBody>
      </p:sp>
      <p:sp>
        <p:nvSpPr>
          <p:cNvPr id="3" name="TextBox 2"/>
          <p:cNvSpPr txBox="1"/>
          <p:nvPr/>
        </p:nvSpPr>
        <p:spPr>
          <a:xfrm>
            <a:off x="116809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b="1" spc="140" dirty="0">
                <a:solidFill>
                  <a:srgbClr val="9079C8"/>
                </a:solidFill>
                <a:latin typeface="Segoe UI Semibold"/>
              </a:rPr>
              <a:t>RESULTADOS · EL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 dirty="0">
                <a:solidFill>
                  <a:srgbClr val="2E2A3A"/>
                </a:solidFill>
                <a:latin typeface="Segoe UI Semibold"/>
              </a:rPr>
              <a:t>13 meta-</a:t>
            </a:r>
            <a:r>
              <a:rPr sz="3000" b="0" dirty="0" err="1">
                <a:solidFill>
                  <a:srgbClr val="2E2A3A"/>
                </a:solidFill>
                <a:latin typeface="Segoe UI Semibold"/>
              </a:rPr>
              <a:t>análisis</a:t>
            </a:r>
            <a:endParaRPr sz="3000" b="0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141732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011680"/>
            <a:ext cx="341985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600" b="1">
                <a:solidFill>
                  <a:srgbClr val="9079C8"/>
                </a:solidFill>
                <a:latin typeface="Georgia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61488"/>
            <a:ext cx="341985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4C4954"/>
                </a:solidFill>
                <a:latin typeface="Segoe UI"/>
              </a:rPr>
              <a:t>meta-análisis incluidos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71416" y="1783080"/>
            <a:ext cx="3419856" cy="141732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71416" y="2011680"/>
            <a:ext cx="341985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600" b="1">
                <a:solidFill>
                  <a:srgbClr val="9079C8"/>
                </a:solidFill>
                <a:latin typeface="Georgia"/>
              </a:rPr>
              <a:t>~415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2761488"/>
            <a:ext cx="341985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4C4954"/>
                </a:solidFill>
                <a:latin typeface="Segoe UI"/>
              </a:rPr>
              <a:t>estudios primarios agregados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3024" y="1783080"/>
            <a:ext cx="3419856" cy="141732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93024" y="2011680"/>
            <a:ext cx="341985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600" b="1">
                <a:solidFill>
                  <a:srgbClr val="9079C8"/>
                </a:solidFill>
                <a:latin typeface="Georgia"/>
              </a:rPr>
              <a:t>7 – 114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2761488"/>
            <a:ext cx="341985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4C4954"/>
                </a:solidFill>
                <a:latin typeface="Segoe UI"/>
              </a:rPr>
              <a:t>rango de k (mediana 19)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5204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1" spc="120">
                <a:solidFill>
                  <a:srgbClr val="9079C8"/>
                </a:solidFill>
                <a:latin typeface="Segoe UI Semibold"/>
              </a:rPr>
              <a:t>POBLACIONES CUBIERTAS  (2018–2026)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92277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Trastornos psiquiátricos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3950208"/>
            <a:ext cx="3886200" cy="20116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07807" y="39227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06824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Obesidad infantojuvenil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4334256"/>
            <a:ext cx="2331720" cy="20116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3328" y="430682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69087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Salud reproductiva / trans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4718304"/>
            <a:ext cx="1554480" cy="201168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76088" y="469087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0749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Salud orofacial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11880" y="5102352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CBB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98848" y="50749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45896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Víctimas de violencia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1880" y="5486400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CBB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98848" y="545896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84301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4C4954"/>
                </a:solidFill>
                <a:latin typeface="Segoe UI"/>
              </a:rPr>
              <a:t>Baja autoestima clínica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11880" y="5870448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CBB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98848" y="58430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1">
                <a:solidFill>
                  <a:srgbClr val="9079C8"/>
                </a:solidFill>
                <a:latin typeface="Segoe UI Semibold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35" name="Oval 34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dirty="0">
                <a:solidFill>
                  <a:srgbClr val="9C99A6"/>
                </a:solidFill>
                <a:latin typeface="Segoe UI"/>
              </a:rPr>
              <a:t>9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RESULTADOS ·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La calidad del corpus pide cautela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203911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Alta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205740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75304" y="203911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4C4954"/>
                </a:solidFill>
                <a:latin typeface="Segoe UI"/>
              </a:rPr>
              <a:t>1   8 %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97479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Moderada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0924" y="2697479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s-ES" sz="1350" b="0" dirty="0">
                <a:latin typeface="Segoe UI"/>
              </a:rPr>
              <a:t>0</a:t>
            </a:r>
            <a:endParaRPr sz="1350" b="0" dirty="0">
              <a:latin typeface="Segoe U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9808" y="3355847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Baja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3374135"/>
            <a:ext cx="3401568" cy="27432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9943" y="3355847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4C4954"/>
                </a:solidFill>
                <a:latin typeface="Segoe UI"/>
              </a:rPr>
              <a:t>6   46 %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014215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E2A3A"/>
                </a:solidFill>
                <a:latin typeface="Segoe UI Semibold"/>
              </a:rPr>
              <a:t>Críticamente baja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4032503"/>
            <a:ext cx="3401568" cy="274320"/>
          </a:xfrm>
          <a:prstGeom prst="roundRect">
            <a:avLst>
              <a:gd name="adj" fmla="val 50000"/>
            </a:avLst>
          </a:prstGeom>
          <a:solidFill>
            <a:srgbClr val="C98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9943" y="4014215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4C4954"/>
                </a:solidFill>
                <a:latin typeface="Segoe UI"/>
              </a:rPr>
              <a:t>6   46 %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1874519"/>
            <a:ext cx="2926080" cy="3017520"/>
          </a:xfrm>
          <a:prstGeom prst="roundRect">
            <a:avLst>
              <a:gd name="adj" fmla="val 6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9640" y="224028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300" b="1">
                <a:solidFill>
                  <a:srgbClr val="FFFFFF"/>
                </a:solidFill>
                <a:latin typeface="Georgia"/>
              </a:rPr>
              <a:t>12 de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310896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</a:pPr>
            <a:r>
              <a:rPr sz="1350" b="0">
                <a:solidFill>
                  <a:srgbClr val="FFFFFF"/>
                </a:solidFill>
                <a:latin typeface="Segoe UI"/>
              </a:rPr>
              <a:t>con calidad Baja o Críticamente baja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3977639"/>
            <a:ext cx="2194560" cy="10972"/>
          </a:xfrm>
          <a:prstGeom prst="rect">
            <a:avLst/>
          </a:prstGeom>
          <a:solidFill>
            <a:srgbClr val="C9B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23960" y="416052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1">
                <a:solidFill>
                  <a:srgbClr val="EDE9F8"/>
                </a:solidFill>
                <a:latin typeface="Segoe UI Semibold"/>
              </a:rPr>
              <a:t>CCA = 1,4 %  ·  solapamiento leve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257800"/>
            <a:ext cx="7315200" cy="777240"/>
          </a:xfrm>
          <a:prstGeom prst="roundRect">
            <a:avLst>
              <a:gd name="adj" fmla="val 8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9808" y="5257800"/>
            <a:ext cx="82296" cy="77724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42415" y="541324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Las conclusiones requieren cautela: el patrón general se sostiene, pero las magnitudes pueden estar sobreestimadas.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6" name="Oval 25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0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RESULTADOS · SÍNTESIS POR BLOQUES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Cinco bloques temáticos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42032" y="1965960"/>
            <a:ext cx="1444752" cy="310896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Segoe UI Semibold"/>
              </a:rPr>
              <a:t>★ Hallazgo más robusto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84248"/>
            <a:ext cx="16824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9079C8"/>
                </a:solidFill>
                <a:latin typeface="Segoe UI Semibold"/>
              </a:rPr>
              <a:t>BLOQUE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Autoestima y salud mental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6207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Baja autoestima ↔ ideación y conducta suicida (Buecker, 2025). COMET y TCC-Fennell.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5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 dirty="0">
                <a:solidFill>
                  <a:srgbClr val="9079C8"/>
                </a:solidFill>
                <a:latin typeface="Segoe UI Semibold"/>
              </a:rPr>
              <a:t>r −,26 a −,44 · k 114 · AMSTAR-2 Alta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1416" y="178308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E4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8" y="198424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6E86A8"/>
                </a:solidFill>
                <a:latin typeface="Segoe UI Semibold"/>
              </a:rPr>
              <a:t>BLOQUE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28600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Autoestima y salud somática / CdV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86207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Intervención psicológica en SOP y tratamiento de la deformidad dentofacial.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356615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6E86A8"/>
                </a:solidFill>
                <a:latin typeface="Segoe UI Semibold"/>
              </a:rPr>
              <a:t>Mejoras en imagen, depresión y CdV (certeza baja).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178308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F3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49056" y="198424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B49A6A"/>
                </a:solidFill>
                <a:latin typeface="Segoe UI Semibold"/>
              </a:rPr>
              <a:t>BLOQUE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228600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Obesidad pediátrica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286207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La actividad física estructurada mejora a la vez autoestima, imagen corporal y ánimo.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356615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B49A6A"/>
                </a:solidFill>
                <a:latin typeface="Segoe UI Semibold"/>
              </a:rPr>
              <a:t>SMD ≈ 0,34 autoestima · 0,47 imagen.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16052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F6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36168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>
                <a:solidFill>
                  <a:srgbClr val="C98998"/>
                </a:solidFill>
                <a:latin typeface="Segoe UI Semibold"/>
              </a:rPr>
              <a:t>BLOQUE 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66344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Imagen corporal en trastornos clínicos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23951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C4954"/>
                </a:solidFill>
                <a:latin typeface="Segoe UI"/>
              </a:rPr>
              <a:t>Exposición corporal (TCA/TDC) y atención de afirmación de género (TGD).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59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C98998"/>
                </a:solidFill>
                <a:latin typeface="Segoe UI Semibold"/>
              </a:rPr>
              <a:t>g −,46 a −,99 en body dissatisfaction.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71416" y="416052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D8E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27448" y="4361688"/>
            <a:ext cx="296265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spc="100" dirty="0">
                <a:solidFill>
                  <a:srgbClr val="81C193"/>
                </a:solidFill>
                <a:latin typeface="Segoe UI Semibold"/>
              </a:rPr>
              <a:t>BLOQUE 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27448" y="4663440"/>
            <a:ext cx="290779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E2A3A"/>
                </a:solidFill>
                <a:latin typeface="Segoe UI Semibold"/>
              </a:rPr>
              <a:t>Autoestima como mecanismo mediador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7448" y="5239512"/>
            <a:ext cx="290779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150" b="0" dirty="0">
                <a:solidFill>
                  <a:srgbClr val="4C4954"/>
                </a:solidFill>
                <a:latin typeface="Segoe UI"/>
              </a:rPr>
              <a:t>MASEM (k=82): media la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relación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estigma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internalizado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→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calidad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 de </a:t>
            </a:r>
            <a:r>
              <a:rPr sz="1150" b="0" dirty="0" err="1">
                <a:solidFill>
                  <a:srgbClr val="4C4954"/>
                </a:solidFill>
                <a:latin typeface="Segoe UI"/>
              </a:rPr>
              <a:t>vida</a:t>
            </a:r>
            <a:r>
              <a:rPr sz="1150" b="0" dirty="0">
                <a:solidFill>
                  <a:srgbClr val="4C4954"/>
                </a:solidFill>
                <a:latin typeface="Segoe UI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8868" y="5943599"/>
            <a:ext cx="290779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1" dirty="0" err="1">
                <a:solidFill>
                  <a:srgbClr val="81C193"/>
                </a:solidFill>
                <a:latin typeface="Segoe UI Semibold"/>
              </a:rPr>
              <a:t>Efecto</a:t>
            </a:r>
            <a:r>
              <a:rPr sz="1100" b="1" dirty="0">
                <a:solidFill>
                  <a:srgbClr val="81C193"/>
                </a:solidFill>
                <a:latin typeface="Segoe UI Semibold"/>
              </a:rPr>
              <a:t> </a:t>
            </a:r>
            <a:r>
              <a:rPr sz="1100" b="1" dirty="0" err="1">
                <a:solidFill>
                  <a:srgbClr val="81C193"/>
                </a:solidFill>
                <a:latin typeface="Segoe UI Semibold"/>
              </a:rPr>
              <a:t>indirecto</a:t>
            </a:r>
            <a:r>
              <a:rPr sz="1100" b="1" dirty="0">
                <a:solidFill>
                  <a:srgbClr val="81C193"/>
                </a:solidFill>
                <a:latin typeface="Segoe UI Semibold"/>
              </a:rPr>
              <a:t> β = −,189</a:t>
            </a:r>
            <a:r>
              <a:rPr lang="es-ES" sz="1100" b="1" dirty="0">
                <a:solidFill>
                  <a:srgbClr val="9079C8"/>
                </a:solidFill>
                <a:latin typeface="Segoe UI Semibold"/>
              </a:rPr>
              <a:t>.</a:t>
            </a:r>
            <a:endParaRPr sz="1100" b="1" dirty="0">
              <a:solidFill>
                <a:srgbClr val="9079C8"/>
              </a:solidFill>
              <a:latin typeface="Segoe UI Semibold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193024" y="4160520"/>
            <a:ext cx="3419856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67344" y="4617720"/>
            <a:ext cx="2871216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2E2A3A"/>
                </a:solidFill>
                <a:latin typeface="Segoe UI Semibold"/>
              </a:rPr>
              <a:t>Transversal: </a:t>
            </a:r>
            <a:r>
              <a:rPr sz="1300" b="0">
                <a:solidFill>
                  <a:srgbClr val="4C4954"/>
                </a:solidFill>
                <a:latin typeface="Segoe UI"/>
              </a:rPr>
              <a:t>la dirección de los efectos es consistente entre bloques pese a poblaciones y métricas distintas.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35" name="Oval 34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1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 dirty="0">
                <a:solidFill>
                  <a:srgbClr val="9079C8"/>
                </a:solidFill>
                <a:latin typeface="Segoe UI Semibold"/>
              </a:rPr>
              <a:t>DISCUSIÓN · MENSAJES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 dirty="0" err="1">
                <a:solidFill>
                  <a:srgbClr val="2E2A3A"/>
                </a:solidFill>
                <a:latin typeface="Segoe UI Semibold"/>
              </a:rPr>
              <a:t>Conclusiones</a:t>
            </a:r>
            <a:endParaRPr sz="3000" b="0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7" y="20939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73936" y="20391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>
                <a:solidFill>
                  <a:srgbClr val="4C4954"/>
                </a:solidFill>
                <a:latin typeface="Segoe UI"/>
              </a:rPr>
              <a:t>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autoestima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predice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salud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mental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clínica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(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moderado-fuerte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), con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su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máximo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suicidalidad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6792" y="17830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11112" y="20939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0391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>
                <a:solidFill>
                  <a:srgbClr val="4C4954"/>
                </a:solidFill>
                <a:latin typeface="Segoe UI"/>
              </a:rPr>
              <a:t>Las intervenciones sobre la autoestima funcionan (g 0,20–0,50) y arrastran mejoras en la depresión comórbida.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8404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24127" y="41513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3936" y="40965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>
                <a:solidFill>
                  <a:srgbClr val="4C4954"/>
                </a:solidFill>
                <a:latin typeface="Segoe UI"/>
              </a:rPr>
              <a:t>Cuerpo, imagen y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autoestima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van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juntos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; la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obesidad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pediátrica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es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el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ejemplo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más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maduro.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6792" y="3840480"/>
            <a:ext cx="5285232" cy="1783080"/>
          </a:xfrm>
          <a:prstGeom prst="roundRect">
            <a:avLst>
              <a:gd name="adj" fmla="val 6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611112" y="4151376"/>
            <a:ext cx="566928" cy="566928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096512"/>
            <a:ext cx="3986784" cy="1325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6000"/>
              </a:lnSpc>
            </a:pPr>
            <a:r>
              <a:rPr sz="1650" b="0" dirty="0">
                <a:solidFill>
                  <a:srgbClr val="4C4954"/>
                </a:solidFill>
                <a:latin typeface="Segoe UI"/>
              </a:rPr>
              <a:t>La imagen corporal es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modificable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con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intervenciones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específicas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en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poblaciones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 </a:t>
            </a:r>
            <a:r>
              <a:rPr sz="1650" b="0" dirty="0" err="1">
                <a:solidFill>
                  <a:srgbClr val="4C4954"/>
                </a:solidFill>
                <a:latin typeface="Segoe UI"/>
              </a:rPr>
              <a:t>clínicas</a:t>
            </a:r>
            <a:r>
              <a:rPr sz="1650" b="0" dirty="0">
                <a:solidFill>
                  <a:srgbClr val="4C4954"/>
                </a:solidFill>
                <a:latin typeface="Segoe UI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806440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1">
                <a:solidFill>
                  <a:srgbClr val="9C99A6"/>
                </a:solidFill>
                <a:latin typeface="Segoe UI"/>
              </a:rPr>
              <a:t>Coherente con Zell &amp; Johansson (2025) para salud mental (r ≈ ,42), pero con foco y matiz clínico.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 err="1">
                <a:solidFill>
                  <a:srgbClr val="9C99A6"/>
                </a:solidFill>
                <a:latin typeface="Segoe UI"/>
              </a:rPr>
              <a:t>Autoestima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, </a:t>
            </a:r>
            <a:r>
              <a:rPr sz="1050" b="0" dirty="0" err="1">
                <a:solidFill>
                  <a:srgbClr val="9C99A6"/>
                </a:solidFill>
                <a:latin typeface="Segoe UI"/>
              </a:rPr>
              <a:t>autoconcepto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y </a:t>
            </a:r>
            <a:r>
              <a:rPr sz="1050" b="0" dirty="0" err="1">
                <a:solidFill>
                  <a:srgbClr val="9C99A6"/>
                </a:solidFill>
                <a:latin typeface="Segoe UI"/>
              </a:rPr>
              <a:t>bienestar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  ·   D. Antoneac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2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  <p:sp>
        <p:nvSpPr>
          <p:cNvPr id="22" name="Rounded Rectangle 1">
            <a:extLst>
              <a:ext uri="{FF2B5EF4-FFF2-40B4-BE49-F238E27FC236}">
                <a16:creationId xmlns:a16="http://schemas.microsoft.com/office/drawing/2014/main" id="{3CD8A53B-BDA9-818A-45A5-E6950855AB3C}"/>
              </a:ext>
            </a:extLst>
          </p:cNvPr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Oval 34">
            <a:extLst>
              <a:ext uri="{FF2B5EF4-FFF2-40B4-BE49-F238E27FC236}">
                <a16:creationId xmlns:a16="http://schemas.microsoft.com/office/drawing/2014/main" id="{CFC21AAE-3A51-B48F-E51A-1FD98532C3B5}"/>
              </a:ext>
            </a:extLst>
          </p:cNvPr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 dirty="0">
                <a:solidFill>
                  <a:srgbClr val="9079C8"/>
                </a:solidFill>
                <a:latin typeface="Segoe UI Semibold"/>
              </a:rPr>
              <a:t>DISCUSIÓN · IMPLICACIONES CLÍNICAS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Tres implicaciones para la práctica clínica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7" y="2057400"/>
            <a:ext cx="287121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9079C8"/>
                </a:solidFill>
                <a:latin typeface="Georgia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7" y="2834639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61872" y="2761488"/>
            <a:ext cx="268833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2E2A3A"/>
                </a:solidFill>
                <a:latin typeface="Segoe UI Semibold"/>
              </a:rPr>
              <a:t>Diana de intervención valiosa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3474720"/>
            <a:ext cx="2871216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La autoestima se modifica con psicoterapia (COMET, TCC de Fennell, protocolos para TCA), con beneficio modesto pero consistente.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6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45736" y="2057400"/>
            <a:ext cx="287121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9079C8"/>
                </a:solidFill>
                <a:latin typeface="Georgia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45736" y="2834639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83480" y="2761488"/>
            <a:ext cx="268833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2E2A3A"/>
                </a:solidFill>
                <a:latin typeface="Segoe UI Semibold"/>
              </a:rPr>
              <a:t>Integrar cuerpo, imagen y autoestima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3474720"/>
            <a:ext cx="2871216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En salud física y condiciones que afectan al cuerpo, imagen y autoestima son dianas, no solo desenlaces secundarios.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783080"/>
            <a:ext cx="3419856" cy="416052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67344" y="2057400"/>
            <a:ext cx="287121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9079C8"/>
                </a:solidFill>
                <a:latin typeface="Georgia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67344" y="2834639"/>
            <a:ext cx="137160" cy="137160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05088" y="2761488"/>
            <a:ext cx="268833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1450" b="1">
                <a:solidFill>
                  <a:srgbClr val="2E2A3A"/>
                </a:solidFill>
                <a:latin typeface="Segoe UI Semibold"/>
              </a:rPr>
              <a:t>Cribado en prevención del suicidio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4" y="3474720"/>
            <a:ext cx="2871216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4C4954"/>
                </a:solidFill>
                <a:latin typeface="Segoe UI"/>
              </a:rPr>
              <a:t>Medir la autoestima (RSES) e intervenir sobre ella refuerza los programas de prevención en poblaciones de riesgo.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3 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LIMITACIONES · Y LÍNEAS FUTURAS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Lo que hay que tener en cuenta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19856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1024127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264261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s-ES" sz="1550" b="1" dirty="0">
                <a:solidFill>
                  <a:srgbClr val="2E2A3A"/>
                </a:solidFill>
                <a:latin typeface="Segoe UI Semibold"/>
              </a:rPr>
              <a:t>Limitaciones d</a:t>
            </a:r>
            <a:r>
              <a:rPr sz="1550" b="1" dirty="0">
                <a:solidFill>
                  <a:srgbClr val="2E2A3A"/>
                </a:solidFill>
                <a:latin typeface="Segoe UI Semibold"/>
              </a:rPr>
              <a:t>e la </a:t>
            </a:r>
            <a:r>
              <a:rPr sz="1550" b="1" dirty="0" err="1">
                <a:solidFill>
                  <a:srgbClr val="2E2A3A"/>
                </a:solidFill>
                <a:latin typeface="Segoe UI Semibold"/>
              </a:rPr>
              <a:t>evidencia</a:t>
            </a:r>
            <a:endParaRPr sz="1550"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42415" y="276148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267919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12 de 13 con AMSTAR-2 baja o crítica</a:t>
            </a:r>
          </a:p>
        </p:txBody>
      </p:sp>
      <p:sp>
        <p:nvSpPr>
          <p:cNvPr id="11" name="Oval 10"/>
          <p:cNvSpPr/>
          <p:nvPr/>
        </p:nvSpPr>
        <p:spPr>
          <a:xfrm>
            <a:off x="1042415" y="349300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341071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Heterogeneidad de instrumentos y métricas</a:t>
            </a:r>
          </a:p>
        </p:txBody>
      </p:sp>
      <p:sp>
        <p:nvSpPr>
          <p:cNvPr id="13" name="Oval 12"/>
          <p:cNvSpPr/>
          <p:nvPr/>
        </p:nvSpPr>
        <p:spPr>
          <a:xfrm>
            <a:off x="1042415" y="422452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414223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Cobertura desigual: a veces 1 revisión por bloque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71416" y="1783080"/>
            <a:ext cx="3419856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45736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1768" y="2039112"/>
            <a:ext cx="264261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s-ES" sz="1550" b="1" dirty="0" err="1">
                <a:solidFill>
                  <a:srgbClr val="2E2A3A"/>
                </a:solidFill>
                <a:latin typeface="Segoe UI Semibold"/>
              </a:rPr>
              <a:t>Limitacciones</a:t>
            </a:r>
            <a:r>
              <a:rPr lang="es-ES" sz="1550" b="1" dirty="0">
                <a:solidFill>
                  <a:srgbClr val="2E2A3A"/>
                </a:solidFill>
                <a:latin typeface="Segoe UI Semibold"/>
              </a:rPr>
              <a:t> d</a:t>
            </a:r>
            <a:r>
              <a:rPr sz="1550" b="1" dirty="0" err="1">
                <a:solidFill>
                  <a:srgbClr val="2E2A3A"/>
                </a:solidFill>
                <a:latin typeface="Segoe UI Semibold"/>
              </a:rPr>
              <a:t>el</a:t>
            </a:r>
            <a:r>
              <a:rPr sz="1550" b="1" dirty="0">
                <a:solidFill>
                  <a:srgbClr val="2E2A3A"/>
                </a:solidFill>
                <a:latin typeface="Segoe UI Semibold"/>
              </a:rPr>
              <a:t> </a:t>
            </a:r>
            <a:r>
              <a:rPr sz="1550" b="1" dirty="0" err="1">
                <a:solidFill>
                  <a:srgbClr val="2E2A3A"/>
                </a:solidFill>
                <a:latin typeface="Segoe UI Semibold"/>
              </a:rPr>
              <a:t>proceso</a:t>
            </a:r>
            <a:endParaRPr sz="1550" b="1" dirty="0">
              <a:solidFill>
                <a:srgbClr val="2E2A3A"/>
              </a:solidFill>
              <a:latin typeface="Segoe UI Semibold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764024" y="276148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1768" y="267919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Revisora única en todo el proceso</a:t>
            </a:r>
          </a:p>
        </p:txBody>
      </p:sp>
      <p:sp>
        <p:nvSpPr>
          <p:cNvPr id="20" name="Oval 19"/>
          <p:cNvSpPr/>
          <p:nvPr/>
        </p:nvSpPr>
        <p:spPr>
          <a:xfrm>
            <a:off x="4764024" y="349300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01768" y="341071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Idiomas inglés / español</a:t>
            </a:r>
          </a:p>
        </p:txBody>
      </p:sp>
      <p:sp>
        <p:nvSpPr>
          <p:cNvPr id="22" name="Oval 21"/>
          <p:cNvSpPr/>
          <p:nvPr/>
        </p:nvSpPr>
        <p:spPr>
          <a:xfrm>
            <a:off x="4764024" y="422452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01768" y="414223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Ventana temporal 2016–2026</a:t>
            </a:r>
          </a:p>
        </p:txBody>
      </p:sp>
      <p:sp>
        <p:nvSpPr>
          <p:cNvPr id="24" name="Oval 23"/>
          <p:cNvSpPr/>
          <p:nvPr/>
        </p:nvSpPr>
        <p:spPr>
          <a:xfrm>
            <a:off x="4764024" y="495604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01768" y="487375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Sin gradación formal GRADE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93024" y="1783080"/>
            <a:ext cx="3419856" cy="4206240"/>
          </a:xfrm>
          <a:prstGeom prst="roundRect">
            <a:avLst>
              <a:gd name="adj" fmla="val 5000"/>
            </a:avLst>
          </a:prstGeom>
          <a:solidFill>
            <a:srgbClr val="EF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467344" y="2112264"/>
            <a:ext cx="146304" cy="146304"/>
          </a:xfrm>
          <a:prstGeom prst="rect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23376" y="2039112"/>
            <a:ext cx="264261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2E2A3A"/>
                </a:solidFill>
                <a:latin typeface="Segoe UI Semibold"/>
              </a:rPr>
              <a:t>Líneas futuras</a:t>
            </a:r>
          </a:p>
        </p:txBody>
      </p:sp>
      <p:sp>
        <p:nvSpPr>
          <p:cNvPr id="29" name="Oval 28"/>
          <p:cNvSpPr/>
          <p:nvPr/>
        </p:nvSpPr>
        <p:spPr>
          <a:xfrm>
            <a:off x="8485632" y="276148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23376" y="267919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Meta-análisis prerregistrados y mejor reportados</a:t>
            </a:r>
          </a:p>
        </p:txBody>
      </p:sp>
      <p:sp>
        <p:nvSpPr>
          <p:cNvPr id="31" name="Oval 30"/>
          <p:cNvSpPr/>
          <p:nvPr/>
        </p:nvSpPr>
        <p:spPr>
          <a:xfrm>
            <a:off x="8485632" y="349300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23376" y="341071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Estudios longitudinales (causalidad)</a:t>
            </a:r>
          </a:p>
        </p:txBody>
      </p:sp>
      <p:sp>
        <p:nvSpPr>
          <p:cNvPr id="33" name="Oval 32"/>
          <p:cNvSpPr/>
          <p:nvPr/>
        </p:nvSpPr>
        <p:spPr>
          <a:xfrm>
            <a:off x="8485632" y="422452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23376" y="414223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Autoconcepto multidimensional</a:t>
            </a:r>
          </a:p>
        </p:txBody>
      </p:sp>
      <p:sp>
        <p:nvSpPr>
          <p:cNvPr id="35" name="Oval 34"/>
          <p:cNvSpPr/>
          <p:nvPr/>
        </p:nvSpPr>
        <p:spPr>
          <a:xfrm>
            <a:off x="8485632" y="4956047"/>
            <a:ext cx="91440" cy="91440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723376" y="4873751"/>
            <a:ext cx="2633472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4C4954"/>
                </a:solidFill>
                <a:latin typeface="Segoe UI"/>
              </a:rPr>
              <a:t>Personas mayores y contextos no occidentales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38" name="Oval 37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4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9808" y="566928"/>
            <a:ext cx="310896" cy="91440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50" b="1" spc="140">
                <a:solidFill>
                  <a:srgbClr val="9079C8"/>
                </a:solidFill>
                <a:latin typeface="Segoe UI Semibold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000" b="0">
                <a:solidFill>
                  <a:srgbClr val="2E2A3A"/>
                </a:solidFill>
                <a:latin typeface="Segoe UI Semibold"/>
              </a:rPr>
              <a:t>En una frase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4592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2E2A3A"/>
                </a:solidFill>
                <a:latin typeface="Segoe UI"/>
              </a:rPr>
              <a:t>Con la cautela que impone la calidad del corpus, la evidencia apoya que la </a:t>
            </a:r>
            <a:r>
              <a:rPr sz="2000" b="1">
                <a:solidFill>
                  <a:srgbClr val="6E57B0"/>
                </a:solidFill>
                <a:latin typeface="Segoe UI Semibold"/>
              </a:rPr>
              <a:t>autoestima y el autoconcepto no son desenlaces secundarios, sino objetivos de intervención valiosos</a:t>
            </a:r>
            <a:r>
              <a:rPr sz="2000" b="0">
                <a:solidFill>
                  <a:srgbClr val="2E2A3A"/>
                </a:solidFill>
                <a:latin typeface="Segoe UI"/>
              </a:rPr>
              <a:t> en psicología clínica y de la salud.</a:t>
            </a:r>
          </a:p>
        </p:txBody>
      </p:sp>
      <p:sp>
        <p:nvSpPr>
          <p:cNvPr id="7" name="Oval 6"/>
          <p:cNvSpPr/>
          <p:nvPr/>
        </p:nvSpPr>
        <p:spPr>
          <a:xfrm>
            <a:off x="768096" y="384962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2415" y="3767328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Baja autoestima ↔ suicidalidad: el hallazgo más robusto.</a:t>
            </a:r>
          </a:p>
        </p:txBody>
      </p:sp>
      <p:sp>
        <p:nvSpPr>
          <p:cNvPr id="9" name="Oval 8"/>
          <p:cNvSpPr/>
          <p:nvPr/>
        </p:nvSpPr>
        <p:spPr>
          <a:xfrm>
            <a:off x="768096" y="4690872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2415" y="4608576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Las intervenciones sobre la autoestima son eficaces.</a:t>
            </a:r>
          </a:p>
        </p:txBody>
      </p:sp>
      <p:sp>
        <p:nvSpPr>
          <p:cNvPr id="11" name="Oval 10"/>
          <p:cNvSpPr/>
          <p:nvPr/>
        </p:nvSpPr>
        <p:spPr>
          <a:xfrm>
            <a:off x="768096" y="5532120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42415" y="5449824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actividad física mejora autoestima e imagen en obesidad infantojuvenil.</a:t>
            </a:r>
          </a:p>
        </p:txBody>
      </p:sp>
      <p:sp>
        <p:nvSpPr>
          <p:cNvPr id="13" name="Oval 12"/>
          <p:cNvSpPr/>
          <p:nvPr/>
        </p:nvSpPr>
        <p:spPr>
          <a:xfrm>
            <a:off x="6355080" y="3849624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3767328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imagen corporal es modificable en poblaciones clínicas.</a:t>
            </a:r>
          </a:p>
        </p:txBody>
      </p:sp>
      <p:sp>
        <p:nvSpPr>
          <p:cNvPr id="15" name="Oval 14"/>
          <p:cNvSpPr/>
          <p:nvPr/>
        </p:nvSpPr>
        <p:spPr>
          <a:xfrm>
            <a:off x="6355080" y="4690872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4608576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4C4954"/>
                </a:solidFill>
                <a:latin typeface="Segoe UI"/>
              </a:rPr>
              <a:t>La autoestima media la relación estigma → calidad de vida.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5532120"/>
            <a:ext cx="100584" cy="100584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5449824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2E2A3A"/>
                </a:solidFill>
                <a:latin typeface="Segoe UI Semibold"/>
              </a:rPr>
              <a:t>Justifica integrar estos constructos en los protocolos de tratamiento.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9C99A6"/>
                </a:solidFill>
                <a:latin typeface="Segoe UI"/>
              </a:rPr>
              <a:t>Autoestima, autoconcepto y bienestar   ·   D. Antoneac</a:t>
            </a:r>
          </a:p>
        </p:txBody>
      </p:sp>
      <p:sp>
        <p:nvSpPr>
          <p:cNvPr id="20" name="Oval 19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 dirty="0">
                <a:solidFill>
                  <a:srgbClr val="9C99A6"/>
                </a:solidFill>
                <a:latin typeface="Segoe UI"/>
              </a:rPr>
              <a:t>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5</a:t>
            </a:r>
            <a:r>
              <a:rPr sz="1050" b="0" dirty="0">
                <a:solidFill>
                  <a:srgbClr val="9C99A6"/>
                </a:solidFill>
                <a:latin typeface="Segoe UI"/>
              </a:rPr>
              <a:t> / 1</a:t>
            </a:r>
            <a:r>
              <a:rPr lang="es-ES" sz="1050" b="0" dirty="0">
                <a:solidFill>
                  <a:srgbClr val="9C99A6"/>
                </a:solidFill>
                <a:latin typeface="Segoe UI"/>
              </a:rPr>
              <a:t>6</a:t>
            </a:r>
            <a:endParaRPr sz="1050" b="0" dirty="0">
              <a:solidFill>
                <a:srgbClr val="9C99A6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96528" y="3307080"/>
            <a:ext cx="4206240" cy="4206240"/>
          </a:xfrm>
          <a:prstGeom prst="ellipse">
            <a:avLst/>
          </a:prstGeom>
          <a:solidFill>
            <a:srgbClr val="9079C8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59536" y="2331720"/>
            <a:ext cx="1188720" cy="77724"/>
          </a:xfrm>
          <a:prstGeom prst="roundRect">
            <a:avLst>
              <a:gd name="adj" fmla="val 50000"/>
            </a:avLst>
          </a:prstGeom>
          <a:solidFill>
            <a:srgbClr val="907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4100" b="0">
                <a:solidFill>
                  <a:srgbClr val="2E2A3A"/>
                </a:solidFill>
                <a:latin typeface="Georgia"/>
              </a:rPr>
              <a:t>Gracias por su atención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7033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0">
                <a:solidFill>
                  <a:srgbClr val="4C4954"/>
                </a:solidFill>
                <a:latin typeface="Segoe UI"/>
              </a:rPr>
              <a:t>Quedo a su disposición para sus preguntas.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89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>
                <a:solidFill>
                  <a:srgbClr val="9C99A6"/>
                </a:solidFill>
                <a:latin typeface="Segoe UI"/>
              </a:rPr>
              <a:t>Denisa Antoneac   ·   Tutora: Raquel Rodríguez Carvajal   ·   Universidad Autónoma de Madrid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6000" y="528066"/>
            <a:ext cx="374902" cy="176022"/>
          </a:xfrm>
          <a:prstGeom prst="roundRect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7007" y="45720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9079C8"/>
                </a:solidFill>
              </a:rPr>
              <a:t>INDICE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841248"/>
            <a:ext cx="1072591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2E2A3A"/>
                </a:solidFill>
              </a:rPr>
              <a:t>Estructura de la presentacion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63040"/>
            <a:ext cx="10725912" cy="13716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20000"/>
            <a:ext cx="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9079C8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9808" y="1660000"/>
            <a:ext cx="464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2A3A"/>
                </a:solidFill>
              </a:rPr>
              <a:t>Marco Teorico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9808" y="1960000"/>
            <a:ext cx="464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C4954"/>
                </a:solidFill>
              </a:rPr>
              <a:t>El self, autoestima, autoconcepto y bienestar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350000"/>
            <a:ext cx="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9079C8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9808" y="2390000"/>
            <a:ext cx="464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2A3A"/>
                </a:solidFill>
              </a:rPr>
              <a:t>Justificacion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9808" y="2690000"/>
            <a:ext cx="464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C4954"/>
                </a:solidFill>
              </a:rPr>
              <a:t>Por que este trabajo y que anade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080000"/>
            <a:ext cx="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9079C8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9808" y="3120000"/>
            <a:ext cx="464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2A3A"/>
                </a:solidFill>
              </a:rPr>
              <a:t>Objetivos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9808" y="3420000"/>
            <a:ext cx="464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C4954"/>
                </a:solidFill>
              </a:rPr>
              <a:t>General y cuatro especificos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0000" y="1620000"/>
            <a:ext cx="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9079C8"/>
                </a:solidFill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0000" y="1660000"/>
            <a:ext cx="464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2A3A"/>
                </a:solidFill>
              </a:rPr>
              <a:t>Metodo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60000" y="1960000"/>
            <a:ext cx="464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C4954"/>
                </a:solidFill>
              </a:rPr>
              <a:t>Diseno PECO, busqueda y seleccion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0000" y="2350000"/>
            <a:ext cx="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9079C8"/>
                </a:solidFill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0000" y="2390000"/>
            <a:ext cx="464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2A3A"/>
                </a:solidFill>
              </a:rPr>
              <a:t>Resultados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60000" y="2690000"/>
            <a:ext cx="464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C4954"/>
                </a:solidFill>
              </a:rPr>
              <a:t>Corpus, calidad AMSTAR-2 y sintesis por bloques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0000" y="3080000"/>
            <a:ext cx="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9079C8"/>
                </a:solidFill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0000" y="3120000"/>
            <a:ext cx="464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2A3A"/>
                </a:solidFill>
              </a:rPr>
              <a:t>Discusion y Conclusiones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0000" y="3420000"/>
            <a:ext cx="464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C4954"/>
                </a:solidFill>
              </a:rPr>
              <a:t>Implicaciones clinicas, limitaciones y lineas futuras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00000" y="1620000"/>
            <a:ext cx="13716" cy="2190000"/>
          </a:xfrm>
          <a:prstGeom prst="rect">
            <a:avLst/>
          </a:prstGeom>
          <a:solidFill>
            <a:srgbClr val="DF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6455664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99A6"/>
                </a:solidFill>
              </a:rPr>
              <a:t>Autoestima, autoconcepto y bienestar   -   D. Antoneac</a:t>
            </a:r>
          </a:p>
        </p:txBody>
      </p:sp>
      <p:sp>
        <p:nvSpPr>
          <p:cNvPr id="26" name="Oval 25"/>
          <p:cNvSpPr/>
          <p:nvPr/>
        </p:nvSpPr>
        <p:spPr>
          <a:xfrm>
            <a:off x="10561320" y="6519672"/>
            <a:ext cx="82296" cy="82296"/>
          </a:xfrm>
          <a:prstGeom prst="ellipse">
            <a:avLst/>
          </a:prstGeom>
          <a:solidFill>
            <a:srgbClr val="907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0" y="6455664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C99A6"/>
                </a:solidFill>
              </a:rPr>
              <a:t>2</a:t>
            </a:r>
            <a:r>
              <a:rPr sz="1000" b="0">
                <a:solidFill>
                  <a:srgbClr val="9C99A6"/>
                </a:solidFill>
              </a:rPr>
              <a:t>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1382</TotalTime>
  <Words>1675</Words>
  <Application>Microsoft Office PowerPoint</Application>
  <PresentationFormat>Panorámica</PresentationFormat>
  <Paragraphs>266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Georgia</vt:lpstr>
      <vt:lpstr>Segoe UI</vt:lpstr>
      <vt:lpstr>Segoe UI Semibold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ANTONEAC Denisa</dc:creator>
  <cp:lastModifiedBy>Denisa Antoneac</cp:lastModifiedBy>
  <cp:revision>4</cp:revision>
  <dcterms:created xsi:type="dcterms:W3CDTF">2026-06-15T14:36:44Z</dcterms:created>
  <dcterms:modified xsi:type="dcterms:W3CDTF">2026-06-21T22:05:56Z</dcterms:modified>
</cp:coreProperties>
</file>